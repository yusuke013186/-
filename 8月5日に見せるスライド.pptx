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61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324" autoAdjust="0"/>
  </p:normalViewPr>
  <p:slideViewPr>
    <p:cSldViewPr snapToGrid="0" snapToObjects="1">
      <p:cViewPr varScale="1">
        <p:scale>
          <a:sx n="101" d="100"/>
          <a:sy n="101" d="100"/>
        </p:scale>
        <p:origin x="144" y="20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改善訴えあり</c:v>
                </c:pt>
              </c:strCache>
            </c:strRef>
          </c:tx>
          <c:spPr>
            <a:ln w="28575" cap="flat">
              <a:solidFill>
                <a:srgbClr val="15608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56082"/>
              </a:solidFill>
              <a:ln w="9525" cap="flat">
                <a:solidFill>
                  <a:srgbClr val="15608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ja-JP" sz="1300" b="1">
                        <a:solidFill>
                          <a:srgbClr val="156082"/>
                        </a:solidFill>
                        <a:latin typeface="Arial"/>
                        <a:ea typeface="ＭＳ Ｐゴシック"/>
                      </a:rPr>
                      <a:t>22.89</a:t>
                    </a:r>
                  </a:p>
                  <a:p>
                    <a:r>
                      <a:rPr lang="en-US" altLang="ja-JP" sz="1000" b="0">
                        <a:solidFill>
                          <a:srgbClr val="156082"/>
                        </a:solidFill>
                        <a:latin typeface="Arial"/>
                        <a:ea typeface="ＭＳ Ｐゴシック"/>
                      </a:rPr>
                      <a:t>(n=9)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DC9-4E81-886E-03E65A384508}"/>
                </c:ext>
              </c:extLst>
            </c:dLbl>
            <c:dLbl>
              <c:idx val="1"/>
              <c:layout>
                <c:manualLayout>
                  <c:x val="-3.0222492513639131E-2"/>
                  <c:y val="-8.9209281532116172E-2"/>
                </c:manualLayout>
              </c:layout>
              <c:tx>
                <c:rich>
                  <a:bodyPr/>
                  <a:lstStyle/>
                  <a:p>
                    <a:r>
                      <a:rPr lang="en-US" altLang="ja-JP" sz="1300" b="1">
                        <a:solidFill>
                          <a:srgbClr val="156082"/>
                        </a:solidFill>
                        <a:latin typeface="Arial"/>
                        <a:ea typeface="ＭＳ Ｐゴシック"/>
                      </a:rPr>
                      <a:t>24.56</a:t>
                    </a:r>
                  </a:p>
                  <a:p>
                    <a:r>
                      <a:rPr lang="en-US" altLang="ja-JP" sz="1000" b="0">
                        <a:solidFill>
                          <a:srgbClr val="156082"/>
                        </a:solidFill>
                        <a:latin typeface="Arial"/>
                        <a:ea typeface="ＭＳ Ｐゴシック"/>
                      </a:rPr>
                      <a:t>(n=9)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DC9-4E81-886E-03E65A384508}"/>
                </c:ext>
              </c:extLst>
            </c:dLbl>
            <c:dLbl>
              <c:idx val="2"/>
              <c:layout>
                <c:manualLayout>
                  <c:x val="-2.9818833621407081E-2"/>
                  <c:y val="6.0363368040533397E-2"/>
                </c:manualLayout>
              </c:layout>
              <c:tx>
                <c:rich>
                  <a:bodyPr/>
                  <a:lstStyle/>
                  <a:p>
                    <a:r>
                      <a:rPr lang="en-US" altLang="ja-JP" sz="1300" b="1">
                        <a:solidFill>
                          <a:srgbClr val="156082"/>
                        </a:solidFill>
                        <a:latin typeface="Arial"/>
                        <a:ea typeface="ＭＳ Ｐゴシック"/>
                      </a:rPr>
                      <a:t>23.11</a:t>
                    </a:r>
                  </a:p>
                  <a:p>
                    <a:r>
                      <a:rPr lang="en-US" altLang="ja-JP" sz="1000" b="0">
                        <a:solidFill>
                          <a:srgbClr val="156082"/>
                        </a:solidFill>
                        <a:latin typeface="Arial"/>
                        <a:ea typeface="ＭＳ Ｐゴシック"/>
                      </a:rPr>
                      <a:t>(n=9)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1DC9-4E81-886E-03E65A384508}"/>
                </c:ext>
              </c:extLst>
            </c:dLbl>
            <c:dLbl>
              <c:idx val="3"/>
              <c:layout>
                <c:manualLayout>
                  <c:x val="-2.7560477704514579E-2"/>
                  <c:y val="6.0363368040533397E-2"/>
                </c:manualLayout>
              </c:layout>
              <c:tx>
                <c:rich>
                  <a:bodyPr/>
                  <a:lstStyle/>
                  <a:p>
                    <a:r>
                      <a:rPr lang="en-US" altLang="ja-JP" sz="1300" b="1">
                        <a:solidFill>
                          <a:srgbClr val="156082"/>
                        </a:solidFill>
                        <a:latin typeface="Arial"/>
                        <a:ea typeface="ＭＳ Ｐゴシック"/>
                      </a:rPr>
                      <a:t>23.11</a:t>
                    </a:r>
                  </a:p>
                  <a:p>
                    <a:r>
                      <a:rPr lang="en-US" altLang="ja-JP" sz="1000" b="0">
                        <a:solidFill>
                          <a:srgbClr val="156082"/>
                        </a:solidFill>
                        <a:latin typeface="Arial"/>
                        <a:ea typeface="ＭＳ Ｐゴシック"/>
                      </a:rPr>
                      <a:t>(n=9)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DC9-4E81-886E-03E65A38450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1.36</c:v>
                </c:pt>
                <c:pt idx="1">
                  <c:v>2.34</c:v>
                </c:pt>
                <c:pt idx="2">
                  <c:v>2.35</c:v>
                </c:pt>
                <c:pt idx="3">
                  <c:v>3.29</c:v>
                </c:pt>
              </c:numLit>
            </c:plus>
            <c:minus>
              <c:numLit>
                <c:formatCode>General</c:formatCode>
                <c:ptCount val="4"/>
                <c:pt idx="0">
                  <c:v>1.36</c:v>
                </c:pt>
                <c:pt idx="1">
                  <c:v>2.34</c:v>
                </c:pt>
                <c:pt idx="2">
                  <c:v>2.35</c:v>
                </c:pt>
                <c:pt idx="3">
                  <c:v>3.29</c:v>
                </c:pt>
              </c:numLit>
            </c:minus>
            <c:spPr>
              <a:ln w="9525">
                <a:solidFill>
                  <a:srgbClr val="595959"/>
                </a:solidFill>
              </a:ln>
            </c:spPr>
          </c:errBars>
          <c:cat>
            <c:strRef>
              <c:f>Sheet1!$A$2:$A$5</c:f>
              <c:strCache>
                <c:ptCount val="4"/>
                <c:pt idx="0">
                  <c:v>0か月</c:v>
                </c:pt>
                <c:pt idx="1">
                  <c:v>6か月</c:v>
                </c:pt>
                <c:pt idx="2">
                  <c:v>12か月</c:v>
                </c:pt>
                <c:pt idx="3">
                  <c:v>18か月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22.89</c:v>
                </c:pt>
                <c:pt idx="1">
                  <c:v>24.56</c:v>
                </c:pt>
                <c:pt idx="2">
                  <c:v>23.11</c:v>
                </c:pt>
                <c:pt idx="3">
                  <c:v>23.11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DC9-4E81-886E-03E65A3845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改善訴えなし</c:v>
                </c:pt>
              </c:strCache>
            </c:strRef>
          </c:tx>
          <c:spPr>
            <a:ln w="28575" cap="flat">
              <a:solidFill>
                <a:srgbClr val="E9713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97132"/>
              </a:solidFill>
              <a:ln w="9525" cap="flat">
                <a:solidFill>
                  <a:srgbClr val="E9713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ja-JP" sz="1300" b="1">
                        <a:solidFill>
                          <a:srgbClr val="C55A11"/>
                        </a:solidFill>
                        <a:latin typeface="Arial"/>
                        <a:ea typeface="ＭＳ Ｐゴシック"/>
                      </a:rPr>
                      <a:t>24.25</a:t>
                    </a:r>
                  </a:p>
                  <a:p>
                    <a:r>
                      <a:rPr lang="en-US" altLang="ja-JP" sz="1000" b="0">
                        <a:solidFill>
                          <a:srgbClr val="C55A11"/>
                        </a:solidFill>
                        <a:latin typeface="Arial"/>
                        <a:ea typeface="ＭＳ Ｐゴシック"/>
                      </a:rPr>
                      <a:t>(n=20)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DC9-4E81-886E-03E65A384508}"/>
                </c:ext>
              </c:extLst>
            </c:dLbl>
            <c:dLbl>
              <c:idx val="1"/>
              <c:layout>
                <c:manualLayout>
                  <c:x val="-2.7964136596746545E-2"/>
                  <c:y val="8.7835895513060869E-2"/>
                </c:manualLayout>
              </c:layout>
              <c:tx>
                <c:rich>
                  <a:bodyPr/>
                  <a:lstStyle/>
                  <a:p>
                    <a:r>
                      <a:rPr lang="en-US" altLang="ja-JP" sz="1300" b="1">
                        <a:solidFill>
                          <a:srgbClr val="C55A11"/>
                        </a:solidFill>
                        <a:latin typeface="Arial"/>
                        <a:ea typeface="ＭＳ Ｐゴシック"/>
                      </a:rPr>
                      <a:t>24.15</a:t>
                    </a:r>
                  </a:p>
                  <a:p>
                    <a:r>
                      <a:rPr lang="en-US" altLang="ja-JP" sz="1000" b="0">
                        <a:solidFill>
                          <a:srgbClr val="C55A11"/>
                        </a:solidFill>
                        <a:latin typeface="Arial"/>
                        <a:ea typeface="ＭＳ Ｐゴシック"/>
                      </a:rPr>
                      <a:t>(n=20)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1DC9-4E81-886E-03E65A384508}"/>
                </c:ext>
              </c:extLst>
            </c:dLbl>
            <c:dLbl>
              <c:idx val="2"/>
              <c:layout>
                <c:manualLayout>
                  <c:x val="-2.909331455519288E-2"/>
                  <c:y val="-9.5314287637122283E-2"/>
                </c:manualLayout>
              </c:layout>
              <c:tx>
                <c:rich>
                  <a:bodyPr/>
                  <a:lstStyle/>
                  <a:p>
                    <a:r>
                      <a:rPr lang="en-US" altLang="ja-JP" sz="1300" b="1">
                        <a:solidFill>
                          <a:srgbClr val="C55A11"/>
                        </a:solidFill>
                        <a:latin typeface="Arial"/>
                        <a:ea typeface="ＭＳ Ｐゴシック"/>
                      </a:rPr>
                      <a:t>23.84</a:t>
                    </a:r>
                  </a:p>
                  <a:p>
                    <a:r>
                      <a:rPr lang="en-US" altLang="ja-JP" sz="1000" b="0">
                        <a:solidFill>
                          <a:srgbClr val="C55A11"/>
                        </a:solidFill>
                        <a:latin typeface="Arial"/>
                        <a:ea typeface="ＭＳ Ｐゴシック"/>
                      </a:rPr>
                      <a:t>(n=19)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DC9-4E81-886E-03E65A38450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ja-JP" sz="1300" b="1">
                        <a:solidFill>
                          <a:srgbClr val="C55A11"/>
                        </a:solidFill>
                        <a:latin typeface="Arial"/>
                        <a:ea typeface="ＭＳ Ｐゴシック"/>
                      </a:rPr>
                      <a:t>23.50</a:t>
                    </a:r>
                  </a:p>
                  <a:p>
                    <a:r>
                      <a:rPr lang="en-US" altLang="ja-JP" sz="1000" b="0">
                        <a:solidFill>
                          <a:srgbClr val="C55A11"/>
                        </a:solidFill>
                        <a:latin typeface="Arial"/>
                        <a:ea typeface="ＭＳ Ｐゴシック"/>
                      </a:rPr>
                      <a:t>(n=20)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1DC9-4E81-886E-03E65A38450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0.95</c:v>
                </c:pt>
                <c:pt idx="1">
                  <c:v>1.06</c:v>
                </c:pt>
                <c:pt idx="2">
                  <c:v>1.18</c:v>
                </c:pt>
                <c:pt idx="3">
                  <c:v>1.59</c:v>
                </c:pt>
              </c:numLit>
            </c:plus>
            <c:minus>
              <c:numLit>
                <c:formatCode>General</c:formatCode>
                <c:ptCount val="4"/>
                <c:pt idx="0">
                  <c:v>0.95</c:v>
                </c:pt>
                <c:pt idx="1">
                  <c:v>1.06</c:v>
                </c:pt>
                <c:pt idx="2">
                  <c:v>1.18</c:v>
                </c:pt>
                <c:pt idx="3">
                  <c:v>1.59</c:v>
                </c:pt>
              </c:numLit>
            </c:minus>
            <c:spPr>
              <a:ln w="9525">
                <a:solidFill>
                  <a:srgbClr val="595959"/>
                </a:solidFill>
              </a:ln>
            </c:spPr>
          </c:errBars>
          <c:cat>
            <c:strRef>
              <c:f>Sheet1!$A$2:$A$5</c:f>
              <c:strCache>
                <c:ptCount val="4"/>
                <c:pt idx="0">
                  <c:v>0か月</c:v>
                </c:pt>
                <c:pt idx="1">
                  <c:v>6か月</c:v>
                </c:pt>
                <c:pt idx="2">
                  <c:v>12か月</c:v>
                </c:pt>
                <c:pt idx="3">
                  <c:v>18か月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24.25</c:v>
                </c:pt>
                <c:pt idx="1">
                  <c:v>24.15</c:v>
                </c:pt>
                <c:pt idx="2">
                  <c:v>23.84</c:v>
                </c:pt>
                <c:pt idx="3">
                  <c:v>23.5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1DC9-4E81-886E-03E65A3845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"/>
          <c:min val="2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300" b="0" i="0" u="none" strike="noStrike">
                    <a:solidFill>
                      <a:srgbClr val="000000"/>
                    </a:solidFill>
                    <a:latin typeface="Arial"/>
                  </a:rPr>
                  <a:t>MMSE</a:t>
                </a:r>
                <a:r>
                  <a:rPr lang="ja-JP" altLang="en-US" sz="1300" b="0" i="0" u="none" strike="noStrike">
                    <a:solidFill>
                      <a:srgbClr val="000000"/>
                    </a:solidFill>
                    <a:latin typeface="Arial"/>
                  </a:rPr>
                  <a:t>実測値（点）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0401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5000"/>
              </a:lnSpc>
              <a:buNone/>
            </a:pPr>
            <a:r>
              <a:rPr lang="en-US" altLang="ja-JP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各時点の値は平均MMSE実測値、エラーバーは95% CI。18か月データを有する症例に限定して経時推移を表示した。</a:t>
            </a:r>
            <a:endParaRPr lang="en-US" altLang="ja-JP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altLang="ja-JP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改善訴えあり群</a:t>
            </a:r>
            <a:r>
              <a:rPr lang="en-US" altLang="ja-JP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n=9、改善訴えなし群 n=20（12か月のみ n=19）。</a:t>
            </a:r>
            <a:endParaRPr lang="en-US" altLang="ja-JP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altLang="ja-JP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18か月時点の群間比較：Welchのt検定 p=0.804、Mann-Whitney検定 p=0.617、ベースラインMMSE調整 p=0.879。</a:t>
            </a:r>
            <a:endParaRPr lang="en-US" altLang="ja-JP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altLang="ja-JP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※「</a:t>
            </a:r>
            <a:r>
              <a:rPr lang="en-US" altLang="ja-JP" sz="12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改善訴えなし」群には改善訴えの記載がない症例を含む</a:t>
            </a:r>
            <a:r>
              <a:rPr lang="en-US" altLang="ja-JP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ja-JP" sz="1200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85537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1261872"/>
            <a:ext cx="112772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556224"/>
              </p:ext>
            </p:extLst>
          </p:nvPr>
        </p:nvGraphicFramePr>
        <p:xfrm>
          <a:off x="1371600" y="1417320"/>
          <a:ext cx="9448495" cy="3982212"/>
        </p:xfrm>
        <a:graphic>
          <a:graphicData uri="http://schemas.openxmlformats.org/drawingml/2006/table">
            <a:tbl>
              <a:tblPr/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項目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ja-JP" sz="13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全体(N=66)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年齢（歳）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74.7 ± 6.2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女性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49 (74.2%)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男性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17 (25.8%)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MMSE合計点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24.4 ± 2.2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HDS-R合計点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22.0 ± 3.6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MoCA-J合計点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20.7 ± 3.0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Global CDR = 0.5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60 (90.9%)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Global CDR = 1.0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6 (9.1%)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CDR-SB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2.0 ± 1.1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易怒性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15 (22.7%)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意欲低下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22 (33.3%)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両方なし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mbria" pitchFamily="34" charset="-122"/>
                          <a:cs typeface="Arial" panose="020B0604020202020204" pitchFamily="34" charset="0"/>
                        </a:rPr>
                        <a:t>31 (47.0%)</a:t>
                      </a:r>
                      <a:endParaRPr lang="en-US" sz="1300" dirty="0">
                        <a:latin typeface="Arial" panose="020B0604020202020204" pitchFamily="34" charset="0"/>
                        <a:ea typeface="Cambria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371600" y="1417320"/>
            <a:ext cx="944849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1371600" y="1723644"/>
            <a:ext cx="944849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1371600" y="5399532"/>
            <a:ext cx="944849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1371600" y="5536692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数値は平均値±標準偏差または症例数(%)を示す。MMSE：Mini-Mental State Examination、HDS-R：改訂長谷川式簡易知能評価スケール、MoCA-J：Montreal Cognitive Assessment日本語版、CDR：Clinical Dementia Rating、CDR-SB：Clinical Dementia Rating Sum of Boxes。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コンテンツ プレースホルダ 2">
            <a:extLst>
              <a:ext uri="{FF2B5EF4-FFF2-40B4-BE49-F238E27FC236}">
                <a16:creationId xmlns:a16="http://schemas.microsoft.com/office/drawing/2014/main" id="{8F864FC0-F8AB-B0C1-CA4C-DBE9FF16A205}"/>
              </a:ext>
            </a:extLst>
          </p:cNvPr>
          <p:cNvSpPr txBox="1">
            <a:spLocks/>
          </p:cNvSpPr>
          <p:nvPr/>
        </p:nvSpPr>
        <p:spPr>
          <a:xfrm>
            <a:off x="671805" y="315373"/>
            <a:ext cx="11150082" cy="8229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ja-JP" altLang="en-US" sz="4000" dirty="0">
                <a:latin typeface="Arial" panose="020B0604020202020204" pitchFamily="34" charset="0"/>
                <a:ea typeface="ＭＳ Ｐゴシック" panose="020B0600070205080204" pitchFamily="50" charset="-128"/>
              </a:rPr>
              <a:t>結果</a:t>
            </a:r>
            <a:r>
              <a:rPr lang="en-US" altLang="ja-JP" sz="4000" dirty="0">
                <a:latin typeface="Arial" panose="020B0604020202020204" pitchFamily="34" charset="0"/>
                <a:ea typeface="ＭＳ Ｐゴシック" panose="020B0600070205080204" pitchFamily="50" charset="-128"/>
              </a:rPr>
              <a:t>1</a:t>
            </a:r>
            <a:r>
              <a:rPr lang="ja-JP" altLang="en-US" sz="4000" dirty="0">
                <a:latin typeface="Arial" panose="020B0604020202020204" pitchFamily="34" charset="0"/>
                <a:ea typeface="ＭＳ Ｐゴシック" panose="020B0600070205080204" pitchFamily="50" charset="-128"/>
              </a:rPr>
              <a:t>　</a:t>
            </a:r>
            <a:r>
              <a:rPr lang="ja-JP" altLang="en-US" sz="3600" dirty="0">
                <a:latin typeface="Arial" panose="020B0604020202020204" pitchFamily="34" charset="0"/>
                <a:ea typeface="ＭＳ Ｐゴシック" panose="020B0600070205080204" pitchFamily="50" charset="-128"/>
              </a:rPr>
              <a:t>患者背景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</a:t>
            </a:r>
            <a:r>
              <a:rPr lang="en-US" altLang="ja-JP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症状改善の訴え有無によるMMSE実測値の推移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10817352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124358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18か月評価例に限定した解析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293140263"/>
              </p:ext>
            </p:extLst>
          </p:nvPr>
        </p:nvGraphicFramePr>
        <p:xfrm>
          <a:off x="457200" y="1600200"/>
          <a:ext cx="112471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264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各時点の値は平均MMSE実測値、エラーバーは95% CI。18か月データを有する症例に限定して経時推移を表示した。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改善訴えあり群 n=9、改善訴えなし群 n=20（12か月のみ n=19）。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18か月時点の群間比較：Welchのt検定 p=0.804、Mann-Whitney検定 p=0.617、ベースラインMMSE調整 p=0.879。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282</Words>
  <Application>Microsoft Office PowerPoint</Application>
  <PresentationFormat>ワイド画面</PresentationFormat>
  <Paragraphs>55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Lecanemab Retrospective Analysis</dc:creator>
  <cp:lastModifiedBy>Fukusai</cp:lastModifiedBy>
  <cp:revision>10</cp:revision>
  <dcterms:created xsi:type="dcterms:W3CDTF">2026-07-22T04:13:09Z</dcterms:created>
  <dcterms:modified xsi:type="dcterms:W3CDTF">2026-08-03T03:59:03Z</dcterms:modified>
</cp:coreProperties>
</file>