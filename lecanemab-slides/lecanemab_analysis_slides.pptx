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遅延再生低下（0-1点）</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23/29</a:t>
                    </a:r>
                  </a:p>
                  <a:p>
                    <a:pPr algn="ctr">
                      <a:defRPr sz="1100"/>
                    </a:pPr>
                    <a:r>
                      <a:rPr lang="ja-JP" sz="1100" b="0">
                        <a:solidFill>
                          <a:srgbClr val="1A1A1A"/>
                        </a:solidFill>
                        <a:latin typeface="Arial"/>
                        <a:ea typeface="ＭＳ Ｐゴシック"/>
                      </a:rPr>
                      <a:t>(79.3%)</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FF0000"/>
                        </a:solidFill>
                        <a:latin typeface="Arial"/>
                        <a:ea typeface="ＭＳ Ｐゴシック"/>
                      </a:rPr>
                      <a:t>28/29</a:t>
                    </a:r>
                  </a:p>
                  <a:p>
                    <a:pPr algn="ctr">
                      <a:defRPr sz="1100"/>
                    </a:pPr>
                    <a:r>
                      <a:rPr lang="ja-JP" sz="1100" b="0">
                        <a:solidFill>
                          <a:srgbClr val="FF0000"/>
                        </a:solidFill>
                        <a:latin typeface="Arial"/>
                        <a:ea typeface="ＭＳ Ｐゴシック"/>
                      </a:rPr>
                      <a:t>(96.6%)</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Sheet1!$B$2:$B$3</c:f>
              <c:numCache>
                <c:formatCode>General</c:formatCode>
                <c:ptCount val="2"/>
                <c:pt idx="0">
                  <c:v>79.3</c:v>
                </c:pt>
                <c:pt idx="1">
                  <c:v>96.6</c:v>
                </c:pt>
              </c:numCache>
            </c:numRef>
          </c:val>
        </c:ser>
        <c:ser>
          <c:idx val="1"/>
          <c:order val="1"/>
          <c:tx>
            <c:strRef>
              <c:f>Sheet1!$C$1</c:f>
              <c:strCache>
                <c:ptCount val="1"/>
                <c:pt idx="0">
                  <c:v>遅延再生正常（2-3点）</c:v>
                </c:pt>
              </c:strCache>
            </c:strRef>
          </c:tx>
          <c:spPr>
            <a:solidFill>
              <a:srgbClr val="E9713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6/29</a:t>
                    </a:r>
                  </a:p>
                  <a:p>
                    <a:pPr algn="ctr">
                      <a:defRPr sz="1100"/>
                    </a:pPr>
                    <a:r>
                      <a:rPr lang="ja-JP" sz="1100" b="0">
                        <a:solidFill>
                          <a:srgbClr val="1A1A1A"/>
                        </a:solidFill>
                        <a:latin typeface="Arial"/>
                        <a:ea typeface="ＭＳ Ｐゴシック"/>
                      </a:rPr>
                      <a:t>(20.7%)</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1/29</a:t>
                    </a:r>
                  </a:p>
                  <a:p>
                    <a:pPr algn="ctr">
                      <a:defRPr sz="1100"/>
                    </a:pPr>
                    <a:r>
                      <a:rPr lang="ja-JP" sz="1100" b="0">
                        <a:solidFill>
                          <a:srgbClr val="1A1A1A"/>
                        </a:solidFill>
                        <a:latin typeface="Arial"/>
                        <a:ea typeface="ＭＳ Ｐゴシック"/>
                      </a:rPr>
                      <a:t>(3.4%)</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Sheet1!$C$2:$C$3</c:f>
              <c:numCache>
                <c:formatCode>General</c:formatCode>
                <c:ptCount val="2"/>
                <c:pt idx="0">
                  <c:v>20.7</c:v>
                </c:pt>
                <c:pt idx="1">
                  <c:v>3.4</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legend>
      <c:legendPos val="b"/>
      <c:overlay val="0"/>
      <c:txPr>
        <a:bodyPr/>
        <a:lstStyle/>
        <a:p>
          <a:pPr>
            <a:defRPr sz="13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0か月からの平均変化量</c:v>
                </c:pt>
              </c:strCache>
            </c:strRef>
          </c:tx>
          <c:spPr>
            <a:solidFill>
              <a:srgbClr val="156082"/>
            </a:solidFill>
            <a:effectLst/>
          </c:spPr>
          <c:invertIfNegative val="0"/>
          <c:dLbls>
            <c:dLbl>
              <c:idx val="0"/>
              <c:tx>
                <c:rich>
                  <a:bodyPr wrap="square" lIns="0" tIns="0" rIns="0" bIns="0" anchor="ctr"/>
                  <a:lstStyle/>
                  <a:p>
                    <a:pPr algn="ctr">
                      <a:defRPr sz="1100"/>
                    </a:pPr>
                    <a:r>
                      <a:rPr lang="ja-JP" sz="1100" b="1">
                        <a:solidFill>
                          <a:srgbClr val="1A1A1A"/>
                        </a:solidFill>
                        <a:latin typeface="Arial"/>
                        <a:ea typeface="ＭＳ Ｐゴシック"/>
                      </a:rPr>
                      <a:t>0.00</a:t>
                    </a:r>
                  </a:p>
                  <a:p>
                    <a:pPr algn="ctr">
                      <a:defRPr sz="1000"/>
                    </a:pPr>
                    <a:r>
                      <a:rPr lang="ja-JP" sz="1000" b="0">
                        <a:solidFill>
                          <a:srgbClr val="1A1A1A"/>
                        </a:solidFill>
                        <a:latin typeface="Arial"/>
                        <a:ea typeface="ＭＳ Ｐゴシック"/>
                      </a:rPr>
                      <a:t>(n=66)</a:t>
                    </a:r>
                  </a:p>
                </c:rich>
              </c:tx>
              <c:dLblPos val="outEnd"/>
              <c:showLegendKey val="0"/>
              <c:showVal val="0"/>
              <c:showCatName val="0"/>
              <c:showSerName val="0"/>
              <c:showPercent val="0"/>
              <c:showBubbleSize val="0"/>
            </c:dLbl>
            <c:dLbl>
              <c:idx val="1"/>
              <c:tx>
                <c:rich>
                  <a:bodyPr wrap="square" lIns="0" tIns="0" rIns="0" bIns="0" anchor="ctr"/>
                  <a:lstStyle/>
                  <a:p>
                    <a:pPr algn="ctr">
                      <a:defRPr sz="1100"/>
                    </a:pPr>
                    <a:r>
                      <a:rPr lang="ja-JP" sz="1100" b="1">
                        <a:solidFill>
                          <a:srgbClr val="1A1A1A"/>
                        </a:solidFill>
                        <a:latin typeface="Arial"/>
                        <a:ea typeface="ＭＳ Ｐゴシック"/>
                      </a:rPr>
                      <a:t>0.00</a:t>
                    </a:r>
                  </a:p>
                  <a:p>
                    <a:pPr algn="ctr">
                      <a:defRPr sz="1000"/>
                    </a:pPr>
                    <a:r>
                      <a:rPr lang="ja-JP" sz="1000" b="0">
                        <a:solidFill>
                          <a:srgbClr val="1A1A1A"/>
                        </a:solidFill>
                        <a:latin typeface="Arial"/>
                        <a:ea typeface="ＭＳ Ｐゴシック"/>
                      </a:rPr>
                      <a:t>(n=61)</a:t>
                    </a:r>
                  </a:p>
                </c:rich>
              </c:tx>
              <c:dLblPos val="outEnd"/>
              <c:showLegendKey val="0"/>
              <c:showVal val="0"/>
              <c:showCatName val="0"/>
              <c:showSerName val="0"/>
              <c:showPercent val="0"/>
              <c:showBubbleSize val="0"/>
            </c:dLbl>
            <c:dLbl>
              <c:idx val="2"/>
              <c:tx>
                <c:rich>
                  <a:bodyPr wrap="square" lIns="0" tIns="0" rIns="0" bIns="0" anchor="ctr"/>
                  <a:lstStyle/>
                  <a:p>
                    <a:pPr algn="ctr">
                      <a:defRPr sz="1100"/>
                    </a:pPr>
                    <a:r>
                      <a:rPr lang="ja-JP" sz="1100" b="1">
                        <a:solidFill>
                          <a:srgbClr val="1A1A1A"/>
                        </a:solidFill>
                        <a:latin typeface="Arial"/>
                        <a:ea typeface="ＭＳ Ｐゴシック"/>
                      </a:rPr>
                      <a:t>-0.35</a:t>
                    </a:r>
                  </a:p>
                  <a:p>
                    <a:pPr algn="ctr">
                      <a:defRPr sz="1000"/>
                    </a:pPr>
                    <a:r>
                      <a:rPr lang="ja-JP" sz="1000" b="0">
                        <a:solidFill>
                          <a:srgbClr val="1A1A1A"/>
                        </a:solidFill>
                        <a:latin typeface="Arial"/>
                        <a:ea typeface="ＭＳ Ｐゴシック"/>
                      </a:rPr>
                      <a:t>(n=49)</a:t>
                    </a:r>
                  </a:p>
                </c:rich>
              </c:tx>
              <c:dLblPos val="outEnd"/>
              <c:showLegendKey val="0"/>
              <c:showVal val="0"/>
              <c:showCatName val="0"/>
              <c:showSerName val="0"/>
              <c:showPercent val="0"/>
              <c:showBubbleSize val="0"/>
            </c:dLbl>
            <c:dLbl>
              <c:idx val="3"/>
              <c:tx>
                <c:rich>
                  <a:bodyPr wrap="square" lIns="0" tIns="0" rIns="0" bIns="0" anchor="ctr"/>
                  <a:lstStyle/>
                  <a:p>
                    <a:pPr algn="ctr">
                      <a:defRPr sz="1100"/>
                    </a:pPr>
                    <a:r>
                      <a:rPr lang="ja-JP" sz="1100" b="1">
                        <a:solidFill>
                          <a:srgbClr val="FF0000"/>
                        </a:solidFill>
                        <a:latin typeface="Arial"/>
                        <a:ea typeface="ＭＳ Ｐゴシック"/>
                      </a:rPr>
                      <a:t>-1.24</a:t>
                    </a:r>
                  </a:p>
                  <a:p>
                    <a:pPr algn="ctr">
                      <a:defRPr sz="1000"/>
                    </a:pPr>
                    <a:r>
                      <a:rPr lang="ja-JP" sz="1000" b="0">
                        <a:solidFill>
                          <a:srgbClr val="FF0000"/>
                        </a:solidFill>
                        <a:latin typeface="Arial"/>
                        <a:ea typeface="ＭＳ Ｐゴシック"/>
                      </a:rPr>
                      <a:t>(n=33)</a:t>
                    </a:r>
                  </a:p>
                </c:rich>
              </c:tx>
              <c:dLblPos val="outEnd"/>
              <c:showLegendKey val="0"/>
              <c:showVal val="0"/>
              <c:showCatName val="0"/>
              <c:showSerName val="0"/>
              <c:showPercent val="0"/>
              <c:showBubbleSize val="0"/>
            </c:dLbl>
            <c:dLbl>
              <c:idx val="4"/>
              <c:tx>
                <c:rich>
                  <a:bodyPr wrap="square" lIns="0" tIns="0" rIns="0" bIns="0" anchor="ctr"/>
                  <a:lstStyle/>
                  <a:p>
                    <a:pPr algn="ctr">
                      <a:defRPr sz="1100"/>
                    </a:pPr>
                    <a:r>
                      <a:rPr lang="ja-JP" sz="1100" b="1">
                        <a:solidFill>
                          <a:srgbClr val="1A1A1A"/>
                        </a:solidFill>
                        <a:latin typeface="Arial"/>
                        <a:ea typeface="ＭＳ Ｐゴシック"/>
                      </a:rPr>
                      <a:t>-1.75</a:t>
                    </a:r>
                  </a:p>
                  <a:p>
                    <a:pPr algn="ctr">
                      <a:defRPr sz="1000"/>
                    </a:pPr>
                    <a:r>
                      <a:rPr lang="ja-JP" sz="1000" b="0">
                        <a:solidFill>
                          <a:srgbClr val="1A1A1A"/>
                        </a:solidFill>
                        <a:latin typeface="Arial"/>
                        <a:ea typeface="ＭＳ Ｐゴシック"/>
                      </a:rPr>
                      <a:t>(n=16)</a:t>
                    </a:r>
                  </a:p>
                </c:rich>
              </c:tx>
              <c:dLblPos val="outEnd"/>
              <c:showLegendKey val="0"/>
              <c:showVal val="0"/>
              <c:showCatName val="0"/>
              <c:showSerName val="0"/>
              <c:showPercent val="0"/>
              <c:showBubbleSize val="0"/>
            </c:dLbl>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Sheet1!$A$2:$A$6</c:f>
              <c:multiLvlStrCache>
                <c:ptCount val="5"/>
                <c:lvl>
                  <c:pt idx="0">
                    <c:v>0か月</c:v>
                  </c:pt>
                  <c:pt idx="1">
                    <c:v>6か月</c:v>
                  </c:pt>
                  <c:pt idx="2">
                    <c:v>12か月</c:v>
                  </c:pt>
                  <c:pt idx="3">
                    <c:v>18か月</c:v>
                  </c:pt>
                  <c:pt idx="4">
                    <c:v>24か月</c:v>
                  </c:pt>
                </c:lvl>
              </c:multiLvlStrCache>
            </c:multiLvlStrRef>
          </c:cat>
          <c:val>
            <c:numRef>
              <c:f>Sheet1!$B$2:$B$6</c:f>
              <c:numCache>
                <c:formatCode>General</c:formatCode>
                <c:ptCount val="5"/>
                <c:pt idx="0">
                  <c:v>0</c:v>
                </c:pt>
                <c:pt idx="1">
                  <c:v>0</c:v>
                </c:pt>
                <c:pt idx="2">
                  <c:v>-0.35</c:v>
                </c:pt>
                <c:pt idx="3">
                  <c:v>-1.24</c:v>
                </c:pt>
                <c:pt idx="4">
                  <c:v>-1.75</c:v>
                </c:pt>
              </c:numCache>
            </c:numRef>
          </c:val>
        </c:ser>
        <c:dLbls>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0.5"/>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症例数割合</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13例</a:t>
                    </a:r>
                  </a:p>
                  <a:p>
                    <a:pPr algn="ctr">
                      <a:defRPr sz="1100"/>
                    </a:pPr>
                    <a:r>
                      <a:rPr lang="ja-JP" sz="1100" b="0">
                        <a:solidFill>
                          <a:srgbClr val="1A1A1A"/>
                        </a:solidFill>
                        <a:latin typeface="Arial"/>
                        <a:ea typeface="ＭＳ Ｐゴシック"/>
                      </a:rPr>
                      <a:t>(39.4%)</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4例</a:t>
                    </a:r>
                  </a:p>
                  <a:p>
                    <a:pPr algn="ctr">
                      <a:defRPr sz="1100"/>
                    </a:pPr>
                    <a:r>
                      <a:rPr lang="ja-JP" sz="1100" b="0">
                        <a:solidFill>
                          <a:srgbClr val="1A1A1A"/>
                        </a:solidFill>
                        <a:latin typeface="Arial"/>
                        <a:ea typeface="ＭＳ Ｐゴシック"/>
                      </a:rPr>
                      <a:t>(12.1%)</a:t>
                    </a:r>
                  </a:p>
                </c:rich>
              </c:tx>
              <c:dLblPos val="outEnd"/>
              <c:showLegendKey val="0"/>
              <c:showVal val="0"/>
              <c:showCatName val="0"/>
              <c:showSerName val="0"/>
              <c:showPercent val="0"/>
              <c:showBubbleSize val="0"/>
            </c:dLbl>
            <c:dLbl>
              <c:idx val="2"/>
              <c:tx>
                <c:rich>
                  <a:bodyPr wrap="square" lIns="0" tIns="0" rIns="0" bIns="0" anchor="ctr"/>
                  <a:lstStyle/>
                  <a:p>
                    <a:pPr algn="ctr">
                      <a:defRPr sz="1200"/>
                    </a:pPr>
                    <a:r>
                      <a:rPr lang="ja-JP" sz="1200" b="1">
                        <a:solidFill>
                          <a:srgbClr val="FF0000"/>
                        </a:solidFill>
                        <a:latin typeface="Arial"/>
                        <a:ea typeface="ＭＳ Ｐゴシック"/>
                      </a:rPr>
                      <a:t>16例</a:t>
                    </a:r>
                  </a:p>
                  <a:p>
                    <a:pPr algn="ctr">
                      <a:defRPr sz="1100"/>
                    </a:pPr>
                    <a:r>
                      <a:rPr lang="ja-JP" sz="1100" b="0">
                        <a:solidFill>
                          <a:srgbClr val="FF0000"/>
                        </a:solidFill>
                        <a:latin typeface="Arial"/>
                        <a:ea typeface="ＭＳ Ｐゴシック"/>
                      </a:rPr>
                      <a:t>(48.5%)</a:t>
                    </a:r>
                  </a:p>
                </c:rich>
              </c:tx>
              <c:dLblPos val="outEnd"/>
              <c:showLegendKey val="0"/>
              <c:showVal val="0"/>
              <c:showCatName val="0"/>
              <c:showSerName val="0"/>
              <c:showPercent val="0"/>
              <c:showBubbleSize val="0"/>
            </c:dLbl>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E97132"/>
              </a:solidFill>
              <a:effectLst/>
            </c:spPr>
          </c:dPt>
          <c:cat>
            <c:multiLvlStrRef>
              <c:f>Sheet1!$A$2:$A$4</c:f>
              <c:multiLvlStrCache>
                <c:ptCount val="3"/>
                <c:lvl>
                  <c:pt idx="0">
                    <c:v>改善
(+1点以上)</c:v>
                  </c:pt>
                  <c:pt idx="1">
                    <c:v>維持
(0点)</c:v>
                  </c:pt>
                  <c:pt idx="2">
                    <c:v>低下
(-1点以下)</c:v>
                  </c:pt>
                </c:lvl>
              </c:multiLvlStrCache>
            </c:multiLvlStrRef>
          </c:cat>
          <c:val>
            <c:numRef>
              <c:f>Sheet1!$B$2:$B$4</c:f>
              <c:numCache>
                <c:formatCode>General</c:formatCode>
                <c:ptCount val="3"/>
                <c:pt idx="0">
                  <c:v>39.4</c:v>
                </c:pt>
                <c:pt idx="1">
                  <c:v>12.1</c:v>
                </c:pt>
                <c:pt idx="2">
                  <c:v>48.5</c:v>
                </c:pt>
              </c:numCache>
            </c:numRef>
          </c:val>
        </c:ser>
        <c:dLbls>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c:v>
                </c:pt>
              </c:strCache>
            </c:strRef>
          </c:tx>
          <c:spPr>
            <a:solidFill>
              <a:srgbClr val="156082"/>
            </a:solidFill>
            <a:effectLst/>
          </c:spPr>
          <c:invertIfNegative val="0"/>
          <c:dLbls>
            <c:dLbl>
              <c:idx val="0"/>
              <c:tx>
                <c:rich>
                  <a:bodyPr wrap="square" lIns="0" tIns="0" rIns="0" bIns="0" anchor="ctr"/>
                  <a:lstStyle/>
                  <a:p>
                    <a:pPr algn="ctr">
                      <a:defRPr sz="1300"/>
                    </a:pPr>
                    <a:r>
                      <a:rPr lang="ja-JP" sz="1300" b="1">
                        <a:solidFill>
                          <a:srgbClr val="FF0000"/>
                        </a:solidFill>
                        <a:latin typeface="Arial"/>
                        <a:ea typeface="ＭＳ Ｐゴシック"/>
                      </a:rPr>
                      <a:t>17例</a:t>
                    </a:r>
                  </a:p>
                  <a:p>
                    <a:pPr algn="ctr">
                      <a:defRPr sz="1200"/>
                    </a:pPr>
                    <a:r>
                      <a:rPr lang="ja-JP" sz="1200" b="0">
                        <a:solidFill>
                          <a:srgbClr val="FF0000"/>
                        </a:solidFill>
                        <a:latin typeface="Arial"/>
                        <a:ea typeface="ＭＳ Ｐゴシック"/>
                      </a:rPr>
                      <a:t>(25.8%)</a:t>
                    </a:r>
                  </a:p>
                </c:rich>
              </c:tx>
              <c:dLblPos val="outEnd"/>
              <c:showLegendKey val="0"/>
              <c:showVal val="0"/>
              <c:showCatName val="0"/>
              <c:showSerName val="0"/>
              <c:showPercent val="0"/>
              <c:showBubbleSize val="0"/>
            </c:dLbl>
            <c:dLbl>
              <c:idx val="1"/>
              <c:tx>
                <c:rich>
                  <a:bodyPr wrap="square" lIns="0" tIns="0" rIns="0" bIns="0" anchor="ctr"/>
                  <a:lstStyle/>
                  <a:p>
                    <a:pPr algn="ctr">
                      <a:defRPr sz="1300"/>
                    </a:pPr>
                    <a:r>
                      <a:rPr lang="ja-JP" sz="1300" b="1">
                        <a:solidFill>
                          <a:srgbClr val="1A1A1A"/>
                        </a:solidFill>
                        <a:latin typeface="Arial"/>
                        <a:ea typeface="ＭＳ Ｐゴシック"/>
                      </a:rPr>
                      <a:t>49例</a:t>
                    </a:r>
                  </a:p>
                  <a:p>
                    <a:pPr algn="ctr">
                      <a:defRPr sz="1200"/>
                    </a:pPr>
                    <a:r>
                      <a:rPr lang="ja-JP" sz="1200" b="0">
                        <a:solidFill>
                          <a:srgbClr val="1A1A1A"/>
                        </a:solidFill>
                        <a:latin typeface="Arial"/>
                        <a:ea typeface="ＭＳ Ｐゴシック"/>
                      </a:rPr>
                      <a:t>(74.2%)</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c:v>
                  </c:pt>
                  <c:pt idx="1">
                    <c:v>記載なし</c:v>
                  </c:pt>
                </c:lvl>
              </c:multiLvlStrCache>
            </c:multiLvlStrRef>
          </c:cat>
          <c:val>
            <c:numRef>
              <c:f>Sheet1!$B$2:$B$3</c:f>
              <c:numCache>
                <c:formatCode>General</c:formatCode>
                <c:ptCount val="2"/>
                <c:pt idx="0">
                  <c:v>25.8</c:v>
                </c:pt>
                <c:pt idx="1">
                  <c:v>74.2</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MMSE変化量</c:v>
                </c:pt>
              </c:strCache>
            </c:strRef>
          </c:tx>
          <c:spPr>
            <a:solidFill>
              <a:srgbClr val="156082"/>
            </a:solidFill>
            <a:effectLst/>
          </c:spPr>
          <c:invertIfNegative val="0"/>
          <c:dLbls>
            <c:dLbl>
              <c:idx val="0"/>
              <c:tx>
                <c:rich>
                  <a:bodyPr wrap="square" lIns="0" tIns="0" rIns="0" bIns="0" anchor="ctr"/>
                  <a:lstStyle/>
                  <a:p>
                    <a:pPr algn="ctr">
                      <a:defRPr sz="1400"/>
                    </a:pPr>
                    <a:r>
                      <a:rPr lang="ja-JP" sz="1400" b="1">
                        <a:solidFill>
                          <a:srgbClr val="FF0000"/>
                        </a:solidFill>
                        <a:latin typeface="Arial"/>
                        <a:ea typeface="ＭＳ Ｐゴシック"/>
                      </a:rPr>
                      <a:t>+0.22</a:t>
                    </a:r>
                  </a:p>
                </c:rich>
              </c:tx>
              <c:dLblPos val="outEnd"/>
              <c:showLegendKey val="0"/>
              <c:showVal val="0"/>
              <c:showCatName val="0"/>
              <c:showSerName val="0"/>
              <c:showPercent val="0"/>
              <c:showBubbleSize val="0"/>
            </c:dLbl>
            <c:dLbl>
              <c:idx val="1"/>
              <c:tx>
                <c:rich>
                  <a:bodyPr wrap="square" lIns="0" tIns="0" rIns="0" bIns="0" anchor="ctr"/>
                  <a:lstStyle/>
                  <a:p>
                    <a:pPr algn="ctr">
                      <a:defRPr sz="1400"/>
                    </a:pPr>
                    <a:r>
                      <a:rPr lang="ja-JP" sz="1400" b="1">
                        <a:solidFill>
                          <a:srgbClr val="1A1A1A"/>
                        </a:solidFill>
                        <a:latin typeface="Arial"/>
                        <a:ea typeface="ＭＳ Ｐゴシック"/>
                      </a:rPr>
                      <a:t>-0.75</a:t>
                    </a:r>
                  </a:p>
                </c:rich>
              </c:tx>
              <c:dLblPos val="outEnd"/>
              <c:showLegendKey val="0"/>
              <c:showVal val="0"/>
              <c:showCatName val="0"/>
              <c:showSerName val="0"/>
              <c:showPercent val="0"/>
              <c:showBubbleSize val="0"/>
            </c:dLbl>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
(n=9)</c:v>
                  </c:pt>
                  <c:pt idx="1">
                    <c:v>改善訴えなし
(n=20)</c:v>
                  </c:pt>
                </c:lvl>
              </c:multiLvlStrCache>
            </c:multiLvlStrRef>
          </c:cat>
          <c:val>
            <c:numRef>
              <c:f>Sheet1!$B$2:$B$3</c:f>
              <c:numCache>
                <c:formatCode>General</c:formatCode>
                <c:ptCount val="2"/>
                <c:pt idx="0">
                  <c:v>0.22</c:v>
                </c:pt>
                <c:pt idx="1">
                  <c:v>-0.75</c:v>
                </c:pt>
              </c:numCache>
            </c:numRef>
          </c:val>
        </c:ser>
        <c:dLbls>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改善訴えあり</c:v>
                </c:pt>
              </c:strCache>
            </c:strRef>
          </c:tx>
          <c:spPr>
            <a:solidFill>
              <a:srgbClr val="156082"/>
            </a:solidFill>
            <a:ln w="28575" cap="flat">
              <a:solidFill>
                <a:srgbClr val="15608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+1.38</a:t>
                    </a:r>
                  </a:p>
                  <a:p>
                    <a:pPr algn="ctr">
                      <a:defRPr sz="900"/>
                    </a:pPr>
                    <a:r>
                      <a:rPr lang="ja-JP" sz="900" b="0">
                        <a:solidFill>
                          <a:srgbClr val="1A1A1A"/>
                        </a:solidFill>
                        <a:latin typeface="Arial"/>
                        <a:ea typeface="ＭＳ Ｐゴシック"/>
                      </a:rPr>
                      <a:t>(n=16)</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+0.33</a:t>
                    </a:r>
                  </a:p>
                  <a:p>
                    <a:pPr algn="ctr">
                      <a:defRPr sz="900"/>
                    </a:pPr>
                    <a:r>
                      <a:rPr lang="ja-JP" sz="900" b="0">
                        <a:solidFill>
                          <a:srgbClr val="1A1A1A"/>
                        </a:solidFill>
                        <a:latin typeface="Arial"/>
                        <a:ea typeface="ＭＳ Ｐゴシック"/>
                      </a:rPr>
                      <a:t>(n=12)</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+0.22</a:t>
                    </a:r>
                  </a:p>
                  <a:p>
                    <a:pPr algn="ctr">
                      <a:defRPr sz="900"/>
                    </a:pPr>
                    <a:r>
                      <a:rPr lang="ja-JP" sz="900" b="0">
                        <a:solidFill>
                          <a:srgbClr val="1A1A1A"/>
                        </a:solidFill>
                        <a:latin typeface="Arial"/>
                        <a:ea typeface="ＭＳ Ｐゴシック"/>
                      </a:rPr>
                      <a:t>(n=9)</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-0.17</a:t>
                    </a:r>
                  </a:p>
                  <a:p>
                    <a:pPr algn="ctr">
                      <a:defRPr sz="900"/>
                    </a:pPr>
                    <a:r>
                      <a:rPr lang="ja-JP" sz="900" b="0">
                        <a:solidFill>
                          <a:srgbClr val="1A1A1A"/>
                        </a:solidFill>
                        <a:latin typeface="Arial"/>
                        <a:ea typeface="ＭＳ Ｐゴシック"/>
                      </a:rPr>
                      <a:t>(n=6)</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156082"/>
              </a:solidFill>
              <a:ln w="9525" cap="flat">
                <a:solidFill>
                  <a:srgbClr val="15608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Sheet1!$B$2:$B$5</c:f>
              <c:numCache>
                <c:formatCode>General</c:formatCode>
                <c:ptCount val="4"/>
                <c:pt idx="0">
                  <c:v>1.38</c:v>
                </c:pt>
                <c:pt idx="1">
                  <c:v>0.33</c:v>
                </c:pt>
                <c:pt idx="2">
                  <c:v>0.22</c:v>
                </c:pt>
                <c:pt idx="3">
                  <c:v>-0.17</c:v>
                </c:pt>
              </c:numCache>
            </c:numRef>
          </c:val>
          <c:smooth val="0"/>
        </c:ser>
        <c:ser>
          <c:idx val="1"/>
          <c:order val="1"/>
          <c:tx>
            <c:strRef>
              <c:f>Sheet1!$C$1</c:f>
              <c:strCache>
                <c:ptCount val="1"/>
                <c:pt idx="0">
                  <c:v>改善訴えなし</c:v>
                </c:pt>
              </c:strCache>
            </c:strRef>
          </c:tx>
          <c:spPr>
            <a:solidFill>
              <a:srgbClr val="E97132"/>
            </a:solidFill>
            <a:ln w="28575" cap="flat">
              <a:solidFill>
                <a:srgbClr val="E9713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-0.53</a:t>
                    </a:r>
                  </a:p>
                  <a:p>
                    <a:pPr algn="ctr">
                      <a:defRPr sz="900"/>
                    </a:pPr>
                    <a:r>
                      <a:rPr lang="ja-JP" sz="900" b="0">
                        <a:solidFill>
                          <a:srgbClr val="1A1A1A"/>
                        </a:solidFill>
                        <a:latin typeface="Arial"/>
                        <a:ea typeface="ＭＳ Ｐゴシック"/>
                      </a:rPr>
                      <a:t>(n=43)</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-0.50</a:t>
                    </a:r>
                  </a:p>
                  <a:p>
                    <a:pPr algn="ctr">
                      <a:defRPr sz="900"/>
                    </a:pPr>
                    <a:r>
                      <a:rPr lang="ja-JP" sz="900" b="0">
                        <a:solidFill>
                          <a:srgbClr val="1A1A1A"/>
                        </a:solidFill>
                        <a:latin typeface="Arial"/>
                        <a:ea typeface="ＭＳ Ｐゴシック"/>
                      </a:rPr>
                      <a:t>(n=36)</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-0.75</a:t>
                    </a:r>
                  </a:p>
                  <a:p>
                    <a:pPr algn="ctr">
                      <a:defRPr sz="900"/>
                    </a:pPr>
                    <a:r>
                      <a:rPr lang="ja-JP" sz="900" b="0">
                        <a:solidFill>
                          <a:srgbClr val="1A1A1A"/>
                        </a:solidFill>
                        <a:latin typeface="Arial"/>
                        <a:ea typeface="ＭＳ Ｐゴシック"/>
                      </a:rPr>
                      <a:t>(n=20)</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-0.57</a:t>
                    </a:r>
                  </a:p>
                  <a:p>
                    <a:pPr algn="ctr">
                      <a:defRPr sz="900"/>
                    </a:pPr>
                    <a:r>
                      <a:rPr lang="ja-JP" sz="900" b="0">
                        <a:solidFill>
                          <a:srgbClr val="1A1A1A"/>
                        </a:solidFill>
                        <a:latin typeface="Arial"/>
                        <a:ea typeface="ＭＳ Ｐゴシック"/>
                      </a:rPr>
                      <a:t>(n=7)</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E97132"/>
              </a:solidFill>
              <a:ln w="9525" cap="flat">
                <a:solidFill>
                  <a:srgbClr val="E9713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Sheet1!$C$2:$C$5</c:f>
              <c:numCache>
                <c:formatCode>General</c:formatCode>
                <c:ptCount val="4"/>
                <c:pt idx="0">
                  <c:v>-0.53</c:v>
                </c:pt>
                <c:pt idx="1">
                  <c:v>-0.5</c:v>
                </c:pt>
                <c:pt idx="2">
                  <c:v>-0.75</c:v>
                </c:pt>
                <c:pt idx="3">
                  <c:v>-0.57</c:v>
                </c:pt>
              </c:numCache>
            </c:numRef>
          </c:val>
          <c:smooth val="0"/>
        </c:ser>
        <c:dLbls>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2"/>
          <c:min val="-3"/>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遅延再生低下例の割合：0か月から18か月の変化</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定義：低下＝0-1点、正常＝2-3点</a:t>
            </a:r>
            <a:endParaRPr lang="en-US" sz="1300" dirty="0"/>
          </a:p>
        </p:txBody>
      </p:sp>
      <p:sp>
        <p:nvSpPr>
          <p:cNvPr id="4" name="Text 2"/>
          <p:cNvSpPr/>
          <p:nvPr/>
        </p:nvSpPr>
        <p:spPr>
          <a:xfrm>
            <a:off x="457200" y="1115568"/>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対象：0か月・18か月の両時点で評価できた29例</a:t>
            </a:r>
            <a:endParaRPr lang="en-US" sz="1300" dirty="0"/>
          </a:p>
        </p:txBody>
      </p:sp>
      <p:sp>
        <p:nvSpPr>
          <p:cNvPr id="5" name="Shape 3"/>
          <p:cNvSpPr/>
          <p:nvPr/>
        </p:nvSpPr>
        <p:spPr>
          <a:xfrm>
            <a:off x="457200" y="1408176"/>
            <a:ext cx="11277295" cy="0"/>
          </a:xfrm>
          <a:prstGeom prst="line">
            <a:avLst/>
          </a:prstGeom>
          <a:noFill/>
          <a:ln w="22225">
            <a:solidFill>
              <a:srgbClr val="156082"/>
            </a:solidFill>
            <a:prstDash val="solid"/>
          </a:ln>
        </p:spPr>
      </p:sp>
      <p:sp>
        <p:nvSpPr>
          <p:cNvPr id="6" name="Shape 4"/>
          <p:cNvSpPr/>
          <p:nvPr/>
        </p:nvSpPr>
        <p:spPr>
          <a:xfrm>
            <a:off x="8442655" y="292608"/>
            <a:ext cx="3291840" cy="932688"/>
          </a:xfrm>
          <a:prstGeom prst="roundRect">
            <a:avLst>
              <a:gd name="adj" fmla="val 6863"/>
            </a:avLst>
          </a:prstGeom>
          <a:solidFill>
            <a:srgbClr val="FFFFFF"/>
          </a:solidFill>
          <a:ln w="15875">
            <a:solidFill>
              <a:srgbClr val="156082"/>
            </a:solidFill>
            <a:prstDash val="solid"/>
          </a:ln>
        </p:spPr>
      </p:sp>
      <p:sp>
        <p:nvSpPr>
          <p:cNvPr id="7" name="Text 5"/>
          <p:cNvSpPr/>
          <p:nvPr/>
        </p:nvSpPr>
        <p:spPr>
          <a:xfrm>
            <a:off x="8552383" y="365760"/>
            <a:ext cx="3072384" cy="786384"/>
          </a:xfrm>
          <a:prstGeom prst="rect">
            <a:avLst/>
          </a:prstGeom>
          <a:noFill/>
          <a:ln/>
        </p:spPr>
        <p:txBody>
          <a:bodyPr wrap="square" lIns="0" tIns="0" rIns="0" bIns="0" rtlCol="0" anchor="ctr"/>
          <a:lstStyle/>
          <a:p>
            <a:pPr algn="ctr" indent="0" marL="0">
              <a:lnSpc>
                <a:spcPct val="115000"/>
              </a:lnSpc>
              <a:buNone/>
            </a:pPr>
            <a:r>
              <a:rPr lang="en-US" sz="1300" b="1" dirty="0">
                <a:solidFill>
                  <a:srgbClr val="333333"/>
                </a:solidFill>
                <a:latin typeface="Arial" pitchFamily="34" charset="0"/>
                <a:ea typeface="ＭＳ Ｐゴシック" pitchFamily="34" charset="-122"/>
                <a:cs typeface="Arial" pitchFamily="34" charset="-120"/>
              </a:rPr>
              <a:t>McNemar正確検定 p = 0.063</a:t>
            </a:r>
            <a:endParaRPr lang="en-US" sz="1300" dirty="0"/>
          </a:p>
          <a:p>
            <a:pPr algn="ctr" indent="0" marL="0">
              <a:lnSpc>
                <a:spcPct val="115000"/>
              </a:lnSpc>
              <a:buNone/>
            </a:pPr>
            <a:r>
              <a:rPr lang="en-US" sz="1200" dirty="0">
                <a:solidFill>
                  <a:srgbClr val="333333"/>
                </a:solidFill>
                <a:latin typeface="Arial" pitchFamily="34" charset="0"/>
                <a:ea typeface="ＭＳ Ｐゴシック" pitchFamily="34" charset="-122"/>
                <a:cs typeface="Arial" pitchFamily="34" charset="-120"/>
              </a:rPr>
              <a:t>正常→低下：5例、低下→正常：0例</a:t>
            </a:r>
            <a:endParaRPr lang="en-US" sz="1300" dirty="0"/>
          </a:p>
        </p:txBody>
      </p:sp>
      <p:graphicFrame>
        <p:nvGraphicFramePr>
          <p:cNvPr id="8" name="Chart 0" descr=""/>
          <p:cNvGraphicFramePr/>
          <p:nvPr/>
        </p:nvGraphicFramePr>
        <p:xfrm>
          <a:off x="822960" y="1755648"/>
          <a:ext cx="1051560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7729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Cambria" pitchFamily="34" charset="0"/>
                <a:ea typeface="Cambria" pitchFamily="34" charset="-122"/>
                <a:cs typeface="Cambria" pitchFamily="34" charset="-120"/>
              </a:rPr>
              <a:t>Table 1. Baseline characteristics at 0 months</a:t>
            </a:r>
            <a:endParaRPr lang="en-US" sz="2200" dirty="0"/>
          </a:p>
        </p:txBody>
      </p:sp>
      <p:sp>
        <p:nvSpPr>
          <p:cNvPr id="3" name="Text 1"/>
          <p:cNvSpPr/>
          <p:nvPr/>
        </p:nvSpPr>
        <p:spPr>
          <a:xfrm>
            <a:off x="457200" y="841248"/>
            <a:ext cx="112772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Cambria" pitchFamily="34" charset="0"/>
                <a:ea typeface="Cambria" pitchFamily="34" charset="-122"/>
                <a:cs typeface="Cambria" pitchFamily="34" charset="-120"/>
              </a:rPr>
              <a:t>Lecanemab-treated patients (n = 66)</a:t>
            </a:r>
            <a:endParaRPr lang="en-US" sz="1500" dirty="0"/>
          </a:p>
        </p:txBody>
      </p:sp>
      <p:sp>
        <p:nvSpPr>
          <p:cNvPr id="4" name="Shape 2"/>
          <p:cNvSpPr/>
          <p:nvPr/>
        </p:nvSpPr>
        <p:spPr>
          <a:xfrm>
            <a:off x="457200" y="1261872"/>
            <a:ext cx="11277295" cy="0"/>
          </a:xfrm>
          <a:prstGeom prst="line">
            <a:avLst/>
          </a:prstGeom>
          <a:noFill/>
          <a:ln w="22225">
            <a:solidFill>
              <a:srgbClr val="156082"/>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371600" y="1417320"/>
          <a:ext cx="9448495" cy="914400"/>
        </p:xfrm>
        <a:graphic>
          <a:graphicData uri="http://schemas.openxmlformats.org/drawingml/2006/table">
            <a:tbl>
              <a:tblPr/>
              <a:tblGrid>
                <a:gridCol w="5669280"/>
                <a:gridCol w="3779215"/>
              </a:tblGrid>
              <a:tr h="306324">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Characteristic</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Overall</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Age, years</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74.7 ± 6.2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Female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49 (74.2%)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17 (25.8%)</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MMSE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24.4 ± 2.2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HDS-R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22.0 ± 3.6</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MoCA-J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20.7 ± 3.0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0.5</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60 (90.9%)</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1.0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 (9.1%)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CDR-SB</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 ± 1.1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Irritability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15 (22.7%)</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Apathy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 (33.3%)</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Neither irritability nor apathy</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31 (47.0%)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sp>
      <p:sp>
        <p:nvSpPr>
          <p:cNvPr id="7" name="Shape 4"/>
          <p:cNvSpPr/>
          <p:nvPr/>
        </p:nvSpPr>
        <p:spPr>
          <a:xfrm>
            <a:off x="1371600" y="1723644"/>
            <a:ext cx="9448495" cy="0"/>
          </a:xfrm>
          <a:prstGeom prst="line">
            <a:avLst/>
          </a:prstGeom>
          <a:noFill/>
          <a:ln w="15875">
            <a:solidFill>
              <a:srgbClr val="000000"/>
            </a:solidFill>
            <a:prstDash val="solid"/>
          </a:ln>
        </p:spPr>
      </p:sp>
      <p:sp>
        <p:nvSpPr>
          <p:cNvPr id="8" name="Shape 5"/>
          <p:cNvSpPr/>
          <p:nvPr/>
        </p:nvSpPr>
        <p:spPr>
          <a:xfrm>
            <a:off x="1371600" y="5399532"/>
            <a:ext cx="9448495" cy="0"/>
          </a:xfrm>
          <a:prstGeom prst="line">
            <a:avLst/>
          </a:prstGeom>
          <a:noFill/>
          <a:ln w="19050">
            <a:solidFill>
              <a:srgbClr val="000000"/>
            </a:solidFill>
            <a:prstDash val="solid"/>
          </a:ln>
        </p:spPr>
      </p:sp>
      <p:sp>
        <p:nvSpPr>
          <p:cNvPr id="9" name="Text 6"/>
          <p:cNvSpPr/>
          <p:nvPr/>
        </p:nvSpPr>
        <p:spPr>
          <a:xfrm>
            <a:off x="1371600" y="5536692"/>
            <a:ext cx="9448495" cy="640080"/>
          </a:xfrm>
          <a:prstGeom prst="rect">
            <a:avLst/>
          </a:prstGeom>
          <a:noFill/>
          <a:ln/>
        </p:spPr>
        <p:txBody>
          <a:bodyPr wrap="square" lIns="0" tIns="0" rIns="0" bIns="0" rtlCol="0" anchor="ctr"/>
          <a:lstStyle/>
          <a:p>
            <a:pPr algn="l" indent="0" marL="0">
              <a:lnSpc>
                <a:spcPct val="115000"/>
              </a:lnSpc>
              <a:buNone/>
            </a:pPr>
            <a:r>
              <a:rPr lang="en-US" sz="1050" dirty="0">
                <a:solidFill>
                  <a:srgbClr val="000000"/>
                </a:solidFill>
                <a:latin typeface="Cambria" pitchFamily="34" charset="0"/>
                <a:ea typeface="Cambria" pitchFamily="34" charset="-122"/>
                <a:cs typeface="Cambria" pitchFamily="34" charset="-120"/>
              </a:rPr>
              <a:t>Values are mean ± SD or n (%). MMSE, Mini-Mental State Examination; HDS-R, Hasegawa Dementia Scale-Revised; MoCA-J, Japanese version of the Montreal Cognitive Assessment; CDR, Clinical Dementia Rating; CDR-SB, Clinical Dementia Rating Sum of Boxes.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レカネマブ投与患者におけるMMSEの推移</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対象：レカネマブ投与患者66例（各時点での評価症例数は図中に記載）</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MMSE平均変化量の推移</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18か月時点の変化分類（n=33）</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18か月対応解析：平均変化 −1.24点（0か月23.91点→18か月22.67点）。対応のあるt検定 p=0.087、Wilcoxon符号付順位検定 p=0.188。※24か月は補助データ（n=16）。図中nは各時点での対応症例数。</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22376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レカネマブ投与後の精神症状（改善訴え）</a:t>
            </a:r>
            <a:endParaRPr lang="en-US" sz="2600" dirty="0"/>
          </a:p>
        </p:txBody>
      </p:sp>
      <p:sp>
        <p:nvSpPr>
          <p:cNvPr id="3" name="Text 1"/>
          <p:cNvSpPr/>
          <p:nvPr/>
        </p:nvSpPr>
        <p:spPr>
          <a:xfrm>
            <a:off x="457200" y="868680"/>
            <a:ext cx="722376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Shape 3"/>
          <p:cNvSpPr/>
          <p:nvPr/>
        </p:nvSpPr>
        <p:spPr>
          <a:xfrm>
            <a:off x="8168335" y="292608"/>
            <a:ext cx="3566160" cy="914400"/>
          </a:xfrm>
          <a:prstGeom prst="roundRect">
            <a:avLst>
              <a:gd name="adj" fmla="val 7000"/>
            </a:avLst>
          </a:prstGeom>
          <a:solidFill>
            <a:srgbClr val="FFFFFF"/>
          </a:solidFill>
          <a:ln w="15875">
            <a:solidFill>
              <a:srgbClr val="156082"/>
            </a:solidFill>
            <a:prstDash val="solid"/>
          </a:ln>
        </p:spPr>
      </p:sp>
      <p:sp>
        <p:nvSpPr>
          <p:cNvPr id="6" name="Text 4"/>
          <p:cNvSpPr/>
          <p:nvPr/>
        </p:nvSpPr>
        <p:spPr>
          <a:xfrm>
            <a:off x="8278063" y="365760"/>
            <a:ext cx="3346704" cy="768096"/>
          </a:xfrm>
          <a:prstGeom prst="rect">
            <a:avLst/>
          </a:prstGeom>
          <a:noFill/>
          <a:ln/>
        </p:spPr>
        <p:txBody>
          <a:bodyPr wrap="square" lIns="0" tIns="0" rIns="0" bIns="0" rtlCol="0" anchor="ctr"/>
          <a:lstStyle/>
          <a:p>
            <a:pPr algn="ctr" indent="0" marL="0">
              <a:lnSpc>
                <a:spcPct val="115000"/>
              </a:lnSpc>
              <a:buNone/>
            </a:pPr>
            <a:r>
              <a:rPr lang="en-US" sz="1250" b="1" dirty="0">
                <a:solidFill>
                  <a:srgbClr val="333333"/>
                </a:solidFill>
                <a:latin typeface="Arial" pitchFamily="34" charset="0"/>
                <a:ea typeface="ＭＳ Ｐゴシック" pitchFamily="34" charset="-122"/>
                <a:cs typeface="Arial" pitchFamily="34" charset="-120"/>
              </a:rPr>
              <a:t>18か月MMSE変化（有意差なし）</a:t>
            </a:r>
            <a:endParaRPr lang="en-US" sz="1250" dirty="0"/>
          </a:p>
          <a:p>
            <a:pPr algn="ctr" indent="0" marL="0">
              <a:lnSpc>
                <a:spcPct val="115000"/>
              </a:lnSpc>
              <a:buNone/>
            </a:pPr>
            <a:r>
              <a:rPr lang="en-US" sz="1150" dirty="0">
                <a:solidFill>
                  <a:srgbClr val="333333"/>
                </a:solidFill>
                <a:latin typeface="Arial" pitchFamily="34" charset="0"/>
                <a:ea typeface="ＭＳ Ｐゴシック" pitchFamily="34" charset="-122"/>
                <a:cs typeface="Arial" pitchFamily="34" charset="-120"/>
              </a:rPr>
              <a:t>改善訴えあり +0.22点 / 記載なし −0.75点</a:t>
            </a:r>
            <a:endParaRPr lang="en-US" sz="1250" dirty="0"/>
          </a:p>
        </p:txBody>
      </p:sp>
      <p:graphicFrame>
        <p:nvGraphicFramePr>
          <p:cNvPr id="7" name="Chart 0" descr=""/>
          <p:cNvGraphicFramePr/>
          <p:nvPr/>
        </p:nvGraphicFramePr>
        <p:xfrm>
          <a:off x="1645920" y="1600200"/>
          <a:ext cx="8869680" cy="4160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457200" y="5989320"/>
            <a:ext cx="11277295" cy="45720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 改善訴えは、診療録に記載された自覚的または家族からの改善の訴えを集計した探索的結果。統一した精神症状評価尺度による前後比較ではない。</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症状改善の訴え有無によるMMSE変化の比較</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対象：改善訴えあり9例／改善訴えなし（記載なしを含む）20例</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18か月時点の群間比較</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経時的な平均変化量の推移</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統計：Welchのt検定 p=0.581、Mann-Whitney検定 p=0.200、ベースラインMMSE調整 p=0.879。数値上は改善訴えあり群で低下が少なかったが、いずれの解析でも統計学的有意差はなし。「改善訴えなし」には改善訴えの記載がない症例を含む。</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Lecanemab Retrospective Analysis</cp:lastModifiedBy>
  <cp:revision>1</cp:revision>
  <dcterms:created xsi:type="dcterms:W3CDTF">2026-07-22T05:05:21Z</dcterms:created>
  <dcterms:modified xsi:type="dcterms:W3CDTF">2026-07-22T05:05:21Z</dcterms:modified>
</cp:coreProperties>
</file>