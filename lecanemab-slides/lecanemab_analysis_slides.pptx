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遅延再生低下（0-1点）</c:v>
                </c:pt>
              </c:strCache>
            </c:strRef>
          </c:tx>
          <c:spPr>
            <a:solidFill>
              <a:srgbClr val="156082"/>
            </a:solidFill>
            <a:effectLst/>
          </c:spPr>
          <c:invertIfNegative val="0"/>
          <c:dLbls>
            <c:dLbl>
              <c:idx val="0"/>
              <c:tx>
                <c:rich>
                  <a:bodyPr wrap="square" lIns="0" tIns="0" rIns="0" bIns="0" anchor="ctr"/>
                  <a:lstStyle/>
                  <a:p>
                    <a:pPr algn="ctr">
                      <a:defRPr sz="1200"/>
                    </a:pPr>
                    <a:r>
                      <a:rPr lang="ja-JP" sz="1200" b="1">
                        <a:solidFill>
                          <a:srgbClr val="1A1A1A"/>
                        </a:solidFill>
                        <a:latin typeface="Meiryo"/>
                        <a:ea typeface="Meiryo"/>
                      </a:rPr>
                      <a:t>26/33</a:t>
                    </a:r>
                  </a:p>
                  <a:p>
                    <a:pPr algn="ctr">
                      <a:defRPr sz="1100"/>
                    </a:pPr>
                    <a:r>
                      <a:rPr lang="ja-JP" sz="1100" b="0">
                        <a:solidFill>
                          <a:srgbClr val="1A1A1A"/>
                        </a:solidFill>
                        <a:latin typeface="Meiryo"/>
                        <a:ea typeface="Meiryo"/>
                      </a:rPr>
                      <a:t>(78.8%)</a:t>
                    </a:r>
                  </a:p>
                </c:rich>
              </c:tx>
              <c:dLblPos val="outEnd"/>
              <c:showLegendKey val="0"/>
              <c:showVal val="0"/>
              <c:showCatName val="0"/>
              <c:showSerName val="0"/>
              <c:showPercent val="0"/>
              <c:showBubbleSize val="0"/>
            </c:dLbl>
            <c:dLbl>
              <c:idx val="1"/>
              <c:tx>
                <c:rich>
                  <a:bodyPr wrap="square" lIns="0" tIns="0" rIns="0" bIns="0" anchor="ctr"/>
                  <a:lstStyle/>
                  <a:p>
                    <a:pPr algn="ctr">
                      <a:defRPr sz="1200"/>
                    </a:pPr>
                    <a:r>
                      <a:rPr lang="ja-JP" sz="1200" b="1">
                        <a:solidFill>
                          <a:srgbClr val="1A1A1A"/>
                        </a:solidFill>
                        <a:latin typeface="Meiryo"/>
                        <a:ea typeface="Meiryo"/>
                      </a:rPr>
                      <a:t>32/33</a:t>
                    </a:r>
                  </a:p>
                  <a:p>
                    <a:pPr algn="ctr">
                      <a:defRPr sz="1100"/>
                    </a:pPr>
                    <a:r>
                      <a:rPr lang="ja-JP" sz="1100" b="0">
                        <a:solidFill>
                          <a:srgbClr val="1A1A1A"/>
                        </a:solidFill>
                        <a:latin typeface="Meiryo"/>
                        <a:ea typeface="Meiryo"/>
                      </a:rPr>
                      <a:t>(97.0%)</a:t>
                    </a:r>
                  </a:p>
                </c:rich>
              </c:tx>
              <c:dLblPos val="outEnd"/>
              <c:showLegendKey val="0"/>
              <c:showVal val="0"/>
              <c:showCatName val="0"/>
              <c:showSerName val="0"/>
              <c:showPercent val="0"/>
              <c:showBubbleSize val="0"/>
            </c:dLbl>
            <c:numFmt formatCode="#,##0" sourceLinked="0"/>
            <c:txPr>
              <a:bodyPr/>
              <a:lstStyle/>
              <a:p>
                <a:pPr>
                  <a:defRPr b="1" i="0" strike="noStrike" sz="1300" u="none">
                    <a:solidFill>
                      <a:srgbClr val="1A1A1A"/>
                    </a:solidFill>
                    <a:latin typeface="Meiryo"/>
                  </a:defRPr>
                </a:pPr>
              </a:p>
            </c:txPr>
            <c:showLegendKey val="0"/>
            <c:showVal val="1"/>
            <c:showCatName val="0"/>
            <c:showSerName val="0"/>
            <c:showPercent val="0"/>
            <c:showBubbleSize val="0"/>
            <c:showLeaderLines val="0"/>
          </c:dLbls>
          <c:cat>
            <c:multiLvlStrRef>
              <c:f>Sheet1!$A$2:$A$3</c:f>
              <c:multiLvlStrCache>
                <c:ptCount val="2"/>
                <c:lvl>
                  <c:pt idx="0">
                    <c:v>0か月</c:v>
                  </c:pt>
                  <c:pt idx="1">
                    <c:v>18か月</c:v>
                  </c:pt>
                </c:lvl>
              </c:multiLvlStrCache>
            </c:multiLvlStrRef>
          </c:cat>
          <c:val>
            <c:numRef>
              <c:f>Sheet1!$B$2:$B$3</c:f>
              <c:numCache>
                <c:formatCode>General</c:formatCode>
                <c:ptCount val="2"/>
                <c:pt idx="0">
                  <c:v>78.8</c:v>
                </c:pt>
                <c:pt idx="1">
                  <c:v>97</c:v>
                </c:pt>
              </c:numCache>
            </c:numRef>
          </c:val>
        </c:ser>
        <c:ser>
          <c:idx val="1"/>
          <c:order val="1"/>
          <c:tx>
            <c:strRef>
              <c:f>Sheet1!$C$1</c:f>
              <c:strCache>
                <c:ptCount val="1"/>
                <c:pt idx="0">
                  <c:v>遅延再生正常（2-3点）</c:v>
                </c:pt>
              </c:strCache>
            </c:strRef>
          </c:tx>
          <c:spPr>
            <a:solidFill>
              <a:srgbClr val="E97132"/>
            </a:solidFill>
            <a:effectLst/>
          </c:spPr>
          <c:invertIfNegative val="0"/>
          <c:dLbls>
            <c:dLbl>
              <c:idx val="0"/>
              <c:tx>
                <c:rich>
                  <a:bodyPr wrap="square" lIns="0" tIns="0" rIns="0" bIns="0" anchor="ctr"/>
                  <a:lstStyle/>
                  <a:p>
                    <a:pPr algn="ctr">
                      <a:defRPr sz="1200"/>
                    </a:pPr>
                    <a:r>
                      <a:rPr lang="ja-JP" sz="1200" b="1">
                        <a:solidFill>
                          <a:srgbClr val="1A1A1A"/>
                        </a:solidFill>
                        <a:latin typeface="Meiryo"/>
                        <a:ea typeface="Meiryo"/>
                      </a:rPr>
                      <a:t>7/33</a:t>
                    </a:r>
                  </a:p>
                  <a:p>
                    <a:pPr algn="ctr">
                      <a:defRPr sz="1100"/>
                    </a:pPr>
                    <a:r>
                      <a:rPr lang="ja-JP" sz="1100" b="0">
                        <a:solidFill>
                          <a:srgbClr val="1A1A1A"/>
                        </a:solidFill>
                        <a:latin typeface="Meiryo"/>
                        <a:ea typeface="Meiryo"/>
                      </a:rPr>
                      <a:t>(21.2%)</a:t>
                    </a:r>
                  </a:p>
                </c:rich>
              </c:tx>
              <c:dLblPos val="outEnd"/>
              <c:showLegendKey val="0"/>
              <c:showVal val="0"/>
              <c:showCatName val="0"/>
              <c:showSerName val="0"/>
              <c:showPercent val="0"/>
              <c:showBubbleSize val="0"/>
            </c:dLbl>
            <c:dLbl>
              <c:idx val="1"/>
              <c:tx>
                <c:rich>
                  <a:bodyPr wrap="square" lIns="0" tIns="0" rIns="0" bIns="0" anchor="ctr"/>
                  <a:lstStyle/>
                  <a:p>
                    <a:pPr algn="ctr">
                      <a:defRPr sz="1200"/>
                    </a:pPr>
                    <a:r>
                      <a:rPr lang="ja-JP" sz="1200" b="1">
                        <a:solidFill>
                          <a:srgbClr val="1A1A1A"/>
                        </a:solidFill>
                        <a:latin typeface="Meiryo"/>
                        <a:ea typeface="Meiryo"/>
                      </a:rPr>
                      <a:t>1/33</a:t>
                    </a:r>
                  </a:p>
                  <a:p>
                    <a:pPr algn="ctr">
                      <a:defRPr sz="1100"/>
                    </a:pPr>
                    <a:r>
                      <a:rPr lang="ja-JP" sz="1100" b="0">
                        <a:solidFill>
                          <a:srgbClr val="1A1A1A"/>
                        </a:solidFill>
                        <a:latin typeface="Meiryo"/>
                        <a:ea typeface="Meiryo"/>
                      </a:rPr>
                      <a:t>(3.0%)</a:t>
                    </a:r>
                  </a:p>
                </c:rich>
              </c:tx>
              <c:dLblPos val="outEnd"/>
              <c:showLegendKey val="0"/>
              <c:showVal val="0"/>
              <c:showCatName val="0"/>
              <c:showSerName val="0"/>
              <c:showPercent val="0"/>
              <c:showBubbleSize val="0"/>
            </c:dLbl>
            <c:numFmt formatCode="#,##0" sourceLinked="0"/>
            <c:txPr>
              <a:bodyPr/>
              <a:lstStyle/>
              <a:p>
                <a:pPr>
                  <a:defRPr b="1" i="0" strike="noStrike" sz="1300" u="none">
                    <a:solidFill>
                      <a:srgbClr val="1A1A1A"/>
                    </a:solidFill>
                    <a:latin typeface="Meiryo"/>
                  </a:defRPr>
                </a:pPr>
              </a:p>
            </c:txPr>
            <c:showLegendKey val="0"/>
            <c:showVal val="1"/>
            <c:showCatName val="0"/>
            <c:showSerName val="0"/>
            <c:showPercent val="0"/>
            <c:showBubbleSize val="0"/>
            <c:showLeaderLines val="0"/>
          </c:dLbls>
          <c:cat>
            <c:multiLvlStrRef>
              <c:f>Sheet1!$A$2:$A$3</c:f>
              <c:multiLvlStrCache>
                <c:ptCount val="2"/>
                <c:lvl>
                  <c:pt idx="0">
                    <c:v>0か月</c:v>
                  </c:pt>
                  <c:pt idx="1">
                    <c:v>18か月</c:v>
                  </c:pt>
                </c:lvl>
              </c:multiLvlStrCache>
            </c:multiLvlStrRef>
          </c:cat>
          <c:val>
            <c:numRef>
              <c:f>Sheet1!$C$2:$C$3</c:f>
              <c:numCache>
                <c:formatCode>General</c:formatCode>
                <c:ptCount val="2"/>
                <c:pt idx="0">
                  <c:v>21.2</c:v>
                </c:pt>
                <c:pt idx="1">
                  <c:v>3</c:v>
                </c:pt>
              </c:numCache>
            </c:numRef>
          </c:val>
        </c:ser>
        <c:dLbls>
          <c:numFmt formatCode="#,##0" sourceLinked="0"/>
          <c:txPr>
            <a:bodyPr/>
            <a:lstStyle/>
            <a:p>
              <a:pPr>
                <a:defRPr b="1" i="0" strike="noStrike" sz="1300" u="none">
                  <a:solidFill>
                    <a:srgbClr val="1A1A1A"/>
                  </a:solidFill>
                  <a:latin typeface="Meiryo"/>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99999"/>
            </a:solidFill>
            <a:prstDash val="solid"/>
            <a:round/>
          </a:ln>
        </c:spPr>
        <c:txPr>
          <a:bodyPr/>
          <a:lstStyle/>
          <a:p>
            <a:pPr>
              <a:defRPr sz="1600" b="1" i="0" u="none" strike="noStrike">
                <a:solidFill>
                  <a:srgbClr val="1A1A1A"/>
                </a:solidFill>
                <a:latin typeface="Meiryo"/>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D9D9D9"/>
              </a:solidFill>
              <a:prstDash val="dash"/>
              <a:round/>
            </a:ln>
          </c:spPr>
        </c:majorGridlines>
        <c:numFmt formatCode="General" sourceLinked="0"/>
        <c:majorTickMark val="out"/>
        <c:minorTickMark val="none"/>
        <c:tickLblPos val="nextTo"/>
        <c:spPr>
          <a:ln w="9525" cap="flat">
            <a:solidFill>
              <a:srgbClr val="999999"/>
            </a:solidFill>
            <a:prstDash val="solid"/>
            <a:round/>
          </a:ln>
        </c:spPr>
        <c:txPr>
          <a:bodyPr/>
          <a:lstStyle/>
          <a:p>
            <a:pPr>
              <a:defRPr sz="1000" b="0" i="0" u="none" strike="noStrike">
                <a:solidFill>
                  <a:srgbClr val="666666"/>
                </a:solidFill>
                <a:latin typeface="Meiryo"/>
              </a:defRPr>
            </a:pPr>
            <a:endParaRPr lang="en-US"/>
          </a:p>
        </c:txPr>
        <c:crossAx val="2094734554"/>
        <c:crosses val="autoZero"/>
        <c:crossBetween val="between"/>
        <c:majorUnit val="20"/>
      </c:valAx>
      <c:spPr>
        <a:noFill/>
        <a:ln>
          <a:noFill/>
        </a:ln>
        <a:effectLst/>
      </c:spPr>
    </c:plotArea>
    <c:legend>
      <c:legendPos val="b"/>
      <c:overlay val="0"/>
      <c:txPr>
        <a:bodyPr/>
        <a:lstStyle/>
        <a:p>
          <a:pPr>
            <a:defRPr sz="1300">
              <a:solidFill>
                <a:srgbClr val="333333"/>
              </a:solidFill>
              <a:latin typeface="Meiryo"/>
              <a:cs typeface="Meiryo"/>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0か月からの平均変化量</c:v>
                </c:pt>
              </c:strCache>
            </c:strRef>
          </c:tx>
          <c:spPr>
            <a:solidFill>
              <a:srgbClr val="156082"/>
            </a:solidFill>
            <a:effectLst/>
          </c:spPr>
          <c:invertIfNegative val="0"/>
          <c:dLbls>
            <c:dLbl>
              <c:idx val="0"/>
              <c:tx>
                <c:rich>
                  <a:bodyPr wrap="square" lIns="0" tIns="0" rIns="0" bIns="0" anchor="ctr"/>
                  <a:lstStyle/>
                  <a:p>
                    <a:pPr algn="ctr">
                      <a:defRPr sz="1100"/>
                    </a:pPr>
                    <a:r>
                      <a:rPr lang="ja-JP" sz="1100" b="1">
                        <a:solidFill>
                          <a:srgbClr val="1A1A1A"/>
                        </a:solidFill>
                        <a:latin typeface="Meiryo"/>
                        <a:ea typeface="Meiryo"/>
                      </a:rPr>
                      <a:t>0.00</a:t>
                    </a:r>
                  </a:p>
                  <a:p>
                    <a:pPr algn="ctr">
                      <a:defRPr sz="1000"/>
                    </a:pPr>
                    <a:r>
                      <a:rPr lang="ja-JP" sz="1000" b="0">
                        <a:solidFill>
                          <a:srgbClr val="1A1A1A"/>
                        </a:solidFill>
                        <a:latin typeface="Meiryo"/>
                        <a:ea typeface="Meiryo"/>
                      </a:rPr>
                      <a:t>(n=66)</a:t>
                    </a:r>
                  </a:p>
                </c:rich>
              </c:tx>
              <c:dLblPos val="outEnd"/>
              <c:showLegendKey val="0"/>
              <c:showVal val="0"/>
              <c:showCatName val="0"/>
              <c:showSerName val="0"/>
              <c:showPercent val="0"/>
              <c:showBubbleSize val="0"/>
            </c:dLbl>
            <c:dLbl>
              <c:idx val="1"/>
              <c:tx>
                <c:rich>
                  <a:bodyPr wrap="square" lIns="0" tIns="0" rIns="0" bIns="0" anchor="ctr"/>
                  <a:lstStyle/>
                  <a:p>
                    <a:pPr algn="ctr">
                      <a:defRPr sz="1100"/>
                    </a:pPr>
                    <a:r>
                      <a:rPr lang="ja-JP" sz="1100" b="1">
                        <a:solidFill>
                          <a:srgbClr val="1A1A1A"/>
                        </a:solidFill>
                        <a:latin typeface="Meiryo"/>
                        <a:ea typeface="Meiryo"/>
                      </a:rPr>
                      <a:t>0.00</a:t>
                    </a:r>
                  </a:p>
                  <a:p>
                    <a:pPr algn="ctr">
                      <a:defRPr sz="1000"/>
                    </a:pPr>
                    <a:r>
                      <a:rPr lang="ja-JP" sz="1000" b="0">
                        <a:solidFill>
                          <a:srgbClr val="1A1A1A"/>
                        </a:solidFill>
                        <a:latin typeface="Meiryo"/>
                        <a:ea typeface="Meiryo"/>
                      </a:rPr>
                      <a:t>(n=61)</a:t>
                    </a:r>
                  </a:p>
                </c:rich>
              </c:tx>
              <c:dLblPos val="outEnd"/>
              <c:showLegendKey val="0"/>
              <c:showVal val="0"/>
              <c:showCatName val="0"/>
              <c:showSerName val="0"/>
              <c:showPercent val="0"/>
              <c:showBubbleSize val="0"/>
            </c:dLbl>
            <c:dLbl>
              <c:idx val="2"/>
              <c:tx>
                <c:rich>
                  <a:bodyPr wrap="square" lIns="0" tIns="0" rIns="0" bIns="0" anchor="ctr"/>
                  <a:lstStyle/>
                  <a:p>
                    <a:pPr algn="ctr">
                      <a:defRPr sz="1100"/>
                    </a:pPr>
                    <a:r>
                      <a:rPr lang="ja-JP" sz="1100" b="1">
                        <a:solidFill>
                          <a:srgbClr val="1A1A1A"/>
                        </a:solidFill>
                        <a:latin typeface="Meiryo"/>
                        <a:ea typeface="Meiryo"/>
                      </a:rPr>
                      <a:t>-0.35</a:t>
                    </a:r>
                  </a:p>
                  <a:p>
                    <a:pPr algn="ctr">
                      <a:defRPr sz="1000"/>
                    </a:pPr>
                    <a:r>
                      <a:rPr lang="ja-JP" sz="1000" b="0">
                        <a:solidFill>
                          <a:srgbClr val="1A1A1A"/>
                        </a:solidFill>
                        <a:latin typeface="Meiryo"/>
                        <a:ea typeface="Meiryo"/>
                      </a:rPr>
                      <a:t>(n=49)</a:t>
                    </a:r>
                  </a:p>
                </c:rich>
              </c:tx>
              <c:dLblPos val="outEnd"/>
              <c:showLegendKey val="0"/>
              <c:showVal val="0"/>
              <c:showCatName val="0"/>
              <c:showSerName val="0"/>
              <c:showPercent val="0"/>
              <c:showBubbleSize val="0"/>
            </c:dLbl>
            <c:dLbl>
              <c:idx val="3"/>
              <c:tx>
                <c:rich>
                  <a:bodyPr wrap="square" lIns="0" tIns="0" rIns="0" bIns="0" anchor="ctr"/>
                  <a:lstStyle/>
                  <a:p>
                    <a:pPr algn="ctr">
                      <a:defRPr sz="1100"/>
                    </a:pPr>
                    <a:r>
                      <a:rPr lang="ja-JP" sz="1100" b="1">
                        <a:solidFill>
                          <a:srgbClr val="1A1A1A"/>
                        </a:solidFill>
                        <a:latin typeface="Meiryo"/>
                        <a:ea typeface="Meiryo"/>
                      </a:rPr>
                      <a:t>-1.24</a:t>
                    </a:r>
                  </a:p>
                  <a:p>
                    <a:pPr algn="ctr">
                      <a:defRPr sz="1000"/>
                    </a:pPr>
                    <a:r>
                      <a:rPr lang="ja-JP" sz="1000" b="0">
                        <a:solidFill>
                          <a:srgbClr val="1A1A1A"/>
                        </a:solidFill>
                        <a:latin typeface="Meiryo"/>
                        <a:ea typeface="Meiryo"/>
                      </a:rPr>
                      <a:t>(n=33)</a:t>
                    </a:r>
                  </a:p>
                </c:rich>
              </c:tx>
              <c:dLblPos val="outEnd"/>
              <c:showLegendKey val="0"/>
              <c:showVal val="0"/>
              <c:showCatName val="0"/>
              <c:showSerName val="0"/>
              <c:showPercent val="0"/>
              <c:showBubbleSize val="0"/>
            </c:dLbl>
            <c:dLbl>
              <c:idx val="4"/>
              <c:tx>
                <c:rich>
                  <a:bodyPr wrap="square" lIns="0" tIns="0" rIns="0" bIns="0" anchor="ctr"/>
                  <a:lstStyle/>
                  <a:p>
                    <a:pPr algn="ctr">
                      <a:defRPr sz="1100"/>
                    </a:pPr>
                    <a:r>
                      <a:rPr lang="ja-JP" sz="1100" b="1">
                        <a:solidFill>
                          <a:srgbClr val="1A1A1A"/>
                        </a:solidFill>
                        <a:latin typeface="Meiryo"/>
                        <a:ea typeface="Meiryo"/>
                      </a:rPr>
                      <a:t>-1.75</a:t>
                    </a:r>
                  </a:p>
                  <a:p>
                    <a:pPr algn="ctr">
                      <a:defRPr sz="1000"/>
                    </a:pPr>
                    <a:r>
                      <a:rPr lang="ja-JP" sz="1000" b="0">
                        <a:solidFill>
                          <a:srgbClr val="1A1A1A"/>
                        </a:solidFill>
                        <a:latin typeface="Meiryo"/>
                        <a:ea typeface="Meiryo"/>
                      </a:rPr>
                      <a:t>(n=16)</a:t>
                    </a:r>
                  </a:p>
                </c:rich>
              </c:tx>
              <c:dLblPos val="outEnd"/>
              <c:showLegendKey val="0"/>
              <c:showVal val="0"/>
              <c:showCatName val="0"/>
              <c:showSerName val="0"/>
              <c:showPercent val="0"/>
              <c:showBubbleSize val="0"/>
            </c:dLbl>
            <c:numFmt formatCode="0.00;-0.00;0.00" sourceLinked="0"/>
            <c:txPr>
              <a:bodyPr/>
              <a:lstStyle/>
              <a:p>
                <a:pPr>
                  <a:defRPr b="1" i="0" strike="noStrike" sz="1100" u="none">
                    <a:solidFill>
                      <a:srgbClr val="1A1A1A"/>
                    </a:solidFill>
                    <a:latin typeface="Meiryo"/>
                  </a:defRPr>
                </a:pPr>
              </a:p>
            </c:txPr>
            <c:showLegendKey val="0"/>
            <c:showVal val="1"/>
            <c:showCatName val="0"/>
            <c:showSerName val="0"/>
            <c:showPercent val="0"/>
            <c:showBubbleSize val="0"/>
            <c:showLeaderLines val="0"/>
          </c:dLbls>
          <c:cat>
            <c:multiLvlStrRef>
              <c:f>Sheet1!$A$2:$A$6</c:f>
              <c:multiLvlStrCache>
                <c:ptCount val="5"/>
                <c:lvl>
                  <c:pt idx="0">
                    <c:v>0か月</c:v>
                  </c:pt>
                  <c:pt idx="1">
                    <c:v>6か月</c:v>
                  </c:pt>
                  <c:pt idx="2">
                    <c:v>12か月</c:v>
                  </c:pt>
                  <c:pt idx="3">
                    <c:v>18か月</c:v>
                  </c:pt>
                  <c:pt idx="4">
                    <c:v>24か月</c:v>
                  </c:pt>
                </c:lvl>
              </c:multiLvlStrCache>
            </c:multiLvlStrRef>
          </c:cat>
          <c:val>
            <c:numRef>
              <c:f>Sheet1!$B$2:$B$6</c:f>
              <c:numCache>
                <c:formatCode>General</c:formatCode>
                <c:ptCount val="5"/>
                <c:pt idx="0">
                  <c:v>0</c:v>
                </c:pt>
                <c:pt idx="1">
                  <c:v>0</c:v>
                </c:pt>
                <c:pt idx="2">
                  <c:v>-0.35</c:v>
                </c:pt>
                <c:pt idx="3">
                  <c:v>-1.24</c:v>
                </c:pt>
                <c:pt idx="4">
                  <c:v>-1.75</c:v>
                </c:pt>
              </c:numCache>
            </c:numRef>
          </c:val>
        </c:ser>
        <c:dLbls>
          <c:numFmt formatCode="0.00;-0.00;0.00" sourceLinked="0"/>
          <c:txPr>
            <a:bodyPr/>
            <a:lstStyle/>
            <a:p>
              <a:pPr>
                <a:defRPr b="1" i="0" strike="noStrike" sz="1100" u="none">
                  <a:solidFill>
                    <a:srgbClr val="1A1A1A"/>
                  </a:solidFill>
                  <a:latin typeface="Meiryo"/>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99999"/>
            </a:solidFill>
            <a:prstDash val="solid"/>
            <a:round/>
          </a:ln>
        </c:spPr>
        <c:txPr>
          <a:bodyPr/>
          <a:lstStyle/>
          <a:p>
            <a:pPr>
              <a:defRPr sz="1200" b="1" i="0" u="none" strike="noStrike">
                <a:solidFill>
                  <a:srgbClr val="1A1A1A"/>
                </a:solidFill>
                <a:latin typeface="Meiryo"/>
              </a:defRPr>
            </a:pPr>
            <a:endParaRPr lang="en-US"/>
          </a:p>
        </c:txPr>
        <c:crossAx val="2094734552"/>
        <c:crosses val="autoZero"/>
        <c:auto val="1"/>
        <c:lblAlgn val="ctr"/>
        <c:noMultiLvlLbl val="1"/>
      </c:catAx>
      <c:valAx>
        <c:axId val="2094734552"/>
        <c:scaling>
          <c:orientation val="minMax"/>
          <c:max val="0.5"/>
          <c:min val="-2.5"/>
        </c:scaling>
        <c:delete val="0"/>
        <c:axPos val="l"/>
        <c:majorGridlines>
          <c:spPr>
            <a:ln w="12700" cap="flat">
              <a:solidFill>
                <a:srgbClr val="D9D9D9"/>
              </a:solidFill>
              <a:prstDash val="dash"/>
              <a:round/>
            </a:ln>
          </c:spPr>
        </c:majorGridlines>
        <c:numFmt formatCode="General" sourceLinked="0"/>
        <c:majorTickMark val="out"/>
        <c:minorTickMark val="none"/>
        <c:tickLblPos val="nextTo"/>
        <c:spPr>
          <a:ln w="9525" cap="flat">
            <a:solidFill>
              <a:srgbClr val="999999"/>
            </a:solidFill>
            <a:prstDash val="solid"/>
            <a:round/>
          </a:ln>
        </c:spPr>
        <c:txPr>
          <a:bodyPr/>
          <a:lstStyle/>
          <a:p>
            <a:pPr>
              <a:defRPr sz="1000" b="0" i="0" u="none" strike="noStrike">
                <a:solidFill>
                  <a:srgbClr val="666666"/>
                </a:solidFill>
                <a:latin typeface="Meiryo"/>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症例数割合</c:v>
                </c:pt>
              </c:strCache>
            </c:strRef>
          </c:tx>
          <c:spPr>
            <a:solidFill>
              <a:srgbClr val="156082"/>
            </a:solidFill>
            <a:effectLst/>
          </c:spPr>
          <c:invertIfNegative val="0"/>
          <c:dLbls>
            <c:dLbl>
              <c:idx val="0"/>
              <c:tx>
                <c:rich>
                  <a:bodyPr wrap="square" lIns="0" tIns="0" rIns="0" bIns="0" anchor="ctr"/>
                  <a:lstStyle/>
                  <a:p>
                    <a:pPr algn="ctr">
                      <a:defRPr sz="1200"/>
                    </a:pPr>
                    <a:r>
                      <a:rPr lang="ja-JP" sz="1200" b="1">
                        <a:solidFill>
                          <a:srgbClr val="1A1A1A"/>
                        </a:solidFill>
                        <a:latin typeface="Meiryo"/>
                        <a:ea typeface="Meiryo"/>
                      </a:rPr>
                      <a:t>13例</a:t>
                    </a:r>
                  </a:p>
                  <a:p>
                    <a:pPr algn="ctr">
                      <a:defRPr sz="1100"/>
                    </a:pPr>
                    <a:r>
                      <a:rPr lang="ja-JP" sz="1100" b="0">
                        <a:solidFill>
                          <a:srgbClr val="1A1A1A"/>
                        </a:solidFill>
                        <a:latin typeface="Meiryo"/>
                        <a:ea typeface="Meiryo"/>
                      </a:rPr>
                      <a:t>(39.4%)</a:t>
                    </a:r>
                  </a:p>
                </c:rich>
              </c:tx>
              <c:dLblPos val="outEnd"/>
              <c:showLegendKey val="0"/>
              <c:showVal val="0"/>
              <c:showCatName val="0"/>
              <c:showSerName val="0"/>
              <c:showPercent val="0"/>
              <c:showBubbleSize val="0"/>
            </c:dLbl>
            <c:dLbl>
              <c:idx val="1"/>
              <c:tx>
                <c:rich>
                  <a:bodyPr wrap="square" lIns="0" tIns="0" rIns="0" bIns="0" anchor="ctr"/>
                  <a:lstStyle/>
                  <a:p>
                    <a:pPr algn="ctr">
                      <a:defRPr sz="1200"/>
                    </a:pPr>
                    <a:r>
                      <a:rPr lang="ja-JP" sz="1200" b="1">
                        <a:solidFill>
                          <a:srgbClr val="1A1A1A"/>
                        </a:solidFill>
                        <a:latin typeface="Meiryo"/>
                        <a:ea typeface="Meiryo"/>
                      </a:rPr>
                      <a:t>4例</a:t>
                    </a:r>
                  </a:p>
                  <a:p>
                    <a:pPr algn="ctr">
                      <a:defRPr sz="1100"/>
                    </a:pPr>
                    <a:r>
                      <a:rPr lang="ja-JP" sz="1100" b="0">
                        <a:solidFill>
                          <a:srgbClr val="1A1A1A"/>
                        </a:solidFill>
                        <a:latin typeface="Meiryo"/>
                        <a:ea typeface="Meiryo"/>
                      </a:rPr>
                      <a:t>(12.1%)</a:t>
                    </a:r>
                  </a:p>
                </c:rich>
              </c:tx>
              <c:dLblPos val="outEnd"/>
              <c:showLegendKey val="0"/>
              <c:showVal val="0"/>
              <c:showCatName val="0"/>
              <c:showSerName val="0"/>
              <c:showPercent val="0"/>
              <c:showBubbleSize val="0"/>
            </c:dLbl>
            <c:dLbl>
              <c:idx val="2"/>
              <c:tx>
                <c:rich>
                  <a:bodyPr wrap="square" lIns="0" tIns="0" rIns="0" bIns="0" anchor="ctr"/>
                  <a:lstStyle/>
                  <a:p>
                    <a:pPr algn="ctr">
                      <a:defRPr sz="1200"/>
                    </a:pPr>
                    <a:r>
                      <a:rPr lang="ja-JP" sz="1200" b="1">
                        <a:solidFill>
                          <a:srgbClr val="1A1A1A"/>
                        </a:solidFill>
                        <a:latin typeface="Meiryo"/>
                        <a:ea typeface="Meiryo"/>
                      </a:rPr>
                      <a:t>16例</a:t>
                    </a:r>
                  </a:p>
                  <a:p>
                    <a:pPr algn="ctr">
                      <a:defRPr sz="1100"/>
                    </a:pPr>
                    <a:r>
                      <a:rPr lang="ja-JP" sz="1100" b="0">
                        <a:solidFill>
                          <a:srgbClr val="1A1A1A"/>
                        </a:solidFill>
                        <a:latin typeface="Meiryo"/>
                        <a:ea typeface="Meiryo"/>
                      </a:rPr>
                      <a:t>(48.5%)</a:t>
                    </a:r>
                  </a:p>
                </c:rich>
              </c:tx>
              <c:dLblPos val="outEnd"/>
              <c:showLegendKey val="0"/>
              <c:showVal val="0"/>
              <c:showCatName val="0"/>
              <c:showSerName val="0"/>
              <c:showPercent val="0"/>
              <c:showBubbleSize val="0"/>
            </c:dLbl>
            <c:numFmt formatCode="#,##0" sourceLinked="0"/>
            <c:txPr>
              <a:bodyPr/>
              <a:lstStyle/>
              <a:p>
                <a:pPr>
                  <a:defRPr b="1" i="0" strike="noStrike" sz="1100" u="none">
                    <a:solidFill>
                      <a:srgbClr val="1A1A1A"/>
                    </a:solidFill>
                    <a:latin typeface="Meiryo"/>
                  </a:defRPr>
                </a:pPr>
              </a:p>
            </c:txPr>
            <c:showLegendKey val="0"/>
            <c:showVal val="1"/>
            <c:showCatName val="0"/>
            <c:showSerName val="0"/>
            <c:showPercent val="0"/>
            <c:showBubbleSize val="0"/>
            <c:showLeaderLines val="0"/>
          </c:dLbls>
          <c:dPt>
            <c:idx val="0"/>
            <c:invertIfNegative val="0"/>
            <c:bubble3D val="0"/>
            <c:spPr>
              <a:solidFill>
                <a:srgbClr val="156082"/>
              </a:solidFill>
              <a:effectLst/>
            </c:spPr>
          </c:dPt>
          <c:dPt>
            <c:idx val="1"/>
            <c:invertIfNegative val="0"/>
            <c:bubble3D val="0"/>
            <c:spPr>
              <a:solidFill>
                <a:srgbClr val="156082"/>
              </a:solidFill>
              <a:effectLst/>
            </c:spPr>
          </c:dPt>
          <c:dPt>
            <c:idx val="2"/>
            <c:invertIfNegative val="0"/>
            <c:bubble3D val="0"/>
            <c:spPr>
              <a:solidFill>
                <a:srgbClr val="E97132"/>
              </a:solidFill>
              <a:effectLst/>
            </c:spPr>
          </c:dPt>
          <c:cat>
            <c:multiLvlStrRef>
              <c:f>Sheet1!$A$2:$A$4</c:f>
              <c:multiLvlStrCache>
                <c:ptCount val="3"/>
                <c:lvl>
                  <c:pt idx="0">
                    <c:v>改善
(+1点以上)</c:v>
                  </c:pt>
                  <c:pt idx="1">
                    <c:v>維持
(0点)</c:v>
                  </c:pt>
                  <c:pt idx="2">
                    <c:v>低下
(-1点以下)</c:v>
                  </c:pt>
                </c:lvl>
              </c:multiLvlStrCache>
            </c:multiLvlStrRef>
          </c:cat>
          <c:val>
            <c:numRef>
              <c:f>Sheet1!$B$2:$B$4</c:f>
              <c:numCache>
                <c:formatCode>General</c:formatCode>
                <c:ptCount val="3"/>
                <c:pt idx="0">
                  <c:v>39.4</c:v>
                </c:pt>
                <c:pt idx="1">
                  <c:v>12.1</c:v>
                </c:pt>
                <c:pt idx="2">
                  <c:v>48.5</c:v>
                </c:pt>
              </c:numCache>
            </c:numRef>
          </c:val>
        </c:ser>
        <c:dLbls>
          <c:numFmt formatCode="#,##0" sourceLinked="0"/>
          <c:txPr>
            <a:bodyPr/>
            <a:lstStyle/>
            <a:p>
              <a:pPr>
                <a:defRPr b="1" i="0" strike="noStrike" sz="1100" u="none">
                  <a:solidFill>
                    <a:srgbClr val="1A1A1A"/>
                  </a:solidFill>
                  <a:latin typeface="Meiry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99999"/>
            </a:solidFill>
            <a:prstDash val="solid"/>
            <a:round/>
          </a:ln>
        </c:spPr>
        <c:txPr>
          <a:bodyPr/>
          <a:lstStyle/>
          <a:p>
            <a:pPr>
              <a:defRPr sz="1200" b="1" i="0" u="none" strike="noStrike">
                <a:solidFill>
                  <a:srgbClr val="1A1A1A"/>
                </a:solidFill>
                <a:latin typeface="Meiryo"/>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12700" cap="flat">
              <a:solidFill>
                <a:srgbClr val="D9D9D9"/>
              </a:solidFill>
              <a:prstDash val="dash"/>
              <a:round/>
            </a:ln>
          </c:spPr>
        </c:majorGridlines>
        <c:numFmt formatCode="General" sourceLinked="0"/>
        <c:majorTickMark val="out"/>
        <c:minorTickMark val="none"/>
        <c:tickLblPos val="nextTo"/>
        <c:spPr>
          <a:ln w="9525" cap="flat">
            <a:solidFill>
              <a:srgbClr val="999999"/>
            </a:solidFill>
            <a:prstDash val="solid"/>
            <a:round/>
          </a:ln>
        </c:spPr>
        <c:txPr>
          <a:bodyPr/>
          <a:lstStyle/>
          <a:p>
            <a:pPr>
              <a:defRPr sz="1000" b="0" i="0" u="none" strike="noStrike">
                <a:solidFill>
                  <a:srgbClr val="666666"/>
                </a:solidFill>
                <a:latin typeface="Meiryo"/>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症例数</c:v>
                </c:pt>
              </c:strCache>
            </c:strRef>
          </c:tx>
          <c:spPr>
            <a:solidFill>
              <a:srgbClr val="156082"/>
            </a:solidFill>
            <a:effectLst/>
          </c:spPr>
          <c:invertIfNegative val="0"/>
          <c:dLbls>
            <c:dLbl>
              <c:idx val="0"/>
              <c:tx>
                <c:rich>
                  <a:bodyPr wrap="square" lIns="0" tIns="0" rIns="0" bIns="0" anchor="ctr"/>
                  <a:lstStyle/>
                  <a:p>
                    <a:pPr algn="ctr">
                      <a:defRPr sz="1300"/>
                    </a:pPr>
                    <a:r>
                      <a:rPr lang="ja-JP" sz="1300" b="1">
                        <a:solidFill>
                          <a:srgbClr val="1A1A1A"/>
                        </a:solidFill>
                        <a:latin typeface="Meiryo"/>
                        <a:ea typeface="Meiryo"/>
                      </a:rPr>
                      <a:t>17例</a:t>
                    </a:r>
                  </a:p>
                  <a:p>
                    <a:pPr algn="ctr">
                      <a:defRPr sz="1200"/>
                    </a:pPr>
                    <a:r>
                      <a:rPr lang="ja-JP" sz="1200" b="0">
                        <a:solidFill>
                          <a:srgbClr val="1A1A1A"/>
                        </a:solidFill>
                        <a:latin typeface="Meiryo"/>
                        <a:ea typeface="Meiryo"/>
                      </a:rPr>
                      <a:t>(25.8%)</a:t>
                    </a:r>
                  </a:p>
                </c:rich>
              </c:tx>
              <c:dLblPos val="outEnd"/>
              <c:showLegendKey val="0"/>
              <c:showVal val="0"/>
              <c:showCatName val="0"/>
              <c:showSerName val="0"/>
              <c:showPercent val="0"/>
              <c:showBubbleSize val="0"/>
            </c:dLbl>
            <c:dLbl>
              <c:idx val="1"/>
              <c:tx>
                <c:rich>
                  <a:bodyPr wrap="square" lIns="0" tIns="0" rIns="0" bIns="0" anchor="ctr"/>
                  <a:lstStyle/>
                  <a:p>
                    <a:pPr algn="ctr">
                      <a:defRPr sz="1300"/>
                    </a:pPr>
                    <a:r>
                      <a:rPr lang="ja-JP" sz="1300" b="1">
                        <a:solidFill>
                          <a:srgbClr val="1A1A1A"/>
                        </a:solidFill>
                        <a:latin typeface="Meiryo"/>
                        <a:ea typeface="Meiryo"/>
                      </a:rPr>
                      <a:t>49例</a:t>
                    </a:r>
                  </a:p>
                  <a:p>
                    <a:pPr algn="ctr">
                      <a:defRPr sz="1200"/>
                    </a:pPr>
                    <a:r>
                      <a:rPr lang="ja-JP" sz="1200" b="0">
                        <a:solidFill>
                          <a:srgbClr val="1A1A1A"/>
                        </a:solidFill>
                        <a:latin typeface="Meiryo"/>
                        <a:ea typeface="Meiryo"/>
                      </a:rPr>
                      <a:t>(74.2%)</a:t>
                    </a:r>
                  </a:p>
                </c:rich>
              </c:tx>
              <c:dLblPos val="outEnd"/>
              <c:showLegendKey val="0"/>
              <c:showVal val="0"/>
              <c:showCatName val="0"/>
              <c:showSerName val="0"/>
              <c:showPercent val="0"/>
              <c:showBubbleSize val="0"/>
            </c:dLbl>
            <c:numFmt formatCode="#,##0" sourceLinked="0"/>
            <c:txPr>
              <a:bodyPr/>
              <a:lstStyle/>
              <a:p>
                <a:pPr>
                  <a:defRPr b="1" i="0" strike="noStrike" sz="1300" u="none">
                    <a:solidFill>
                      <a:srgbClr val="1A1A1A"/>
                    </a:solidFill>
                    <a:latin typeface="Meiryo"/>
                  </a:defRPr>
                </a:pPr>
              </a:p>
            </c:txPr>
            <c:showLegendKey val="0"/>
            <c:showVal val="1"/>
            <c:showCatName val="0"/>
            <c:showSerName val="0"/>
            <c:showPercent val="0"/>
            <c:showBubbleSize val="0"/>
            <c:showLeaderLines val="0"/>
          </c:dLbls>
          <c:dPt>
            <c:idx val="0"/>
            <c:invertIfNegative val="0"/>
            <c:bubble3D val="0"/>
            <c:spPr>
              <a:solidFill>
                <a:srgbClr val="156082"/>
              </a:solidFill>
              <a:effectLst/>
            </c:spPr>
          </c:dPt>
          <c:dPt>
            <c:idx val="1"/>
            <c:invertIfNegative val="0"/>
            <c:bubble3D val="0"/>
            <c:spPr>
              <a:solidFill>
                <a:srgbClr val="E97132"/>
              </a:solidFill>
              <a:effectLst/>
            </c:spPr>
          </c:dPt>
          <c:cat>
            <c:multiLvlStrRef>
              <c:f>Sheet1!$A$2:$A$3</c:f>
              <c:multiLvlStrCache>
                <c:ptCount val="2"/>
                <c:lvl>
                  <c:pt idx="0">
                    <c:v>改善訴えあり</c:v>
                  </c:pt>
                  <c:pt idx="1">
                    <c:v>記載なし</c:v>
                  </c:pt>
                </c:lvl>
              </c:multiLvlStrCache>
            </c:multiLvlStrRef>
          </c:cat>
          <c:val>
            <c:numRef>
              <c:f>Sheet1!$B$2:$B$3</c:f>
              <c:numCache>
                <c:formatCode>General</c:formatCode>
                <c:ptCount val="2"/>
                <c:pt idx="0">
                  <c:v>25.8</c:v>
                </c:pt>
                <c:pt idx="1">
                  <c:v>74.2</c:v>
                </c:pt>
              </c:numCache>
            </c:numRef>
          </c:val>
        </c:ser>
        <c:dLbls>
          <c:numFmt formatCode="#,##0" sourceLinked="0"/>
          <c:txPr>
            <a:bodyPr/>
            <a:lstStyle/>
            <a:p>
              <a:pPr>
                <a:defRPr b="1" i="0" strike="noStrike" sz="1300" u="none">
                  <a:solidFill>
                    <a:srgbClr val="1A1A1A"/>
                  </a:solidFill>
                  <a:latin typeface="Meiryo"/>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99999"/>
            </a:solidFill>
            <a:prstDash val="solid"/>
            <a:round/>
          </a:ln>
        </c:spPr>
        <c:txPr>
          <a:bodyPr/>
          <a:lstStyle/>
          <a:p>
            <a:pPr>
              <a:defRPr sz="1600" b="1" i="0" u="none" strike="noStrike">
                <a:solidFill>
                  <a:srgbClr val="1A1A1A"/>
                </a:solidFill>
                <a:latin typeface="Meiryo"/>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D9D9D9"/>
              </a:solidFill>
              <a:prstDash val="dash"/>
              <a:round/>
            </a:ln>
          </c:spPr>
        </c:majorGridlines>
        <c:numFmt formatCode="General" sourceLinked="0"/>
        <c:majorTickMark val="out"/>
        <c:minorTickMark val="none"/>
        <c:tickLblPos val="nextTo"/>
        <c:spPr>
          <a:ln w="9525" cap="flat">
            <a:solidFill>
              <a:srgbClr val="999999"/>
            </a:solidFill>
            <a:prstDash val="solid"/>
            <a:round/>
          </a:ln>
        </c:spPr>
        <c:txPr>
          <a:bodyPr/>
          <a:lstStyle/>
          <a:p>
            <a:pPr>
              <a:defRPr sz="1000" b="0" i="0" u="none" strike="noStrike">
                <a:solidFill>
                  <a:srgbClr val="666666"/>
                </a:solidFill>
                <a:latin typeface="Meiryo"/>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MMSE変化量</c:v>
                </c:pt>
              </c:strCache>
            </c:strRef>
          </c:tx>
          <c:spPr>
            <a:solidFill>
              <a:srgbClr val="156082"/>
            </a:solidFill>
            <a:effectLst/>
          </c:spPr>
          <c:invertIfNegative val="0"/>
          <c:dLbls>
            <c:numFmt formatCode="+0.00;-0.00;0.00" sourceLinked="0"/>
            <c:txPr>
              <a:bodyPr/>
              <a:lstStyle/>
              <a:p>
                <a:pPr>
                  <a:defRPr b="1" i="0" strike="noStrike" sz="1300" u="none">
                    <a:solidFill>
                      <a:srgbClr val="1A1A1A"/>
                    </a:solidFill>
                    <a:latin typeface="Meiryo"/>
                  </a:defRPr>
                </a:pPr>
              </a:p>
            </c:txPr>
            <c:showLegendKey val="0"/>
            <c:showVal val="1"/>
            <c:showCatName val="0"/>
            <c:showSerName val="0"/>
            <c:showPercent val="0"/>
            <c:showBubbleSize val="0"/>
            <c:showLeaderLines val="0"/>
          </c:dLbls>
          <c:dPt>
            <c:idx val="0"/>
            <c:invertIfNegative val="0"/>
            <c:bubble3D val="0"/>
            <c:spPr>
              <a:solidFill>
                <a:srgbClr val="156082"/>
              </a:solidFill>
              <a:effectLst/>
            </c:spPr>
          </c:dPt>
          <c:dPt>
            <c:idx val="1"/>
            <c:invertIfNegative val="0"/>
            <c:bubble3D val="0"/>
            <c:spPr>
              <a:solidFill>
                <a:srgbClr val="E97132"/>
              </a:solidFill>
              <a:effectLst/>
            </c:spPr>
          </c:dPt>
          <c:cat>
            <c:multiLvlStrRef>
              <c:f>Sheet1!$A$2:$A$3</c:f>
              <c:multiLvlStrCache>
                <c:ptCount val="2"/>
                <c:lvl>
                  <c:pt idx="0">
                    <c:v>改善訴えあり
(n=9)</c:v>
                  </c:pt>
                  <c:pt idx="1">
                    <c:v>改善訴えなし
(n=24)</c:v>
                  </c:pt>
                </c:lvl>
              </c:multiLvlStrCache>
            </c:multiLvlStrRef>
          </c:cat>
          <c:val>
            <c:numRef>
              <c:f>Sheet1!$B$2:$B$3</c:f>
              <c:numCache>
                <c:formatCode>General</c:formatCode>
                <c:ptCount val="2"/>
                <c:pt idx="0">
                  <c:v>0.22</c:v>
                </c:pt>
                <c:pt idx="1">
                  <c:v>-1.79</c:v>
                </c:pt>
              </c:numCache>
            </c:numRef>
          </c:val>
        </c:ser>
        <c:dLbls>
          <c:numFmt formatCode="+0.00;-0.00;0.00" sourceLinked="0"/>
          <c:txPr>
            <a:bodyPr/>
            <a:lstStyle/>
            <a:p>
              <a:pPr>
                <a:defRPr b="1" i="0" strike="noStrike" sz="1300" u="none">
                  <a:solidFill>
                    <a:srgbClr val="1A1A1A"/>
                  </a:solidFill>
                  <a:latin typeface="Meiryo"/>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99999"/>
            </a:solidFill>
            <a:prstDash val="solid"/>
            <a:round/>
          </a:ln>
        </c:spPr>
        <c:txPr>
          <a:bodyPr/>
          <a:lstStyle/>
          <a:p>
            <a:pPr>
              <a:defRPr sz="1200" b="1" i="0" u="none" strike="noStrike">
                <a:solidFill>
                  <a:srgbClr val="1A1A1A"/>
                </a:solidFill>
                <a:latin typeface="Meiryo"/>
              </a:defRPr>
            </a:pPr>
            <a:endParaRPr lang="en-US"/>
          </a:p>
        </c:txPr>
        <c:crossAx val="2094734552"/>
        <c:crosses val="autoZero"/>
        <c:auto val="1"/>
        <c:lblAlgn val="ctr"/>
        <c:noMultiLvlLbl val="1"/>
      </c:catAx>
      <c:valAx>
        <c:axId val="2094734552"/>
        <c:scaling>
          <c:orientation val="minMax"/>
          <c:max val="1"/>
          <c:min val="-2.5"/>
        </c:scaling>
        <c:delete val="0"/>
        <c:axPos val="l"/>
        <c:majorGridlines>
          <c:spPr>
            <a:ln w="12700" cap="flat">
              <a:solidFill>
                <a:srgbClr val="D9D9D9"/>
              </a:solidFill>
              <a:prstDash val="dash"/>
              <a:round/>
            </a:ln>
          </c:spPr>
        </c:majorGridlines>
        <c:numFmt formatCode="General" sourceLinked="0"/>
        <c:majorTickMark val="out"/>
        <c:minorTickMark val="none"/>
        <c:tickLblPos val="nextTo"/>
        <c:spPr>
          <a:ln w="9525" cap="flat">
            <a:solidFill>
              <a:srgbClr val="999999"/>
            </a:solidFill>
            <a:prstDash val="solid"/>
            <a:round/>
          </a:ln>
        </c:spPr>
        <c:txPr>
          <a:bodyPr/>
          <a:lstStyle/>
          <a:p>
            <a:pPr>
              <a:defRPr sz="1000" b="0" i="0" u="none" strike="noStrike">
                <a:solidFill>
                  <a:srgbClr val="666666"/>
                </a:solidFill>
                <a:latin typeface="Meiryo"/>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改善訴えあり</c:v>
                </c:pt>
              </c:strCache>
            </c:strRef>
          </c:tx>
          <c:spPr>
            <a:solidFill>
              <a:srgbClr val="156082"/>
            </a:solidFill>
            <a:ln w="28575" cap="flat">
              <a:solidFill>
                <a:srgbClr val="156082"/>
              </a:solidFill>
              <a:prstDash val="solid"/>
              <a:round/>
            </a:ln>
            <a:effectLst/>
          </c:spPr>
          <c:invertIfNegative val="0"/>
          <c:dLbls>
            <c:dLbl>
              <c:idx val="0"/>
              <c:tx>
                <c:rich>
                  <a:bodyPr wrap="square" lIns="0" tIns="0" rIns="0" bIns="0" anchor="ctr"/>
                  <a:lstStyle/>
                  <a:p>
                    <a:pPr algn="ctr">
                      <a:defRPr sz="1000"/>
                    </a:pPr>
                    <a:r>
                      <a:rPr lang="ja-JP" sz="1000" b="1">
                        <a:solidFill>
                          <a:srgbClr val="1A1A1A"/>
                        </a:solidFill>
                        <a:latin typeface="Meiryo"/>
                        <a:ea typeface="Meiryo"/>
                      </a:rPr>
                      <a:t>+1.38</a:t>
                    </a:r>
                  </a:p>
                  <a:p>
                    <a:pPr algn="ctr">
                      <a:defRPr sz="900"/>
                    </a:pPr>
                    <a:r>
                      <a:rPr lang="ja-JP" sz="900" b="0">
                        <a:solidFill>
                          <a:srgbClr val="1A1A1A"/>
                        </a:solidFill>
                        <a:latin typeface="Meiryo"/>
                        <a:ea typeface="Meiryo"/>
                      </a:rPr>
                      <a:t>(n=16)</a:t>
                    </a:r>
                  </a:p>
                </c:rich>
              </c:tx>
              <c:dLblPos val="t"/>
              <c:showLegendKey val="0"/>
              <c:showVal val="0"/>
              <c:showCatName val="0"/>
              <c:showSerName val="0"/>
              <c:showPercent val="0"/>
              <c:showBubbleSize val="0"/>
            </c:dLbl>
            <c:dLbl>
              <c:idx val="1"/>
              <c:tx>
                <c:rich>
                  <a:bodyPr wrap="square" lIns="0" tIns="0" rIns="0" bIns="0" anchor="ctr"/>
                  <a:lstStyle/>
                  <a:p>
                    <a:pPr algn="ctr">
                      <a:defRPr sz="1000"/>
                    </a:pPr>
                    <a:r>
                      <a:rPr lang="ja-JP" sz="1000" b="1">
                        <a:solidFill>
                          <a:srgbClr val="1A1A1A"/>
                        </a:solidFill>
                        <a:latin typeface="Meiryo"/>
                        <a:ea typeface="Meiryo"/>
                      </a:rPr>
                      <a:t>+0.33</a:t>
                    </a:r>
                  </a:p>
                  <a:p>
                    <a:pPr algn="ctr">
                      <a:defRPr sz="900"/>
                    </a:pPr>
                    <a:r>
                      <a:rPr lang="ja-JP" sz="900" b="0">
                        <a:solidFill>
                          <a:srgbClr val="1A1A1A"/>
                        </a:solidFill>
                        <a:latin typeface="Meiryo"/>
                        <a:ea typeface="Meiryo"/>
                      </a:rPr>
                      <a:t>(n=12)</a:t>
                    </a:r>
                  </a:p>
                </c:rich>
              </c:tx>
              <c:dLblPos val="t"/>
              <c:showLegendKey val="0"/>
              <c:showVal val="0"/>
              <c:showCatName val="0"/>
              <c:showSerName val="0"/>
              <c:showPercent val="0"/>
              <c:showBubbleSize val="0"/>
            </c:dLbl>
            <c:dLbl>
              <c:idx val="2"/>
              <c:tx>
                <c:rich>
                  <a:bodyPr wrap="square" lIns="0" tIns="0" rIns="0" bIns="0" anchor="ctr"/>
                  <a:lstStyle/>
                  <a:p>
                    <a:pPr algn="ctr">
                      <a:defRPr sz="1000"/>
                    </a:pPr>
                    <a:r>
                      <a:rPr lang="ja-JP" sz="1000" b="1">
                        <a:solidFill>
                          <a:srgbClr val="1A1A1A"/>
                        </a:solidFill>
                        <a:latin typeface="Meiryo"/>
                        <a:ea typeface="Meiryo"/>
                      </a:rPr>
                      <a:t>+0.22</a:t>
                    </a:r>
                  </a:p>
                  <a:p>
                    <a:pPr algn="ctr">
                      <a:defRPr sz="900"/>
                    </a:pPr>
                    <a:r>
                      <a:rPr lang="ja-JP" sz="900" b="0">
                        <a:solidFill>
                          <a:srgbClr val="1A1A1A"/>
                        </a:solidFill>
                        <a:latin typeface="Meiryo"/>
                        <a:ea typeface="Meiryo"/>
                      </a:rPr>
                      <a:t>(n=9)</a:t>
                    </a:r>
                  </a:p>
                </c:rich>
              </c:tx>
              <c:dLblPos val="t"/>
              <c:showLegendKey val="0"/>
              <c:showVal val="0"/>
              <c:showCatName val="0"/>
              <c:showSerName val="0"/>
              <c:showPercent val="0"/>
              <c:showBubbleSize val="0"/>
            </c:dLbl>
            <c:dLbl>
              <c:idx val="3"/>
              <c:tx>
                <c:rich>
                  <a:bodyPr wrap="square" lIns="0" tIns="0" rIns="0" bIns="0" anchor="ctr"/>
                  <a:lstStyle/>
                  <a:p>
                    <a:pPr algn="ctr">
                      <a:defRPr sz="1000"/>
                    </a:pPr>
                    <a:r>
                      <a:rPr lang="ja-JP" sz="1000" b="1">
                        <a:solidFill>
                          <a:srgbClr val="1A1A1A"/>
                        </a:solidFill>
                        <a:latin typeface="Meiryo"/>
                        <a:ea typeface="Meiryo"/>
                      </a:rPr>
                      <a:t>-0.17</a:t>
                    </a:r>
                  </a:p>
                  <a:p>
                    <a:pPr algn="ctr">
                      <a:defRPr sz="900"/>
                    </a:pPr>
                    <a:r>
                      <a:rPr lang="ja-JP" sz="900" b="0">
                        <a:solidFill>
                          <a:srgbClr val="1A1A1A"/>
                        </a:solidFill>
                        <a:latin typeface="Meiryo"/>
                        <a:ea typeface="Meiryo"/>
                      </a:rPr>
                      <a:t>(n=6)</a:t>
                    </a:r>
                  </a:p>
                </c:rich>
              </c:tx>
              <c:dLblPos val="t"/>
              <c:showLegendKey val="0"/>
              <c:showVal val="0"/>
              <c:showCatName val="0"/>
              <c:showSerName val="0"/>
              <c:showPercent val="0"/>
              <c:showBubbleSize val="0"/>
            </c:dLbl>
            <c:numFmt formatCode="#,##0" sourceLinked="0"/>
            <c:txPr>
              <a:bodyPr/>
              <a:lstStyle/>
              <a:p>
                <a:pPr>
                  <a:defRPr b="1" i="0" strike="noStrike" sz="1000" u="none">
                    <a:solidFill>
                      <a:srgbClr val="1A1A1A"/>
                    </a:solidFill>
                    <a:latin typeface="Meiryo"/>
                  </a:defRPr>
                </a:pPr>
              </a:p>
            </c:txPr>
            <c:dLblPos val="t"/>
            <c:showLegendKey val="0"/>
            <c:showVal val="1"/>
            <c:showCatName val="0"/>
            <c:showSerName val="0"/>
            <c:showPercent val="0"/>
            <c:showBubbleSize val="0"/>
            <c:showLeaderLines val="0"/>
          </c:dLbls>
          <c:marker>
            <c:symbol val="circle"/>
            <c:size val="6"/>
            <c:spPr>
              <a:solidFill>
                <a:srgbClr val="156082"/>
              </a:solidFill>
              <a:ln w="9525" cap="flat">
                <a:solidFill>
                  <a:srgbClr val="156082"/>
                </a:solidFill>
                <a:prstDash val="solid"/>
                <a:round/>
              </a:ln>
              <a:effectLst/>
            </c:spPr>
          </c:marker>
          <c:cat>
            <c:multiLvlStrRef>
              <c:f>Sheet1!$A$2:$A$5</c:f>
              <c:multiLvlStrCache>
                <c:ptCount val="4"/>
                <c:lvl>
                  <c:pt idx="0">
                    <c:v>6か月</c:v>
                  </c:pt>
                  <c:pt idx="1">
                    <c:v>12か月</c:v>
                  </c:pt>
                  <c:pt idx="2">
                    <c:v>18か月</c:v>
                  </c:pt>
                  <c:pt idx="3">
                    <c:v>24か月</c:v>
                  </c:pt>
                </c:lvl>
              </c:multiLvlStrCache>
            </c:multiLvlStrRef>
          </c:cat>
          <c:val>
            <c:numRef>
              <c:f>Sheet1!$B$2:$B$5</c:f>
              <c:numCache>
                <c:formatCode>General</c:formatCode>
                <c:ptCount val="4"/>
                <c:pt idx="0">
                  <c:v>1.38</c:v>
                </c:pt>
                <c:pt idx="1">
                  <c:v>0.33</c:v>
                </c:pt>
                <c:pt idx="2">
                  <c:v>0.22</c:v>
                </c:pt>
                <c:pt idx="3">
                  <c:v>-0.17</c:v>
                </c:pt>
              </c:numCache>
            </c:numRef>
          </c:val>
          <c:smooth val="0"/>
        </c:ser>
        <c:ser>
          <c:idx val="1"/>
          <c:order val="1"/>
          <c:tx>
            <c:strRef>
              <c:f>Sheet1!$C$1</c:f>
              <c:strCache>
                <c:ptCount val="1"/>
                <c:pt idx="0">
                  <c:v>改善訴えなし</c:v>
                </c:pt>
              </c:strCache>
            </c:strRef>
          </c:tx>
          <c:spPr>
            <a:solidFill>
              <a:srgbClr val="E97132"/>
            </a:solidFill>
            <a:ln w="28575" cap="flat">
              <a:solidFill>
                <a:srgbClr val="E97132"/>
              </a:solidFill>
              <a:prstDash val="solid"/>
              <a:round/>
            </a:ln>
            <a:effectLst/>
          </c:spPr>
          <c:invertIfNegative val="0"/>
          <c:dLbls>
            <c:dLbl>
              <c:idx val="0"/>
              <c:tx>
                <c:rich>
                  <a:bodyPr wrap="square" lIns="0" tIns="0" rIns="0" bIns="0" anchor="ctr"/>
                  <a:lstStyle/>
                  <a:p>
                    <a:pPr algn="ctr">
                      <a:defRPr sz="1000"/>
                    </a:pPr>
                    <a:r>
                      <a:rPr lang="ja-JP" sz="1000" b="1">
                        <a:solidFill>
                          <a:srgbClr val="1A1A1A"/>
                        </a:solidFill>
                        <a:latin typeface="Meiryo"/>
                        <a:ea typeface="Meiryo"/>
                      </a:rPr>
                      <a:t>-0.49</a:t>
                    </a:r>
                  </a:p>
                  <a:p>
                    <a:pPr algn="ctr">
                      <a:defRPr sz="900"/>
                    </a:pPr>
                    <a:r>
                      <a:rPr lang="ja-JP" sz="900" b="0">
                        <a:solidFill>
                          <a:srgbClr val="1A1A1A"/>
                        </a:solidFill>
                        <a:latin typeface="Meiryo"/>
                        <a:ea typeface="Meiryo"/>
                      </a:rPr>
                      <a:t>(n=45)</a:t>
                    </a:r>
                  </a:p>
                </c:rich>
              </c:tx>
              <c:dLblPos val="t"/>
              <c:showLegendKey val="0"/>
              <c:showVal val="0"/>
              <c:showCatName val="0"/>
              <c:showSerName val="0"/>
              <c:showPercent val="0"/>
              <c:showBubbleSize val="0"/>
            </c:dLbl>
            <c:dLbl>
              <c:idx val="1"/>
              <c:tx>
                <c:rich>
                  <a:bodyPr wrap="square" lIns="0" tIns="0" rIns="0" bIns="0" anchor="ctr"/>
                  <a:lstStyle/>
                  <a:p>
                    <a:pPr algn="ctr">
                      <a:defRPr sz="1000"/>
                    </a:pPr>
                    <a:r>
                      <a:rPr lang="ja-JP" sz="1000" b="1">
                        <a:solidFill>
                          <a:srgbClr val="1A1A1A"/>
                        </a:solidFill>
                        <a:latin typeface="Meiryo"/>
                        <a:ea typeface="Meiryo"/>
                      </a:rPr>
                      <a:t>-0.57</a:t>
                    </a:r>
                  </a:p>
                  <a:p>
                    <a:pPr algn="ctr">
                      <a:defRPr sz="900"/>
                    </a:pPr>
                    <a:r>
                      <a:rPr lang="ja-JP" sz="900" b="0">
                        <a:solidFill>
                          <a:srgbClr val="1A1A1A"/>
                        </a:solidFill>
                        <a:latin typeface="Meiryo"/>
                        <a:ea typeface="Meiryo"/>
                      </a:rPr>
                      <a:t>(n=37)</a:t>
                    </a:r>
                  </a:p>
                </c:rich>
              </c:tx>
              <c:dLblPos val="t"/>
              <c:showLegendKey val="0"/>
              <c:showVal val="0"/>
              <c:showCatName val="0"/>
              <c:showSerName val="0"/>
              <c:showPercent val="0"/>
              <c:showBubbleSize val="0"/>
            </c:dLbl>
            <c:dLbl>
              <c:idx val="2"/>
              <c:tx>
                <c:rich>
                  <a:bodyPr wrap="square" lIns="0" tIns="0" rIns="0" bIns="0" anchor="ctr"/>
                  <a:lstStyle/>
                  <a:p>
                    <a:pPr algn="ctr">
                      <a:defRPr sz="1000"/>
                    </a:pPr>
                    <a:r>
                      <a:rPr lang="ja-JP" sz="1000" b="1">
                        <a:solidFill>
                          <a:srgbClr val="1A1A1A"/>
                        </a:solidFill>
                        <a:latin typeface="Meiryo"/>
                        <a:ea typeface="Meiryo"/>
                      </a:rPr>
                      <a:t>-1.79</a:t>
                    </a:r>
                  </a:p>
                  <a:p>
                    <a:pPr algn="ctr">
                      <a:defRPr sz="900"/>
                    </a:pPr>
                    <a:r>
                      <a:rPr lang="ja-JP" sz="900" b="0">
                        <a:solidFill>
                          <a:srgbClr val="1A1A1A"/>
                        </a:solidFill>
                        <a:latin typeface="Meiryo"/>
                        <a:ea typeface="Meiryo"/>
                      </a:rPr>
                      <a:t>(n=24)</a:t>
                    </a:r>
                  </a:p>
                </c:rich>
              </c:tx>
              <c:dLblPos val="t"/>
              <c:showLegendKey val="0"/>
              <c:showVal val="0"/>
              <c:showCatName val="0"/>
              <c:showSerName val="0"/>
              <c:showPercent val="0"/>
              <c:showBubbleSize val="0"/>
            </c:dLbl>
            <c:dLbl>
              <c:idx val="3"/>
              <c:tx>
                <c:rich>
                  <a:bodyPr wrap="square" lIns="0" tIns="0" rIns="0" bIns="0" anchor="ctr"/>
                  <a:lstStyle/>
                  <a:p>
                    <a:pPr algn="ctr">
                      <a:defRPr sz="1000"/>
                    </a:pPr>
                    <a:r>
                      <a:rPr lang="ja-JP" sz="1000" b="1">
                        <a:solidFill>
                          <a:srgbClr val="1A1A1A"/>
                        </a:solidFill>
                        <a:latin typeface="Meiryo"/>
                        <a:ea typeface="Meiryo"/>
                      </a:rPr>
                      <a:t>-2.70</a:t>
                    </a:r>
                  </a:p>
                  <a:p>
                    <a:pPr algn="ctr">
                      <a:defRPr sz="900"/>
                    </a:pPr>
                    <a:r>
                      <a:rPr lang="ja-JP" sz="900" b="0">
                        <a:solidFill>
                          <a:srgbClr val="1A1A1A"/>
                        </a:solidFill>
                        <a:latin typeface="Meiryo"/>
                        <a:ea typeface="Meiryo"/>
                      </a:rPr>
                      <a:t>(n=10)</a:t>
                    </a:r>
                  </a:p>
                </c:rich>
              </c:tx>
              <c:dLblPos val="t"/>
              <c:showLegendKey val="0"/>
              <c:showVal val="0"/>
              <c:showCatName val="0"/>
              <c:showSerName val="0"/>
              <c:showPercent val="0"/>
              <c:showBubbleSize val="0"/>
            </c:dLbl>
            <c:numFmt formatCode="#,##0" sourceLinked="0"/>
            <c:txPr>
              <a:bodyPr/>
              <a:lstStyle/>
              <a:p>
                <a:pPr>
                  <a:defRPr b="1" i="0" strike="noStrike" sz="1000" u="none">
                    <a:solidFill>
                      <a:srgbClr val="1A1A1A"/>
                    </a:solidFill>
                    <a:latin typeface="Meiryo"/>
                  </a:defRPr>
                </a:pPr>
              </a:p>
            </c:txPr>
            <c:dLblPos val="t"/>
            <c:showLegendKey val="0"/>
            <c:showVal val="1"/>
            <c:showCatName val="0"/>
            <c:showSerName val="0"/>
            <c:showPercent val="0"/>
            <c:showBubbleSize val="0"/>
            <c:showLeaderLines val="0"/>
          </c:dLbls>
          <c:marker>
            <c:symbol val="circle"/>
            <c:size val="6"/>
            <c:spPr>
              <a:solidFill>
                <a:srgbClr val="E97132"/>
              </a:solidFill>
              <a:ln w="9525" cap="flat">
                <a:solidFill>
                  <a:srgbClr val="E97132"/>
                </a:solidFill>
                <a:prstDash val="solid"/>
                <a:round/>
              </a:ln>
              <a:effectLst/>
            </c:spPr>
          </c:marker>
          <c:cat>
            <c:multiLvlStrRef>
              <c:f>Sheet1!$A$2:$A$5</c:f>
              <c:multiLvlStrCache>
                <c:ptCount val="4"/>
                <c:lvl>
                  <c:pt idx="0">
                    <c:v>6か月</c:v>
                  </c:pt>
                  <c:pt idx="1">
                    <c:v>12か月</c:v>
                  </c:pt>
                  <c:pt idx="2">
                    <c:v>18か月</c:v>
                  </c:pt>
                  <c:pt idx="3">
                    <c:v>24か月</c:v>
                  </c:pt>
                </c:lvl>
              </c:multiLvlStrCache>
            </c:multiLvlStrRef>
          </c:cat>
          <c:val>
            <c:numRef>
              <c:f>Sheet1!$C$2:$C$5</c:f>
              <c:numCache>
                <c:formatCode>General</c:formatCode>
                <c:ptCount val="4"/>
                <c:pt idx="0">
                  <c:v>-0.49</c:v>
                </c:pt>
                <c:pt idx="1">
                  <c:v>-0.57</c:v>
                </c:pt>
                <c:pt idx="2">
                  <c:v>-1.79</c:v>
                </c:pt>
                <c:pt idx="3">
                  <c:v>-2.7</c:v>
                </c:pt>
              </c:numCache>
            </c:numRef>
          </c:val>
          <c:smooth val="0"/>
        </c:ser>
        <c:dLbls>
          <c:numFmt formatCode="#,##0" sourceLinked="0"/>
          <c:txPr>
            <a:bodyPr/>
            <a:lstStyle/>
            <a:p>
              <a:pPr>
                <a:defRPr b="1" i="0" strike="noStrike" sz="1000" u="none">
                  <a:solidFill>
                    <a:srgbClr val="1A1A1A"/>
                  </a:solidFill>
                  <a:latin typeface="Meiryo"/>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999999"/>
            </a:solidFill>
            <a:prstDash val="solid"/>
            <a:round/>
          </a:ln>
        </c:spPr>
        <c:txPr>
          <a:bodyPr/>
          <a:lstStyle/>
          <a:p>
            <a:pPr>
              <a:defRPr sz="1200" b="1" i="0" u="none" strike="noStrike">
                <a:solidFill>
                  <a:srgbClr val="1A1A1A"/>
                </a:solidFill>
                <a:latin typeface="Meiryo"/>
              </a:defRPr>
            </a:pPr>
            <a:endParaRPr lang="en-US"/>
          </a:p>
        </c:txPr>
        <c:crossAx val="2094734552"/>
        <c:crosses val="autoZero"/>
        <c:auto val="1"/>
        <c:lblAlgn val="ctr"/>
        <c:noMultiLvlLbl val="1"/>
      </c:catAx>
      <c:valAx>
        <c:axId val="2094734552"/>
        <c:scaling>
          <c:orientation val="minMax"/>
          <c:max val="2"/>
          <c:min val="-3"/>
        </c:scaling>
        <c:delete val="0"/>
        <c:axPos val="l"/>
        <c:majorGridlines>
          <c:spPr>
            <a:ln w="12700" cap="flat">
              <a:solidFill>
                <a:srgbClr val="D9D9D9"/>
              </a:solidFill>
              <a:prstDash val="dash"/>
              <a:round/>
            </a:ln>
          </c:spPr>
        </c:majorGridlines>
        <c:numFmt formatCode="General" sourceLinked="0"/>
        <c:majorTickMark val="out"/>
        <c:minorTickMark val="none"/>
        <c:tickLblPos val="nextTo"/>
        <c:spPr>
          <a:ln w="9525" cap="flat">
            <a:solidFill>
              <a:srgbClr val="999999"/>
            </a:solidFill>
            <a:prstDash val="solid"/>
            <a:round/>
          </a:ln>
        </c:spPr>
        <c:txPr>
          <a:bodyPr/>
          <a:lstStyle/>
          <a:p>
            <a:pPr>
              <a:defRPr sz="1000" b="0" i="0" u="none" strike="noStrike">
                <a:solidFill>
                  <a:srgbClr val="666666"/>
                </a:solidFill>
                <a:latin typeface="Meiryo"/>
              </a:defRPr>
            </a:pPr>
            <a:endParaRPr lang="en-US"/>
          </a:p>
        </c:txPr>
        <c:crossAx val="2094734554"/>
        <c:crosses val="autoZero"/>
        <c:crossBetween val="between"/>
        <c:majorUnit val="1"/>
      </c:valAx>
      <c:spPr>
        <a:noFill/>
        <a:ln>
          <a:noFill/>
        </a:ln>
        <a:effectLst/>
      </c:spPr>
    </c:plotArea>
    <c:legend>
      <c:legendPos val="b"/>
      <c:overlay val="0"/>
      <c:txPr>
        <a:bodyPr/>
        <a:lstStyle/>
        <a:p>
          <a:pPr>
            <a:defRPr sz="1200">
              <a:solidFill>
                <a:srgbClr val="333333"/>
              </a:solidFill>
              <a:latin typeface="Meiryo"/>
              <a:cs typeface="Meiryo"/>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7315200" cy="566928"/>
          </a:xfrm>
          <a:prstGeom prst="rect">
            <a:avLst/>
          </a:prstGeom>
          <a:noFill/>
          <a:ln/>
        </p:spPr>
        <p:txBody>
          <a:bodyPr wrap="square" lIns="0" tIns="0" rIns="0" bIns="0" rtlCol="0" anchor="t"/>
          <a:lstStyle/>
          <a:p>
            <a:pPr algn="l" indent="0" marL="0">
              <a:buNone/>
            </a:pPr>
            <a:r>
              <a:rPr lang="en-US" sz="2600" b="1" dirty="0">
                <a:solidFill>
                  <a:srgbClr val="1A1A1A"/>
                </a:solidFill>
                <a:latin typeface="Meiryo" pitchFamily="34" charset="0"/>
                <a:ea typeface="Meiryo" pitchFamily="34" charset="-122"/>
                <a:cs typeface="Meiryo" pitchFamily="34" charset="-120"/>
              </a:rPr>
              <a:t>遅延再生低下例の割合：0か月から18か月の変化</a:t>
            </a:r>
            <a:endParaRPr lang="en-US" sz="2600" dirty="0"/>
          </a:p>
        </p:txBody>
      </p:sp>
      <p:sp>
        <p:nvSpPr>
          <p:cNvPr id="3" name="Text 1"/>
          <p:cNvSpPr/>
          <p:nvPr/>
        </p:nvSpPr>
        <p:spPr>
          <a:xfrm>
            <a:off x="457200" y="868680"/>
            <a:ext cx="7315200" cy="320040"/>
          </a:xfrm>
          <a:prstGeom prst="rect">
            <a:avLst/>
          </a:prstGeom>
          <a:noFill/>
          <a:ln/>
        </p:spPr>
        <p:txBody>
          <a:bodyPr wrap="square" lIns="0" tIns="0" rIns="0" bIns="0" rtlCol="0" anchor="t"/>
          <a:lstStyle/>
          <a:p>
            <a:pPr algn="l" indent="0" marL="0">
              <a:buNone/>
            </a:pPr>
            <a:r>
              <a:rPr lang="en-US" sz="1300" dirty="0">
                <a:solidFill>
                  <a:srgbClr val="666666"/>
                </a:solidFill>
                <a:latin typeface="Meiryo" pitchFamily="34" charset="0"/>
                <a:ea typeface="Meiryo" pitchFamily="34" charset="-122"/>
                <a:cs typeface="Meiryo" pitchFamily="34" charset="-120"/>
              </a:rPr>
              <a:t>対象：0か月・18か月の両時点で評価できた33例</a:t>
            </a:r>
            <a:endParaRPr lang="en-US" sz="1300" dirty="0"/>
          </a:p>
        </p:txBody>
      </p:sp>
      <p:sp>
        <p:nvSpPr>
          <p:cNvPr id="4" name="Shape 2"/>
          <p:cNvSpPr/>
          <p:nvPr/>
        </p:nvSpPr>
        <p:spPr>
          <a:xfrm>
            <a:off x="8442655" y="292608"/>
            <a:ext cx="3291840" cy="932688"/>
          </a:xfrm>
          <a:prstGeom prst="roundRect">
            <a:avLst>
              <a:gd name="adj" fmla="val 6863"/>
            </a:avLst>
          </a:prstGeom>
          <a:solidFill>
            <a:srgbClr val="FFFFFF"/>
          </a:solidFill>
          <a:ln w="15875">
            <a:solidFill>
              <a:srgbClr val="156082"/>
            </a:solidFill>
            <a:prstDash val="solid"/>
          </a:ln>
        </p:spPr>
      </p:sp>
      <p:sp>
        <p:nvSpPr>
          <p:cNvPr id="5" name="Text 3"/>
          <p:cNvSpPr/>
          <p:nvPr/>
        </p:nvSpPr>
        <p:spPr>
          <a:xfrm>
            <a:off x="8552383" y="365760"/>
            <a:ext cx="3072384" cy="786384"/>
          </a:xfrm>
          <a:prstGeom prst="rect">
            <a:avLst/>
          </a:prstGeom>
          <a:noFill/>
          <a:ln/>
        </p:spPr>
        <p:txBody>
          <a:bodyPr wrap="square" lIns="0" tIns="0" rIns="0" bIns="0" rtlCol="0" anchor="ctr"/>
          <a:lstStyle/>
          <a:p>
            <a:pPr algn="ctr" indent="0" marL="0">
              <a:lnSpc>
                <a:spcPct val="115000"/>
              </a:lnSpc>
              <a:buNone/>
            </a:pPr>
            <a:r>
              <a:rPr lang="en-US" sz="1300" b="1" dirty="0">
                <a:solidFill>
                  <a:srgbClr val="333333"/>
                </a:solidFill>
                <a:latin typeface="Meiryo" pitchFamily="34" charset="0"/>
                <a:ea typeface="Meiryo" pitchFamily="34" charset="-122"/>
                <a:cs typeface="Meiryo" pitchFamily="34" charset="-120"/>
              </a:rPr>
              <a:t>McNemar正確検定 p = 0.031</a:t>
            </a:r>
            <a:endParaRPr lang="en-US" sz="1300" dirty="0"/>
          </a:p>
          <a:p>
            <a:pPr algn="ctr" indent="0" marL="0">
              <a:lnSpc>
                <a:spcPct val="115000"/>
              </a:lnSpc>
              <a:buNone/>
            </a:pPr>
            <a:r>
              <a:rPr lang="en-US" sz="1200" dirty="0">
                <a:solidFill>
                  <a:srgbClr val="333333"/>
                </a:solidFill>
                <a:latin typeface="Meiryo" pitchFamily="34" charset="0"/>
                <a:ea typeface="Meiryo" pitchFamily="34" charset="-122"/>
                <a:cs typeface="Meiryo" pitchFamily="34" charset="-120"/>
              </a:rPr>
              <a:t>正常→低下：6例、低下→正常：0例</a:t>
            </a:r>
            <a:endParaRPr lang="en-US" sz="1300" dirty="0"/>
          </a:p>
        </p:txBody>
      </p:sp>
      <p:graphicFrame>
        <p:nvGraphicFramePr>
          <p:cNvPr id="6" name="Chart 0" descr=""/>
          <p:cNvGraphicFramePr/>
          <p:nvPr/>
        </p:nvGraphicFramePr>
        <p:xfrm>
          <a:off x="822960" y="1536192"/>
          <a:ext cx="10515600" cy="45720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84048"/>
            <a:ext cx="11277295" cy="457200"/>
          </a:xfrm>
          <a:prstGeom prst="rect">
            <a:avLst/>
          </a:prstGeom>
          <a:noFill/>
          <a:ln/>
        </p:spPr>
        <p:txBody>
          <a:bodyPr wrap="square" lIns="0" tIns="0" rIns="0" bIns="0" rtlCol="0" anchor="ctr"/>
          <a:lstStyle/>
          <a:p>
            <a:pPr algn="ctr" indent="0" marL="0">
              <a:buNone/>
            </a:pPr>
            <a:r>
              <a:rPr lang="en-US" sz="2200" b="1" dirty="0">
                <a:solidFill>
                  <a:srgbClr val="000000"/>
                </a:solidFill>
                <a:latin typeface="Cambria" pitchFamily="34" charset="0"/>
                <a:ea typeface="Cambria" pitchFamily="34" charset="-122"/>
                <a:cs typeface="Cambria" pitchFamily="34" charset="-120"/>
              </a:rPr>
              <a:t>Table 1. Baseline characteristics at 0 months</a:t>
            </a:r>
            <a:endParaRPr lang="en-US" sz="2200" dirty="0"/>
          </a:p>
        </p:txBody>
      </p:sp>
      <p:sp>
        <p:nvSpPr>
          <p:cNvPr id="3" name="Text 1"/>
          <p:cNvSpPr/>
          <p:nvPr/>
        </p:nvSpPr>
        <p:spPr>
          <a:xfrm>
            <a:off x="457200" y="841248"/>
            <a:ext cx="11277295" cy="365760"/>
          </a:xfrm>
          <a:prstGeom prst="rect">
            <a:avLst/>
          </a:prstGeom>
          <a:noFill/>
          <a:ln/>
        </p:spPr>
        <p:txBody>
          <a:bodyPr wrap="square" lIns="0" tIns="0" rIns="0" bIns="0" rtlCol="0" anchor="ctr"/>
          <a:lstStyle/>
          <a:p>
            <a:pPr algn="ctr" indent="0" marL="0">
              <a:buNone/>
            </a:pPr>
            <a:r>
              <a:rPr lang="en-US" sz="1500" dirty="0">
                <a:solidFill>
                  <a:srgbClr val="000000"/>
                </a:solidFill>
                <a:latin typeface="Cambria" pitchFamily="34" charset="0"/>
                <a:ea typeface="Cambria" pitchFamily="34" charset="-122"/>
                <a:cs typeface="Cambria" pitchFamily="34" charset="-120"/>
              </a:rPr>
              <a:t>Lecanemab-treated patients (n = 66)</a:t>
            </a:r>
            <a:endParaRPr lang="en-US" sz="15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1371600" y="1417320"/>
          <a:ext cx="9448495" cy="914400"/>
        </p:xfrm>
        <a:graphic>
          <a:graphicData uri="http://schemas.openxmlformats.org/drawingml/2006/table">
            <a:tbl>
              <a:tblPr/>
              <a:tblGrid>
                <a:gridCol w="5669280"/>
                <a:gridCol w="3779215"/>
              </a:tblGrid>
              <a:tr h="306324">
                <a:tc>
                  <a:txBody>
                    <a:bodyPr/>
                    <a:lstStyle/>
                    <a:p>
                      <a:pPr algn="ctr" indent="0" marL="0">
                        <a:buNone/>
                      </a:pPr>
                      <a:r>
                        <a:rPr lang="en-US" sz="1300" b="1" dirty="0">
                          <a:solidFill>
                            <a:srgbClr val="000000"/>
                          </a:solidFill>
                          <a:latin typeface="Cambria" pitchFamily="34" charset="0"/>
                          <a:ea typeface="Cambria" pitchFamily="34" charset="-122"/>
                          <a:cs typeface="Cambria" pitchFamily="34" charset="-120"/>
                        </a:rPr>
                        <a:t>Characteristic</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00000"/>
                          </a:solidFill>
                          <a:latin typeface="Cambria" pitchFamily="34" charset="0"/>
                          <a:ea typeface="Cambria" pitchFamily="34" charset="-122"/>
                          <a:cs typeface="Cambria" pitchFamily="34" charset="-120"/>
                        </a:rPr>
                        <a:t>Overall</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solidFill>
                      <a:srgbClr val="FFFFFF"/>
                    </a:solidFill>
                  </a:tcPr>
                </a:tc>
              </a:tr>
              <a:tr h="306324">
                <a:tc>
                  <a:txBody>
                    <a:bodyPr/>
                    <a:lstStyle/>
                    <a:p>
                      <a:pPr algn="l" indent="0" marL="0">
                        <a:buNone/>
                      </a:pPr>
                      <a:r>
                        <a:rPr lang="en-US" sz="1300" dirty="0">
                          <a:solidFill>
                            <a:srgbClr val="000000"/>
                          </a:solidFill>
                          <a:latin typeface="Cambria" pitchFamily="34" charset="0"/>
                          <a:ea typeface="Cambria" pitchFamily="34" charset="-122"/>
                          <a:cs typeface="Cambria" pitchFamily="34" charset="-120"/>
                        </a:rPr>
                        <a:t>Age, years</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c>
                  <a:txBody>
                    <a:bodyPr/>
                    <a:lstStyle/>
                    <a:p>
                      <a:pPr algn="ctr" indent="0" marL="0">
                        <a:buNone/>
                      </a:pPr>
                      <a:r>
                        <a:rPr lang="en-US" sz="1300" dirty="0">
                          <a:solidFill>
                            <a:srgbClr val="000000"/>
                          </a:solidFill>
                          <a:latin typeface="Cambria" pitchFamily="34" charset="0"/>
                          <a:ea typeface="Cambria" pitchFamily="34" charset="-122"/>
                          <a:cs typeface="Cambria" pitchFamily="34" charset="-120"/>
                        </a:rPr>
                        <a:t>74.7 ± 6.2</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r>
              <a:tr h="306324">
                <a:tc>
                  <a:txBody>
                    <a:bodyPr/>
                    <a:lstStyle/>
                    <a:p>
                      <a:pPr algn="l" indent="0" marL="0">
                        <a:buNone/>
                      </a:pPr>
                      <a:r>
                        <a:rPr lang="en-US" sz="1300" dirty="0">
                          <a:solidFill>
                            <a:srgbClr val="000000"/>
                          </a:solidFill>
                          <a:latin typeface="Cambria" pitchFamily="34" charset="0"/>
                          <a:ea typeface="Cambria" pitchFamily="34" charset="-122"/>
                          <a:cs typeface="Cambria" pitchFamily="34" charset="-120"/>
                        </a:rPr>
                        <a:t>Female</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c>
                  <a:txBody>
                    <a:bodyPr/>
                    <a:lstStyle/>
                    <a:p>
                      <a:pPr algn="ctr" indent="0" marL="0">
                        <a:buNone/>
                      </a:pPr>
                      <a:r>
                        <a:rPr lang="en-US" sz="1300" dirty="0">
                          <a:solidFill>
                            <a:srgbClr val="000000"/>
                          </a:solidFill>
                          <a:latin typeface="Cambria" pitchFamily="34" charset="0"/>
                          <a:ea typeface="Cambria" pitchFamily="34" charset="-122"/>
                          <a:cs typeface="Cambria" pitchFamily="34" charset="-120"/>
                        </a:rPr>
                        <a:t>49 (74.2%)</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r>
              <a:tr h="306324">
                <a:tc>
                  <a:txBody>
                    <a:bodyPr/>
                    <a:lstStyle/>
                    <a:p>
                      <a:pPr algn="l" indent="0" marL="0">
                        <a:buNone/>
                      </a:pPr>
                      <a:r>
                        <a:rPr lang="en-US" sz="1300" dirty="0">
                          <a:solidFill>
                            <a:srgbClr val="000000"/>
                          </a:solidFill>
                          <a:latin typeface="Cambria" pitchFamily="34" charset="0"/>
                          <a:ea typeface="Cambria" pitchFamily="34" charset="-122"/>
                          <a:cs typeface="Cambria" pitchFamily="34" charset="-120"/>
                        </a:rPr>
                        <a:t>Male</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c>
                  <a:txBody>
                    <a:bodyPr/>
                    <a:lstStyle/>
                    <a:p>
                      <a:pPr algn="ctr" indent="0" marL="0">
                        <a:buNone/>
                      </a:pPr>
                      <a:r>
                        <a:rPr lang="en-US" sz="1300" dirty="0">
                          <a:solidFill>
                            <a:srgbClr val="000000"/>
                          </a:solidFill>
                          <a:latin typeface="Cambria" pitchFamily="34" charset="0"/>
                          <a:ea typeface="Cambria" pitchFamily="34" charset="-122"/>
                          <a:cs typeface="Cambria" pitchFamily="34" charset="-120"/>
                        </a:rPr>
                        <a:t>17 (25.8%)</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r>
              <a:tr h="306324">
                <a:tc>
                  <a:txBody>
                    <a:bodyPr/>
                    <a:lstStyle/>
                    <a:p>
                      <a:pPr algn="l" indent="0" marL="0">
                        <a:buNone/>
                      </a:pPr>
                      <a:r>
                        <a:rPr lang="en-US" sz="1300" dirty="0">
                          <a:solidFill>
                            <a:srgbClr val="000000"/>
                          </a:solidFill>
                          <a:latin typeface="Cambria" pitchFamily="34" charset="0"/>
                          <a:ea typeface="Cambria" pitchFamily="34" charset="-122"/>
                          <a:cs typeface="Cambria" pitchFamily="34" charset="-120"/>
                        </a:rPr>
                        <a:t>MMSE total score</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c>
                  <a:txBody>
                    <a:bodyPr/>
                    <a:lstStyle/>
                    <a:p>
                      <a:pPr algn="ctr" indent="0" marL="0">
                        <a:buNone/>
                      </a:pPr>
                      <a:r>
                        <a:rPr lang="en-US" sz="1300" dirty="0">
                          <a:solidFill>
                            <a:srgbClr val="000000"/>
                          </a:solidFill>
                          <a:latin typeface="Cambria" pitchFamily="34" charset="0"/>
                          <a:ea typeface="Cambria" pitchFamily="34" charset="-122"/>
                          <a:cs typeface="Cambria" pitchFamily="34" charset="-120"/>
                        </a:rPr>
                        <a:t>24.4 ± 2.2</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r>
              <a:tr h="306324">
                <a:tc>
                  <a:txBody>
                    <a:bodyPr/>
                    <a:lstStyle/>
                    <a:p>
                      <a:pPr algn="l" indent="0" marL="0">
                        <a:buNone/>
                      </a:pPr>
                      <a:r>
                        <a:rPr lang="en-US" sz="1300" dirty="0">
                          <a:solidFill>
                            <a:srgbClr val="000000"/>
                          </a:solidFill>
                          <a:latin typeface="Cambria" pitchFamily="34" charset="0"/>
                          <a:ea typeface="Cambria" pitchFamily="34" charset="-122"/>
                          <a:cs typeface="Cambria" pitchFamily="34" charset="-120"/>
                        </a:rPr>
                        <a:t>HDS-R total score</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c>
                  <a:txBody>
                    <a:bodyPr/>
                    <a:lstStyle/>
                    <a:p>
                      <a:pPr algn="ctr" indent="0" marL="0">
                        <a:buNone/>
                      </a:pPr>
                      <a:r>
                        <a:rPr lang="en-US" sz="1300" dirty="0">
                          <a:solidFill>
                            <a:srgbClr val="000000"/>
                          </a:solidFill>
                          <a:latin typeface="Cambria" pitchFamily="34" charset="0"/>
                          <a:ea typeface="Cambria" pitchFamily="34" charset="-122"/>
                          <a:cs typeface="Cambria" pitchFamily="34" charset="-120"/>
                        </a:rPr>
                        <a:t>22.0 ± 3.6</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r>
              <a:tr h="306324">
                <a:tc>
                  <a:txBody>
                    <a:bodyPr/>
                    <a:lstStyle/>
                    <a:p>
                      <a:pPr algn="l" indent="0" marL="0">
                        <a:buNone/>
                      </a:pPr>
                      <a:r>
                        <a:rPr lang="en-US" sz="1300" dirty="0">
                          <a:solidFill>
                            <a:srgbClr val="000000"/>
                          </a:solidFill>
                          <a:latin typeface="Cambria" pitchFamily="34" charset="0"/>
                          <a:ea typeface="Cambria" pitchFamily="34" charset="-122"/>
                          <a:cs typeface="Cambria" pitchFamily="34" charset="-120"/>
                        </a:rPr>
                        <a:t>MoCA-J total score</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c>
                  <a:txBody>
                    <a:bodyPr/>
                    <a:lstStyle/>
                    <a:p>
                      <a:pPr algn="ctr" indent="0" marL="0">
                        <a:buNone/>
                      </a:pPr>
                      <a:r>
                        <a:rPr lang="en-US" sz="1300" dirty="0">
                          <a:solidFill>
                            <a:srgbClr val="000000"/>
                          </a:solidFill>
                          <a:latin typeface="Cambria" pitchFamily="34" charset="0"/>
                          <a:ea typeface="Cambria" pitchFamily="34" charset="-122"/>
                          <a:cs typeface="Cambria" pitchFamily="34" charset="-120"/>
                        </a:rPr>
                        <a:t>20.7 ± 3.0</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r>
              <a:tr h="306324">
                <a:tc>
                  <a:txBody>
                    <a:bodyPr/>
                    <a:lstStyle/>
                    <a:p>
                      <a:pPr algn="l" indent="0" marL="0">
                        <a:buNone/>
                      </a:pPr>
                      <a:r>
                        <a:rPr lang="en-US" sz="1300" dirty="0">
                          <a:solidFill>
                            <a:srgbClr val="000000"/>
                          </a:solidFill>
                          <a:latin typeface="Cambria" pitchFamily="34" charset="0"/>
                          <a:ea typeface="Cambria" pitchFamily="34" charset="-122"/>
                          <a:cs typeface="Cambria" pitchFamily="34" charset="-120"/>
                        </a:rPr>
                        <a:t>Global CDR = 0.5</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c>
                  <a:txBody>
                    <a:bodyPr/>
                    <a:lstStyle/>
                    <a:p>
                      <a:pPr algn="ctr" indent="0" marL="0">
                        <a:buNone/>
                      </a:pPr>
                      <a:r>
                        <a:rPr lang="en-US" sz="1300" dirty="0">
                          <a:solidFill>
                            <a:srgbClr val="000000"/>
                          </a:solidFill>
                          <a:latin typeface="Cambria" pitchFamily="34" charset="0"/>
                          <a:ea typeface="Cambria" pitchFamily="34" charset="-122"/>
                          <a:cs typeface="Cambria" pitchFamily="34" charset="-120"/>
                        </a:rPr>
                        <a:t>60 (90.9%)</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r>
              <a:tr h="306324">
                <a:tc>
                  <a:txBody>
                    <a:bodyPr/>
                    <a:lstStyle/>
                    <a:p>
                      <a:pPr algn="l" indent="0" marL="0">
                        <a:buNone/>
                      </a:pPr>
                      <a:r>
                        <a:rPr lang="en-US" sz="1300" dirty="0">
                          <a:solidFill>
                            <a:srgbClr val="000000"/>
                          </a:solidFill>
                          <a:latin typeface="Cambria" pitchFamily="34" charset="0"/>
                          <a:ea typeface="Cambria" pitchFamily="34" charset="-122"/>
                          <a:cs typeface="Cambria" pitchFamily="34" charset="-120"/>
                        </a:rPr>
                        <a:t>Global CDR = 1.0</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c>
                  <a:txBody>
                    <a:bodyPr/>
                    <a:lstStyle/>
                    <a:p>
                      <a:pPr algn="ctr" indent="0" marL="0">
                        <a:buNone/>
                      </a:pPr>
                      <a:r>
                        <a:rPr lang="en-US" sz="1300" dirty="0">
                          <a:solidFill>
                            <a:srgbClr val="000000"/>
                          </a:solidFill>
                          <a:latin typeface="Cambria" pitchFamily="34" charset="0"/>
                          <a:ea typeface="Cambria" pitchFamily="34" charset="-122"/>
                          <a:cs typeface="Cambria" pitchFamily="34" charset="-120"/>
                        </a:rPr>
                        <a:t>6 (9.1%)</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r>
              <a:tr h="306324">
                <a:tc>
                  <a:txBody>
                    <a:bodyPr/>
                    <a:lstStyle/>
                    <a:p>
                      <a:pPr algn="l" indent="0" marL="0">
                        <a:buNone/>
                      </a:pPr>
                      <a:r>
                        <a:rPr lang="en-US" sz="1300" dirty="0">
                          <a:solidFill>
                            <a:srgbClr val="000000"/>
                          </a:solidFill>
                          <a:latin typeface="Cambria" pitchFamily="34" charset="0"/>
                          <a:ea typeface="Cambria" pitchFamily="34" charset="-122"/>
                          <a:cs typeface="Cambria" pitchFamily="34" charset="-120"/>
                        </a:rPr>
                        <a:t>CDR-SB</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c>
                  <a:txBody>
                    <a:bodyPr/>
                    <a:lstStyle/>
                    <a:p>
                      <a:pPr algn="ctr" indent="0" marL="0">
                        <a:buNone/>
                      </a:pPr>
                      <a:r>
                        <a:rPr lang="en-US" sz="1300" dirty="0">
                          <a:solidFill>
                            <a:srgbClr val="000000"/>
                          </a:solidFill>
                          <a:latin typeface="Cambria" pitchFamily="34" charset="0"/>
                          <a:ea typeface="Cambria" pitchFamily="34" charset="-122"/>
                          <a:cs typeface="Cambria" pitchFamily="34" charset="-120"/>
                        </a:rPr>
                        <a:t>2.0 ± 1.1</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r>
              <a:tr h="306324">
                <a:tc>
                  <a:txBody>
                    <a:bodyPr/>
                    <a:lstStyle/>
                    <a:p>
                      <a:pPr algn="l" indent="0" marL="0">
                        <a:buNone/>
                      </a:pPr>
                      <a:r>
                        <a:rPr lang="en-US" sz="1300" dirty="0">
                          <a:solidFill>
                            <a:srgbClr val="000000"/>
                          </a:solidFill>
                          <a:latin typeface="Cambria" pitchFamily="34" charset="0"/>
                          <a:ea typeface="Cambria" pitchFamily="34" charset="-122"/>
                          <a:cs typeface="Cambria" pitchFamily="34" charset="-120"/>
                        </a:rPr>
                        <a:t>Irritability present</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c>
                  <a:txBody>
                    <a:bodyPr/>
                    <a:lstStyle/>
                    <a:p>
                      <a:pPr algn="ctr" indent="0" marL="0">
                        <a:buNone/>
                      </a:pPr>
                      <a:r>
                        <a:rPr lang="en-US" sz="1300" dirty="0">
                          <a:solidFill>
                            <a:srgbClr val="000000"/>
                          </a:solidFill>
                          <a:latin typeface="Cambria" pitchFamily="34" charset="0"/>
                          <a:ea typeface="Cambria" pitchFamily="34" charset="-122"/>
                          <a:cs typeface="Cambria" pitchFamily="34" charset="-120"/>
                        </a:rPr>
                        <a:t>15 (22.7%)</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r>
              <a:tr h="306324">
                <a:tc>
                  <a:txBody>
                    <a:bodyPr/>
                    <a:lstStyle/>
                    <a:p>
                      <a:pPr algn="l" indent="0" marL="0">
                        <a:buNone/>
                      </a:pPr>
                      <a:r>
                        <a:rPr lang="en-US" sz="1300" dirty="0">
                          <a:solidFill>
                            <a:srgbClr val="000000"/>
                          </a:solidFill>
                          <a:latin typeface="Cambria" pitchFamily="34" charset="0"/>
                          <a:ea typeface="Cambria" pitchFamily="34" charset="-122"/>
                          <a:cs typeface="Cambria" pitchFamily="34" charset="-120"/>
                        </a:rPr>
                        <a:t>Apathy present</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c>
                  <a:txBody>
                    <a:bodyPr/>
                    <a:lstStyle/>
                    <a:p>
                      <a:pPr algn="ctr" indent="0" marL="0">
                        <a:buNone/>
                      </a:pPr>
                      <a:r>
                        <a:rPr lang="en-US" sz="1300" dirty="0">
                          <a:solidFill>
                            <a:srgbClr val="000000"/>
                          </a:solidFill>
                          <a:latin typeface="Cambria" pitchFamily="34" charset="0"/>
                          <a:ea typeface="Cambria" pitchFamily="34" charset="-122"/>
                          <a:cs typeface="Cambria" pitchFamily="34" charset="-120"/>
                        </a:rPr>
                        <a:t>22 (33.3%)</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r>
              <a:tr h="306324">
                <a:tc>
                  <a:txBody>
                    <a:bodyPr/>
                    <a:lstStyle/>
                    <a:p>
                      <a:pPr algn="l" indent="0" marL="0">
                        <a:buNone/>
                      </a:pPr>
                      <a:r>
                        <a:rPr lang="en-US" sz="1300" dirty="0">
                          <a:solidFill>
                            <a:srgbClr val="000000"/>
                          </a:solidFill>
                          <a:latin typeface="Cambria" pitchFamily="34" charset="0"/>
                          <a:ea typeface="Cambria" pitchFamily="34" charset="-122"/>
                          <a:cs typeface="Cambria" pitchFamily="34" charset="-120"/>
                        </a:rPr>
                        <a:t>Neither irritability nor apathy</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c>
                  <a:txBody>
                    <a:bodyPr/>
                    <a:lstStyle/>
                    <a:p>
                      <a:pPr algn="ctr" indent="0" marL="0">
                        <a:buNone/>
                      </a:pPr>
                      <a:r>
                        <a:rPr lang="en-US" sz="1300" dirty="0">
                          <a:solidFill>
                            <a:srgbClr val="000000"/>
                          </a:solidFill>
                          <a:latin typeface="Cambria" pitchFamily="34" charset="0"/>
                          <a:ea typeface="Cambria" pitchFamily="34" charset="-122"/>
                          <a:cs typeface="Cambria" pitchFamily="34" charset="-120"/>
                        </a:rPr>
                        <a:t>31 (47.0%)</a:t>
                      </a:r>
                      <a:endParaRPr lang="en-US" sz="13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000000"/>
                      </a:solidFill>
                      <a:prstDash val="solid"/>
                      <a:round/>
                      <a:headEnd type="none" w="med" len="med"/>
                      <a:tailEnd type="none" w="med" len="med"/>
                    </a:lnB>
                  </a:tcPr>
                </a:tc>
              </a:tr>
            </a:tbl>
          </a:graphicData>
        </a:graphic>
      </p:graphicFrame>
      <p:sp>
        <p:nvSpPr>
          <p:cNvPr id="5" name="Shape 2"/>
          <p:cNvSpPr/>
          <p:nvPr/>
        </p:nvSpPr>
        <p:spPr>
          <a:xfrm>
            <a:off x="1371600" y="1417320"/>
            <a:ext cx="9448495" cy="0"/>
          </a:xfrm>
          <a:prstGeom prst="line">
            <a:avLst/>
          </a:prstGeom>
          <a:noFill/>
          <a:ln w="19050">
            <a:solidFill>
              <a:srgbClr val="000000"/>
            </a:solidFill>
            <a:prstDash val="solid"/>
          </a:ln>
        </p:spPr>
      </p:sp>
      <p:sp>
        <p:nvSpPr>
          <p:cNvPr id="6" name="Shape 3"/>
          <p:cNvSpPr/>
          <p:nvPr/>
        </p:nvSpPr>
        <p:spPr>
          <a:xfrm>
            <a:off x="1371600" y="1723644"/>
            <a:ext cx="9448495" cy="0"/>
          </a:xfrm>
          <a:prstGeom prst="line">
            <a:avLst/>
          </a:prstGeom>
          <a:noFill/>
          <a:ln w="15875">
            <a:solidFill>
              <a:srgbClr val="000000"/>
            </a:solidFill>
            <a:prstDash val="solid"/>
          </a:ln>
        </p:spPr>
      </p:sp>
      <p:sp>
        <p:nvSpPr>
          <p:cNvPr id="7" name="Shape 4"/>
          <p:cNvSpPr/>
          <p:nvPr/>
        </p:nvSpPr>
        <p:spPr>
          <a:xfrm>
            <a:off x="1371600" y="5399532"/>
            <a:ext cx="9448495" cy="0"/>
          </a:xfrm>
          <a:prstGeom prst="line">
            <a:avLst/>
          </a:prstGeom>
          <a:noFill/>
          <a:ln w="19050">
            <a:solidFill>
              <a:srgbClr val="000000"/>
            </a:solidFill>
            <a:prstDash val="solid"/>
          </a:ln>
        </p:spPr>
      </p:sp>
      <p:sp>
        <p:nvSpPr>
          <p:cNvPr id="8" name="Text 5"/>
          <p:cNvSpPr/>
          <p:nvPr/>
        </p:nvSpPr>
        <p:spPr>
          <a:xfrm>
            <a:off x="1371600" y="5536692"/>
            <a:ext cx="9448495" cy="640080"/>
          </a:xfrm>
          <a:prstGeom prst="rect">
            <a:avLst/>
          </a:prstGeom>
          <a:noFill/>
          <a:ln/>
        </p:spPr>
        <p:txBody>
          <a:bodyPr wrap="square" lIns="0" tIns="0" rIns="0" bIns="0" rtlCol="0" anchor="ctr"/>
          <a:lstStyle/>
          <a:p>
            <a:pPr algn="l" indent="0" marL="0">
              <a:lnSpc>
                <a:spcPct val="115000"/>
              </a:lnSpc>
              <a:buNone/>
            </a:pPr>
            <a:r>
              <a:rPr lang="en-US" sz="1050" dirty="0">
                <a:solidFill>
                  <a:srgbClr val="000000"/>
                </a:solidFill>
                <a:latin typeface="Cambria" pitchFamily="34" charset="0"/>
                <a:ea typeface="Cambria" pitchFamily="34" charset="-122"/>
                <a:cs typeface="Cambria" pitchFamily="34" charset="-120"/>
              </a:rPr>
              <a:t>Values are mean ± SD or n (%). MMSE, Mini-Mental State Examination; HDS-R, Hasegawa Dementia Scale-Revised; MoCA-J, Japanese version of the Montreal Cognitive Assessment; CDR, Clinical Dementia Rating; CDR-SB, Clinical Dementia Rating Sum of Boxes.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7315200" cy="566928"/>
          </a:xfrm>
          <a:prstGeom prst="rect">
            <a:avLst/>
          </a:prstGeom>
          <a:noFill/>
          <a:ln/>
        </p:spPr>
        <p:txBody>
          <a:bodyPr wrap="square" lIns="0" tIns="0" rIns="0" bIns="0" rtlCol="0" anchor="t"/>
          <a:lstStyle/>
          <a:p>
            <a:pPr algn="l" indent="0" marL="0">
              <a:buNone/>
            </a:pPr>
            <a:r>
              <a:rPr lang="en-US" sz="2600" b="1" dirty="0">
                <a:solidFill>
                  <a:srgbClr val="1A1A1A"/>
                </a:solidFill>
                <a:latin typeface="Meiryo" pitchFamily="34" charset="0"/>
                <a:ea typeface="Meiryo" pitchFamily="34" charset="-122"/>
                <a:cs typeface="Meiryo" pitchFamily="34" charset="-120"/>
              </a:rPr>
              <a:t>レカネマブ投与患者におけるMMSEの推移</a:t>
            </a:r>
            <a:endParaRPr lang="en-US" sz="2600" dirty="0"/>
          </a:p>
        </p:txBody>
      </p:sp>
      <p:sp>
        <p:nvSpPr>
          <p:cNvPr id="3" name="Text 1"/>
          <p:cNvSpPr/>
          <p:nvPr/>
        </p:nvSpPr>
        <p:spPr>
          <a:xfrm>
            <a:off x="457200" y="868680"/>
            <a:ext cx="7315200" cy="320040"/>
          </a:xfrm>
          <a:prstGeom prst="rect">
            <a:avLst/>
          </a:prstGeom>
          <a:noFill/>
          <a:ln/>
        </p:spPr>
        <p:txBody>
          <a:bodyPr wrap="square" lIns="0" tIns="0" rIns="0" bIns="0" rtlCol="0" anchor="t"/>
          <a:lstStyle/>
          <a:p>
            <a:pPr algn="l" indent="0" marL="0">
              <a:buNone/>
            </a:pPr>
            <a:r>
              <a:rPr lang="en-US" sz="1300" dirty="0">
                <a:solidFill>
                  <a:srgbClr val="666666"/>
                </a:solidFill>
                <a:latin typeface="Meiryo" pitchFamily="34" charset="0"/>
                <a:ea typeface="Meiryo" pitchFamily="34" charset="-122"/>
                <a:cs typeface="Meiryo" pitchFamily="34" charset="-120"/>
              </a:rPr>
              <a:t>対象：レカネマブ投与患者66例（各時点での評価症例数は図中に記載）</a:t>
            </a:r>
            <a:endParaRPr lang="en-US" sz="1300" dirty="0"/>
          </a:p>
        </p:txBody>
      </p:sp>
      <p:sp>
        <p:nvSpPr>
          <p:cNvPr id="4" name="Text 2"/>
          <p:cNvSpPr/>
          <p:nvPr/>
        </p:nvSpPr>
        <p:spPr>
          <a:xfrm>
            <a:off x="548640" y="1261872"/>
            <a:ext cx="5349240" cy="292608"/>
          </a:xfrm>
          <a:prstGeom prst="rect">
            <a:avLst/>
          </a:prstGeom>
          <a:noFill/>
          <a:ln/>
        </p:spPr>
        <p:txBody>
          <a:bodyPr wrap="square" lIns="0" tIns="0" rIns="0" bIns="0" rtlCol="0" anchor="t"/>
          <a:lstStyle/>
          <a:p>
            <a:pPr algn="l" indent="0" marL="0">
              <a:buNone/>
            </a:pPr>
            <a:r>
              <a:rPr lang="en-US" sz="1400" b="1" dirty="0">
                <a:solidFill>
                  <a:srgbClr val="1A1A1A"/>
                </a:solidFill>
                <a:latin typeface="Meiryo" pitchFamily="34" charset="0"/>
                <a:ea typeface="Meiryo" pitchFamily="34" charset="-122"/>
                <a:cs typeface="Meiryo" pitchFamily="34" charset="-120"/>
              </a:rPr>
              <a:t>A. MMSE平均変化量の推移</a:t>
            </a:r>
            <a:endParaRPr lang="en-US" sz="1400" dirty="0"/>
          </a:p>
        </p:txBody>
      </p:sp>
      <p:sp>
        <p:nvSpPr>
          <p:cNvPr id="5" name="Text 3"/>
          <p:cNvSpPr/>
          <p:nvPr/>
        </p:nvSpPr>
        <p:spPr>
          <a:xfrm>
            <a:off x="6245352" y="1261872"/>
            <a:ext cx="5349240" cy="292608"/>
          </a:xfrm>
          <a:prstGeom prst="rect">
            <a:avLst/>
          </a:prstGeom>
          <a:noFill/>
          <a:ln/>
        </p:spPr>
        <p:txBody>
          <a:bodyPr wrap="square" lIns="0" tIns="0" rIns="0" bIns="0" rtlCol="0" anchor="t"/>
          <a:lstStyle/>
          <a:p>
            <a:pPr algn="l" indent="0" marL="0">
              <a:buNone/>
            </a:pPr>
            <a:r>
              <a:rPr lang="en-US" sz="1400" b="1" dirty="0">
                <a:solidFill>
                  <a:srgbClr val="1A1A1A"/>
                </a:solidFill>
                <a:latin typeface="Meiryo" pitchFamily="34" charset="0"/>
                <a:ea typeface="Meiryo" pitchFamily="34" charset="-122"/>
                <a:cs typeface="Meiryo" pitchFamily="34" charset="-120"/>
              </a:rPr>
              <a:t>B. 18か月時点の変化分類（n=33）</a:t>
            </a:r>
            <a:endParaRPr lang="en-US" sz="1400" dirty="0"/>
          </a:p>
        </p:txBody>
      </p:sp>
      <p:graphicFrame>
        <p:nvGraphicFramePr>
          <p:cNvPr id="6" name="Chart 0" descr=""/>
          <p:cNvGraphicFramePr/>
          <p:nvPr/>
        </p:nvGraphicFramePr>
        <p:xfrm>
          <a:off x="548640" y="1627632"/>
          <a:ext cx="5349240" cy="406908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6245352" y="1627632"/>
          <a:ext cx="5349240" cy="406908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457200" y="5989320"/>
            <a:ext cx="11277295" cy="640080"/>
          </a:xfrm>
          <a:prstGeom prst="rect">
            <a:avLst/>
          </a:prstGeom>
          <a:noFill/>
          <a:ln/>
        </p:spPr>
        <p:txBody>
          <a:bodyPr wrap="square" lIns="0" tIns="0" rIns="0" bIns="0" rtlCol="0" anchor="t"/>
          <a:lstStyle/>
          <a:p>
            <a:pPr algn="l" indent="0" marL="0">
              <a:lnSpc>
                <a:spcPct val="115000"/>
              </a:lnSpc>
              <a:buNone/>
            </a:pPr>
            <a:r>
              <a:rPr lang="en-US" sz="1050" dirty="0">
                <a:solidFill>
                  <a:srgbClr val="666666"/>
                </a:solidFill>
                <a:latin typeface="Meiryo" pitchFamily="34" charset="0"/>
                <a:ea typeface="Meiryo" pitchFamily="34" charset="-122"/>
                <a:cs typeface="Meiryo" pitchFamily="34" charset="-120"/>
              </a:rPr>
              <a:t>18か月対応解析：平均変化 −1.24点（0か月23.91点→18か月22.67点）。対応のあるt検定 p=0.087、Wilcoxon符号付順位検定 p=0.188。※24か月は補助データ（n=16）。図中nは各時点での対応症例数。</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7223760" cy="566928"/>
          </a:xfrm>
          <a:prstGeom prst="rect">
            <a:avLst/>
          </a:prstGeom>
          <a:noFill/>
          <a:ln/>
        </p:spPr>
        <p:txBody>
          <a:bodyPr wrap="square" lIns="0" tIns="0" rIns="0" bIns="0" rtlCol="0" anchor="t"/>
          <a:lstStyle/>
          <a:p>
            <a:pPr algn="l" indent="0" marL="0">
              <a:buNone/>
            </a:pPr>
            <a:r>
              <a:rPr lang="en-US" sz="2600" b="1" dirty="0">
                <a:solidFill>
                  <a:srgbClr val="1A1A1A"/>
                </a:solidFill>
                <a:latin typeface="Meiryo" pitchFamily="34" charset="0"/>
                <a:ea typeface="Meiryo" pitchFamily="34" charset="-122"/>
                <a:cs typeface="Meiryo" pitchFamily="34" charset="-120"/>
              </a:rPr>
              <a:t>レカネマブ投与後の精神症状（改善訴え）</a:t>
            </a:r>
            <a:endParaRPr lang="en-US" sz="2600" dirty="0"/>
          </a:p>
        </p:txBody>
      </p:sp>
      <p:sp>
        <p:nvSpPr>
          <p:cNvPr id="3" name="Text 1"/>
          <p:cNvSpPr/>
          <p:nvPr/>
        </p:nvSpPr>
        <p:spPr>
          <a:xfrm>
            <a:off x="457200" y="868680"/>
            <a:ext cx="7223760" cy="320040"/>
          </a:xfrm>
          <a:prstGeom prst="rect">
            <a:avLst/>
          </a:prstGeom>
          <a:noFill/>
          <a:ln/>
        </p:spPr>
        <p:txBody>
          <a:bodyPr wrap="square" lIns="0" tIns="0" rIns="0" bIns="0" rtlCol="0" anchor="t"/>
          <a:lstStyle/>
          <a:p>
            <a:pPr algn="l" indent="0" marL="0">
              <a:buNone/>
            </a:pPr>
            <a:r>
              <a:rPr lang="en-US" sz="1300" dirty="0">
                <a:solidFill>
                  <a:srgbClr val="666666"/>
                </a:solidFill>
                <a:latin typeface="Meiryo" pitchFamily="34" charset="0"/>
                <a:ea typeface="Meiryo" pitchFamily="34" charset="-122"/>
                <a:cs typeface="Meiryo" pitchFamily="34" charset="-120"/>
              </a:rPr>
              <a:t>対象：レカネマブ投与患者66例</a:t>
            </a:r>
            <a:endParaRPr lang="en-US" sz="1300" dirty="0"/>
          </a:p>
        </p:txBody>
      </p:sp>
      <p:sp>
        <p:nvSpPr>
          <p:cNvPr id="4" name="Shape 2"/>
          <p:cNvSpPr/>
          <p:nvPr/>
        </p:nvSpPr>
        <p:spPr>
          <a:xfrm>
            <a:off x="8168335" y="292608"/>
            <a:ext cx="3566160" cy="914400"/>
          </a:xfrm>
          <a:prstGeom prst="roundRect">
            <a:avLst>
              <a:gd name="adj" fmla="val 7000"/>
            </a:avLst>
          </a:prstGeom>
          <a:solidFill>
            <a:srgbClr val="FFFFFF"/>
          </a:solidFill>
          <a:ln w="15875">
            <a:solidFill>
              <a:srgbClr val="156082"/>
            </a:solidFill>
            <a:prstDash val="solid"/>
          </a:ln>
        </p:spPr>
      </p:sp>
      <p:sp>
        <p:nvSpPr>
          <p:cNvPr id="5" name="Text 3"/>
          <p:cNvSpPr/>
          <p:nvPr/>
        </p:nvSpPr>
        <p:spPr>
          <a:xfrm>
            <a:off x="8278063" y="365760"/>
            <a:ext cx="3346704" cy="768096"/>
          </a:xfrm>
          <a:prstGeom prst="rect">
            <a:avLst/>
          </a:prstGeom>
          <a:noFill/>
          <a:ln/>
        </p:spPr>
        <p:txBody>
          <a:bodyPr wrap="square" lIns="0" tIns="0" rIns="0" bIns="0" rtlCol="0" anchor="ctr"/>
          <a:lstStyle/>
          <a:p>
            <a:pPr algn="ctr" indent="0" marL="0">
              <a:lnSpc>
                <a:spcPct val="115000"/>
              </a:lnSpc>
              <a:buNone/>
            </a:pPr>
            <a:r>
              <a:rPr lang="en-US" sz="1250" b="1" dirty="0">
                <a:solidFill>
                  <a:srgbClr val="333333"/>
                </a:solidFill>
                <a:latin typeface="Meiryo" pitchFamily="34" charset="0"/>
                <a:ea typeface="Meiryo" pitchFamily="34" charset="-122"/>
                <a:cs typeface="Meiryo" pitchFamily="34" charset="-120"/>
              </a:rPr>
              <a:t>18か月MMSE変化（有意差なし）</a:t>
            </a:r>
            <a:endParaRPr lang="en-US" sz="1250" dirty="0"/>
          </a:p>
          <a:p>
            <a:pPr algn="ctr" indent="0" marL="0">
              <a:lnSpc>
                <a:spcPct val="115000"/>
              </a:lnSpc>
              <a:buNone/>
            </a:pPr>
            <a:r>
              <a:rPr lang="en-US" sz="1150" dirty="0">
                <a:solidFill>
                  <a:srgbClr val="333333"/>
                </a:solidFill>
                <a:latin typeface="Meiryo" pitchFamily="34" charset="0"/>
                <a:ea typeface="Meiryo" pitchFamily="34" charset="-122"/>
                <a:cs typeface="Meiryo" pitchFamily="34" charset="-120"/>
              </a:rPr>
              <a:t>改善訴えあり +0.22点 / 記載なし −1.79点</a:t>
            </a:r>
            <a:endParaRPr lang="en-US" sz="1250" dirty="0"/>
          </a:p>
        </p:txBody>
      </p:sp>
      <p:graphicFrame>
        <p:nvGraphicFramePr>
          <p:cNvPr id="6" name="Chart 0" descr=""/>
          <p:cNvGraphicFramePr/>
          <p:nvPr/>
        </p:nvGraphicFramePr>
        <p:xfrm>
          <a:off x="1645920" y="1600200"/>
          <a:ext cx="8869680" cy="41605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5989320"/>
            <a:ext cx="11277295" cy="457200"/>
          </a:xfrm>
          <a:prstGeom prst="rect">
            <a:avLst/>
          </a:prstGeom>
          <a:noFill/>
          <a:ln/>
        </p:spPr>
        <p:txBody>
          <a:bodyPr wrap="square" lIns="0" tIns="0" rIns="0" bIns="0" rtlCol="0" anchor="t"/>
          <a:lstStyle/>
          <a:p>
            <a:pPr algn="l" indent="0" marL="0">
              <a:lnSpc>
                <a:spcPct val="115000"/>
              </a:lnSpc>
              <a:buNone/>
            </a:pPr>
            <a:r>
              <a:rPr lang="en-US" sz="1050" dirty="0">
                <a:solidFill>
                  <a:srgbClr val="666666"/>
                </a:solidFill>
                <a:latin typeface="Meiryo" pitchFamily="34" charset="0"/>
                <a:ea typeface="Meiryo" pitchFamily="34" charset="-122"/>
                <a:cs typeface="Meiryo" pitchFamily="34" charset="-120"/>
              </a:rPr>
              <a:t>※ 改善訴えは、診療録に記載された自覚的または家族からの改善の訴えを集計した探索的結果。統一した精神症状評価尺度による前後比較ではない。</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7315200" cy="566928"/>
          </a:xfrm>
          <a:prstGeom prst="rect">
            <a:avLst/>
          </a:prstGeom>
          <a:noFill/>
          <a:ln/>
        </p:spPr>
        <p:txBody>
          <a:bodyPr wrap="square" lIns="0" tIns="0" rIns="0" bIns="0" rtlCol="0" anchor="t"/>
          <a:lstStyle/>
          <a:p>
            <a:pPr algn="l" indent="0" marL="0">
              <a:buNone/>
            </a:pPr>
            <a:r>
              <a:rPr lang="en-US" sz="2600" b="1" dirty="0">
                <a:solidFill>
                  <a:srgbClr val="1A1A1A"/>
                </a:solidFill>
                <a:latin typeface="Meiryo" pitchFamily="34" charset="0"/>
                <a:ea typeface="Meiryo" pitchFamily="34" charset="-122"/>
                <a:cs typeface="Meiryo" pitchFamily="34" charset="-120"/>
              </a:rPr>
              <a:t>症状改善の訴え有無によるMMSE変化の比較</a:t>
            </a:r>
            <a:endParaRPr lang="en-US" sz="2600" dirty="0"/>
          </a:p>
        </p:txBody>
      </p:sp>
      <p:sp>
        <p:nvSpPr>
          <p:cNvPr id="3" name="Text 1"/>
          <p:cNvSpPr/>
          <p:nvPr/>
        </p:nvSpPr>
        <p:spPr>
          <a:xfrm>
            <a:off x="457200" y="868680"/>
            <a:ext cx="7315200" cy="320040"/>
          </a:xfrm>
          <a:prstGeom prst="rect">
            <a:avLst/>
          </a:prstGeom>
          <a:noFill/>
          <a:ln/>
        </p:spPr>
        <p:txBody>
          <a:bodyPr wrap="square" lIns="0" tIns="0" rIns="0" bIns="0" rtlCol="0" anchor="t"/>
          <a:lstStyle/>
          <a:p>
            <a:pPr algn="l" indent="0" marL="0">
              <a:buNone/>
            </a:pPr>
            <a:r>
              <a:rPr lang="en-US" sz="1300" dirty="0">
                <a:solidFill>
                  <a:srgbClr val="666666"/>
                </a:solidFill>
                <a:latin typeface="Meiryo" pitchFamily="34" charset="0"/>
                <a:ea typeface="Meiryo" pitchFamily="34" charset="-122"/>
                <a:cs typeface="Meiryo" pitchFamily="34" charset="-120"/>
              </a:rPr>
              <a:t>対象：改善訴えあり9例／改善訴えなし（記載なしを含む）24例</a:t>
            </a:r>
            <a:endParaRPr lang="en-US" sz="1300" dirty="0"/>
          </a:p>
        </p:txBody>
      </p:sp>
      <p:sp>
        <p:nvSpPr>
          <p:cNvPr id="4" name="Text 2"/>
          <p:cNvSpPr/>
          <p:nvPr/>
        </p:nvSpPr>
        <p:spPr>
          <a:xfrm>
            <a:off x="548640" y="1261872"/>
            <a:ext cx="5349240" cy="292608"/>
          </a:xfrm>
          <a:prstGeom prst="rect">
            <a:avLst/>
          </a:prstGeom>
          <a:noFill/>
          <a:ln/>
        </p:spPr>
        <p:txBody>
          <a:bodyPr wrap="square" lIns="0" tIns="0" rIns="0" bIns="0" rtlCol="0" anchor="t"/>
          <a:lstStyle/>
          <a:p>
            <a:pPr algn="l" indent="0" marL="0">
              <a:buNone/>
            </a:pPr>
            <a:r>
              <a:rPr lang="en-US" sz="1400" b="1" dirty="0">
                <a:solidFill>
                  <a:srgbClr val="1A1A1A"/>
                </a:solidFill>
                <a:latin typeface="Meiryo" pitchFamily="34" charset="0"/>
                <a:ea typeface="Meiryo" pitchFamily="34" charset="-122"/>
                <a:cs typeface="Meiryo" pitchFamily="34" charset="-120"/>
              </a:rPr>
              <a:t>A. 18か月時点の群間比較</a:t>
            </a:r>
            <a:endParaRPr lang="en-US" sz="1400" dirty="0"/>
          </a:p>
        </p:txBody>
      </p:sp>
      <p:sp>
        <p:nvSpPr>
          <p:cNvPr id="5" name="Text 3"/>
          <p:cNvSpPr/>
          <p:nvPr/>
        </p:nvSpPr>
        <p:spPr>
          <a:xfrm>
            <a:off x="6245352" y="1261872"/>
            <a:ext cx="5349240" cy="292608"/>
          </a:xfrm>
          <a:prstGeom prst="rect">
            <a:avLst/>
          </a:prstGeom>
          <a:noFill/>
          <a:ln/>
        </p:spPr>
        <p:txBody>
          <a:bodyPr wrap="square" lIns="0" tIns="0" rIns="0" bIns="0" rtlCol="0" anchor="t"/>
          <a:lstStyle/>
          <a:p>
            <a:pPr algn="l" indent="0" marL="0">
              <a:buNone/>
            </a:pPr>
            <a:r>
              <a:rPr lang="en-US" sz="1400" b="1" dirty="0">
                <a:solidFill>
                  <a:srgbClr val="1A1A1A"/>
                </a:solidFill>
                <a:latin typeface="Meiryo" pitchFamily="34" charset="0"/>
                <a:ea typeface="Meiryo" pitchFamily="34" charset="-122"/>
                <a:cs typeface="Meiryo" pitchFamily="34" charset="-120"/>
              </a:rPr>
              <a:t>B. 経時的な平均変化量の推移</a:t>
            </a:r>
            <a:endParaRPr lang="en-US" sz="1400" dirty="0"/>
          </a:p>
        </p:txBody>
      </p:sp>
      <p:graphicFrame>
        <p:nvGraphicFramePr>
          <p:cNvPr id="6" name="Chart 0" descr=""/>
          <p:cNvGraphicFramePr/>
          <p:nvPr/>
        </p:nvGraphicFramePr>
        <p:xfrm>
          <a:off x="548640" y="1627632"/>
          <a:ext cx="5349240" cy="406908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6245352" y="1627632"/>
          <a:ext cx="5349240" cy="406908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457200" y="5989320"/>
            <a:ext cx="11277295" cy="640080"/>
          </a:xfrm>
          <a:prstGeom prst="rect">
            <a:avLst/>
          </a:prstGeom>
          <a:noFill/>
          <a:ln/>
        </p:spPr>
        <p:txBody>
          <a:bodyPr wrap="square" lIns="0" tIns="0" rIns="0" bIns="0" rtlCol="0" anchor="t"/>
          <a:lstStyle/>
          <a:p>
            <a:pPr algn="l" indent="0" marL="0">
              <a:lnSpc>
                <a:spcPct val="115000"/>
              </a:lnSpc>
              <a:buNone/>
            </a:pPr>
            <a:r>
              <a:rPr lang="en-US" sz="1050" dirty="0">
                <a:solidFill>
                  <a:srgbClr val="666666"/>
                </a:solidFill>
                <a:latin typeface="Meiryo" pitchFamily="34" charset="0"/>
                <a:ea typeface="Meiryo" pitchFamily="34" charset="-122"/>
                <a:cs typeface="Meiryo" pitchFamily="34" charset="-120"/>
              </a:rPr>
              <a:t>統計：Welchのt検定 p=0.275、Mann-Whitney検定 p=0.100、ベースラインMMSE調整 p=0.600。数値上は改善訴えあり群で低下が少なかったが、いずれの解析でも統計学的有意差はなし。「改善訴えなし」には改善訴えの記載がない症例を含む。</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Lecanemab Retrospective Analysis</dc:creator>
  <cp:lastModifiedBy>Lecanemab Retrospective Analysis</cp:lastModifiedBy>
  <cp:revision>1</cp:revision>
  <dcterms:created xsi:type="dcterms:W3CDTF">2026-07-22T04:01:48Z</dcterms:created>
  <dcterms:modified xsi:type="dcterms:W3CDTF">2026-07-22T04:01:48Z</dcterms:modified>
</cp:coreProperties>
</file>