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0.95</c:v>
                </c:pt>
                <c:pt idx="1">
                  <c:v>1.06</c:v>
                </c:pt>
                <c:pt idx="2">
                  <c:v>1.18</c:v>
                </c:pt>
                <c:pt idx="3">
                  <c:v>1.59</c:v>
                </c:pt>
              </c:numLit>
            </c:plus>
            <c:minus>
              <c:numLit>
                <c:formatCode>General</c:formatCode>
                <c:ptCount val="4"/>
                <c:pt idx="0">
                  <c:v>0.95</c:v>
                </c:pt>
                <c:pt idx="1">
                  <c:v>1.06</c:v>
                </c:pt>
                <c:pt idx="2">
                  <c:v>1.18</c:v>
                </c:pt>
                <c:pt idx="3">
                  <c:v>1.59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r>
              <a:t>つまり「訴えあり」は平均の水準ではなく、変動の大きさの側に現れている可能性がある。ただしこれは事後的な観察であり、n=9 では分散の差の検定も安定しない。</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図の設計仕様」パネルBに対応。個々の点をベースラインMMSEで着色すると、群分け（訴えの有無）よりもベースライン重症度のほうがΔMMSEを説明していることが見える。</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20.7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60 (90.9%)</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 ± 1.1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pic>
        <p:nvPicPr>
          <p:cNvPr id="5" name="Picture 4" descr="slide_ΔMMSE_アンカー別推移.png"/>
          <p:cNvPicPr>
            <a:picLocks noChangeAspect="1"/>
          </p:cNvPicPr>
          <p:nvPr/>
        </p:nvPicPr>
        <p:blipFill>
          <a:blip r:embed="rId2"/>
          <a:stretch>
            <a:fillRect/>
          </a:stretch>
        </p:blipFill>
        <p:spPr>
          <a:xfrm>
            <a:off x="457200" y="1646899"/>
            <a:ext cx="11247120" cy="4067121"/>
          </a:xfrm>
          <a:prstGeom prst="rect">
            <a:avLst/>
          </a:prstGeom>
        </p:spPr>
      </p:pic>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pic>
        <p:nvPicPr>
          <p:cNvPr id="5" name="Picture 4" descr="slide_個別症例MMSE推移_重ね合わせ.png"/>
          <p:cNvPicPr>
            <a:picLocks noChangeAspect="1"/>
          </p:cNvPicPr>
          <p:nvPr/>
        </p:nvPicPr>
        <p:blipFill>
          <a:blip r:embed="rId2"/>
          <a:stretch>
            <a:fillRect/>
          </a:stretch>
        </p:blipFill>
        <p:spPr>
          <a:xfrm>
            <a:off x="457200" y="1646899"/>
            <a:ext cx="11247120" cy="4067121"/>
          </a:xfrm>
          <a:prstGeom prst="rect">
            <a:avLst/>
          </a:prstGeom>
        </p:spPr>
      </p:pic>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3.05点。18か月時点のΔMMSEの標準偏差は 訴えあり 4.76／訴えなし 2.83。</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pic>
        <p:nvPicPr>
          <p:cNvPr id="5" name="Picture 4" descr="slide_MMSE下位項目パネル.png"/>
          <p:cNvPicPr>
            <a:picLocks noChangeAspect="1"/>
          </p:cNvPicPr>
          <p:nvPr/>
        </p:nvPicPr>
        <p:blipFill>
          <a:blip r:embed="rId2"/>
          <a:stretch>
            <a:fillRect/>
          </a:stretch>
        </p:blipFill>
        <p:spPr>
          <a:xfrm>
            <a:off x="457200" y="1606930"/>
            <a:ext cx="11247120" cy="4147059"/>
          </a:xfrm>
          <a:prstGeom prst="rect">
            <a:avLst/>
          </a:prstGeom>
        </p:spPr>
      </p:pic>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pic>
        <p:nvPicPr>
          <p:cNvPr id="5" name="Picture 4" descr="slide_個別症例MMSE推移_群別2パネル.png"/>
          <p:cNvPicPr>
            <a:picLocks noChangeAspect="1"/>
          </p:cNvPicPr>
          <p:nvPr/>
        </p:nvPicPr>
        <p:blipFill>
          <a:blip r:embed="rId2"/>
          <a:stretch>
            <a:fillRect/>
          </a:stretch>
        </p:blipFill>
        <p:spPr>
          <a:xfrm>
            <a:off x="457200" y="1646899"/>
            <a:ext cx="11247120" cy="4067121"/>
          </a:xfrm>
          <a:prstGeom prst="rect">
            <a:avLst/>
          </a:prstGeom>
        </p:spPr>
      </p:pic>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pic>
        <p:nvPicPr>
          <p:cNvPr id="5" name="Picture 4" descr="slide_18か月ΔMMSE_ドットプロット.png"/>
          <p:cNvPicPr>
            <a:picLocks noChangeAspect="1"/>
          </p:cNvPicPr>
          <p:nvPr/>
        </p:nvPicPr>
        <p:blipFill>
          <a:blip r:embed="rId2"/>
          <a:stretch>
            <a:fillRect/>
          </a:stretch>
        </p:blipFill>
        <p:spPr>
          <a:xfrm>
            <a:off x="457200" y="1646899"/>
            <a:ext cx="11247120" cy="4067121"/>
          </a:xfrm>
          <a:prstGeom prst="rect">
            <a:avLst/>
          </a:prstGeom>
        </p:spPr>
      </p:pic>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左：18か月時点のΔMMSEの分布（箱ひげ＋個別点、点の色はベースラインMMSE）。灰色帯は年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