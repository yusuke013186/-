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7" r:id="rId2"/>
    <p:sldId id="269" r:id="rId16"/>
    <p:sldId id="262" r:id="rId9"/>
    <p:sldId id="263" r:id="rId10"/>
    <p:sldId id="264" r:id="rId11"/>
    <p:sldId id="261" r:id="rId3"/>
    <p:sldId id="268" r:id="rId15"/>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9324" autoAdjust="0"/>
  </p:normalViewPr>
  <p:slideViewPr>
    <p:cSldViewPr snapToGrid="0" snapToObjects="1">
      <p:cViewPr varScale="1">
        <p:scale>
          <a:sx n="101" d="100"/>
          <a:sy n="101" d="100"/>
        </p:scale>
        <p:origin x="144" y="204"/>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lineChart>
        <c:grouping val="standard"/>
        <c:varyColors val="0"/>
        <c:ser>
          <c:idx val="0"/>
          <c:order val="0"/>
          <c:tx>
            <c:strRef>
              <c:f>Sheet1!$B$1</c:f>
              <c:strCache>
                <c:ptCount val="1"/>
                <c:pt idx="0">
                  <c:v>改善訴えあり</c:v>
                </c:pt>
              </c:strCache>
            </c:strRef>
          </c:tx>
          <c:spPr>
            <a:ln w="28575" cap="flat">
              <a:solidFill>
                <a:srgbClr val="156082"/>
              </a:solidFill>
              <a:prstDash val="solid"/>
              <a:round/>
            </a:ln>
            <a:effectLst/>
          </c:spPr>
          <c:marker>
            <c:symbol val="circle"/>
            <c:size val="7"/>
            <c:spPr>
              <a:solidFill>
                <a:srgbClr val="156082"/>
              </a:solidFill>
              <a:ln w="9525" cap="flat">
                <a:solidFill>
                  <a:srgbClr val="156082"/>
                </a:solidFill>
                <a:prstDash val="solid"/>
                <a:round/>
              </a:ln>
              <a:effectLst/>
            </c:spPr>
          </c:marker>
          <c:dLbls>
            <c:dLbl>
              <c:idx val="0"/>
              <c:tx>
                <c:rich>
                  <a:bodyPr/>
                  <a:lstStyle/>
                  <a:p>
                    <a:r>
                      <a:rPr lang="en-US" altLang="ja-JP" sz="1300" b="1">
                        <a:solidFill>
                          <a:srgbClr val="156082"/>
                        </a:solidFill>
                        <a:latin typeface="Arial"/>
                        <a:ea typeface="ＭＳ Ｐゴシック"/>
                      </a:rPr>
                      <a:t>22.89</a:t>
                    </a:r>
                  </a:p>
                  <a:p>
                    <a:r>
                      <a:rPr lang="en-US" altLang="ja-JP" sz="1000" b="0">
                        <a:solidFill>
                          <a:srgbClr val="156082"/>
                        </a:solidFill>
                        <a:latin typeface="Arial"/>
                        <a:ea typeface="ＭＳ Ｐゴシック"/>
                      </a:rPr>
                      <a:t>(n=9)</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DC9-4E81-886E-03E65A384508}"/>
                </c:ext>
              </c:extLst>
            </c:dLbl>
            <c:dLbl>
              <c:idx val="1"/>
              <c:layout>
                <c:manualLayout>
                  <c:x val="-3.0222492513639131E-2"/>
                  <c:y val="-8.9209281532116172E-2"/>
                </c:manualLayout>
              </c:layout>
              <c:tx>
                <c:rich>
                  <a:bodyPr/>
                  <a:lstStyle/>
                  <a:p>
                    <a:r>
                      <a:rPr lang="en-US" altLang="ja-JP" sz="1300" b="1">
                        <a:solidFill>
                          <a:srgbClr val="156082"/>
                        </a:solidFill>
                        <a:latin typeface="Arial"/>
                        <a:ea typeface="ＭＳ Ｐゴシック"/>
                      </a:rPr>
                      <a:t>24.56</a:t>
                    </a:r>
                  </a:p>
                  <a:p>
                    <a:r>
                      <a:rPr lang="en-US" altLang="ja-JP" sz="1000" b="0">
                        <a:solidFill>
                          <a:srgbClr val="156082"/>
                        </a:solidFill>
                        <a:latin typeface="Arial"/>
                        <a:ea typeface="ＭＳ Ｐゴシック"/>
                      </a:rPr>
                      <a:t>(n=9)</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DC9-4E81-886E-03E65A384508}"/>
                </c:ext>
              </c:extLst>
            </c:dLbl>
            <c:dLbl>
              <c:idx val="2"/>
              <c:layout>
                <c:manualLayout>
                  <c:x val="-2.9818833621407081E-2"/>
                  <c:y val="6.0363368040533397E-2"/>
                </c:manualLayout>
              </c:layout>
              <c:tx>
                <c:rich>
                  <a:bodyPr/>
                  <a:lstStyle/>
                  <a:p>
                    <a:r>
                      <a:rPr lang="en-US" altLang="ja-JP" sz="1300" b="1">
                        <a:solidFill>
                          <a:srgbClr val="156082"/>
                        </a:solidFill>
                        <a:latin typeface="Arial"/>
                        <a:ea typeface="ＭＳ Ｐゴシック"/>
                      </a:rPr>
                      <a:t>23.11</a:t>
                    </a:r>
                  </a:p>
                  <a:p>
                    <a:r>
                      <a:rPr lang="en-US" altLang="ja-JP" sz="1000" b="0">
                        <a:solidFill>
                          <a:srgbClr val="156082"/>
                        </a:solidFill>
                        <a:latin typeface="Arial"/>
                        <a:ea typeface="ＭＳ Ｐゴシック"/>
                      </a:rPr>
                      <a:t>(n=9)</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DC9-4E81-886E-03E65A384508}"/>
                </c:ext>
              </c:extLst>
            </c:dLbl>
            <c:dLbl>
              <c:idx val="3"/>
              <c:layout>
                <c:manualLayout>
                  <c:x val="-2.7560477704514579E-2"/>
                  <c:y val="6.0363368040533397E-2"/>
                </c:manualLayout>
              </c:layout>
              <c:tx>
                <c:rich>
                  <a:bodyPr/>
                  <a:lstStyle/>
                  <a:p>
                    <a:r>
                      <a:rPr lang="en-US" altLang="ja-JP" sz="1300" b="1">
                        <a:solidFill>
                          <a:srgbClr val="156082"/>
                        </a:solidFill>
                        <a:latin typeface="Arial"/>
                        <a:ea typeface="ＭＳ Ｐゴシック"/>
                      </a:rPr>
                      <a:t>23.11</a:t>
                    </a:r>
                  </a:p>
                  <a:p>
                    <a:r>
                      <a:rPr lang="en-US" altLang="ja-JP" sz="1000" b="0">
                        <a:solidFill>
                          <a:srgbClr val="156082"/>
                        </a:solidFill>
                        <a:latin typeface="Arial"/>
                        <a:ea typeface="ＭＳ Ｐゴシック"/>
                      </a:rPr>
                      <a:t>(n=9)</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DC9-4E81-886E-03E65A384508}"/>
                </c:ext>
              </c:extLst>
            </c:dLbl>
            <c:numFmt formatCode="#,##0" sourceLinked="0"/>
            <c:spPr>
              <a:noFill/>
              <a:ln>
                <a:noFill/>
              </a:ln>
              <a:effectLst/>
            </c:spPr>
            <c:txPr>
              <a:bodyPr/>
              <a:lstStyle/>
              <a:p>
                <a:pPr>
                  <a:defRPr sz="1200" b="0" i="0" u="none" strike="noStrike">
                    <a:solidFill>
                      <a:srgbClr val="000000"/>
                    </a:solidFill>
                    <a:latin typeface="Arial"/>
                  </a:defRPr>
                </a:pPr>
                <a:endParaRPr lang="ja-JP"/>
              </a:p>
            </c:tx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4"/>
                <c:pt idx="0">
                  <c:v>1.36</c:v>
                </c:pt>
                <c:pt idx="1">
                  <c:v>2.34</c:v>
                </c:pt>
                <c:pt idx="2">
                  <c:v>2.35</c:v>
                </c:pt>
                <c:pt idx="3">
                  <c:v>3.29</c:v>
                </c:pt>
              </c:numLit>
            </c:plus>
            <c:minus>
              <c:numLit>
                <c:formatCode>General</c:formatCode>
                <c:ptCount val="4"/>
                <c:pt idx="0">
                  <c:v>1.36</c:v>
                </c:pt>
                <c:pt idx="1">
                  <c:v>2.34</c:v>
                </c:pt>
                <c:pt idx="2">
                  <c:v>2.35</c:v>
                </c:pt>
                <c:pt idx="3">
                  <c:v>3.29</c:v>
                </c:pt>
              </c:numLit>
            </c:minus>
            <c:spPr>
              <a:ln w="9525">
                <a:solidFill>
                  <a:srgbClr val="595959"/>
                </a:solidFill>
              </a:ln>
            </c:spPr>
          </c:errBars>
          <c:cat>
            <c:strRef>
              <c:f>Sheet1!$A$2:$A$5</c:f>
              <c:strCache>
                <c:ptCount val="4"/>
                <c:pt idx="0">
                  <c:v>0か月</c:v>
                </c:pt>
                <c:pt idx="1">
                  <c:v>6か月</c:v>
                </c:pt>
                <c:pt idx="2">
                  <c:v>12か月</c:v>
                </c:pt>
                <c:pt idx="3">
                  <c:v>18か月</c:v>
                </c:pt>
              </c:strCache>
            </c:strRef>
          </c:cat>
          <c:val>
            <c:numRef>
              <c:f>Sheet1!$B$2:$B$5</c:f>
              <c:numCache>
                <c:formatCode>General</c:formatCode>
                <c:ptCount val="4"/>
                <c:pt idx="0">
                  <c:v>22.89</c:v>
                </c:pt>
                <c:pt idx="1">
                  <c:v>24.56</c:v>
                </c:pt>
                <c:pt idx="2">
                  <c:v>23.11</c:v>
                </c:pt>
                <c:pt idx="3">
                  <c:v>23.11</c:v>
                </c:pt>
              </c:numCache>
            </c:numRef>
          </c:val>
          <c:smooth val="0"/>
          <c:extLst>
            <c:ext xmlns:c16="http://schemas.microsoft.com/office/drawing/2014/chart" uri="{C3380CC4-5D6E-409C-BE32-E72D297353CC}">
              <c16:uniqueId val="{00000004-1DC9-4E81-886E-03E65A384508}"/>
            </c:ext>
          </c:extLst>
        </c:ser>
        <c:ser>
          <c:idx val="1"/>
          <c:order val="1"/>
          <c:tx>
            <c:strRef>
              <c:f>Sheet1!$C$1</c:f>
              <c:strCache>
                <c:ptCount val="1"/>
                <c:pt idx="0">
                  <c:v>改善訴えなし</c:v>
                </c:pt>
              </c:strCache>
            </c:strRef>
          </c:tx>
          <c:spPr>
            <a:ln w="28575" cap="flat">
              <a:solidFill>
                <a:srgbClr val="E97132"/>
              </a:solidFill>
              <a:prstDash val="solid"/>
              <a:round/>
            </a:ln>
            <a:effectLst/>
          </c:spPr>
          <c:marker>
            <c:symbol val="circle"/>
            <c:size val="7"/>
            <c:spPr>
              <a:solidFill>
                <a:srgbClr val="E97132"/>
              </a:solidFill>
              <a:ln w="9525" cap="flat">
                <a:solidFill>
                  <a:srgbClr val="E97132"/>
                </a:solidFill>
                <a:prstDash val="solid"/>
                <a:round/>
              </a:ln>
              <a:effectLst/>
            </c:spPr>
          </c:marker>
          <c:dLbls>
            <c:dLbl>
              <c:idx val="0"/>
              <c:tx>
                <c:rich>
                  <a:bodyPr/>
                  <a:lstStyle/>
                  <a:p>
                    <a:r>
                      <a:rPr lang="en-US" altLang="ja-JP" sz="1300" b="1">
                        <a:solidFill>
                          <a:srgbClr val="C55A11"/>
                        </a:solidFill>
                        <a:latin typeface="Arial"/>
                        <a:ea typeface="ＭＳ Ｐゴシック"/>
                      </a:rPr>
                      <a:t>24.25</a:t>
                    </a:r>
                  </a:p>
                  <a:p>
                    <a:r>
                      <a:rPr lang="en-US" altLang="ja-JP" sz="1000" b="0">
                        <a:solidFill>
                          <a:srgbClr val="C55A11"/>
                        </a:solidFill>
                        <a:latin typeface="Arial"/>
                        <a:ea typeface="ＭＳ Ｐゴシック"/>
                      </a:rPr>
                      <a:t>(n=20)</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DC9-4E81-886E-03E65A384508}"/>
                </c:ext>
              </c:extLst>
            </c:dLbl>
            <c:dLbl>
              <c:idx val="1"/>
              <c:layout>
                <c:manualLayout>
                  <c:x val="-2.7964136596746545E-2"/>
                  <c:y val="8.7835895513060869E-2"/>
                </c:manualLayout>
              </c:layout>
              <c:tx>
                <c:rich>
                  <a:bodyPr/>
                  <a:lstStyle/>
                  <a:p>
                    <a:r>
                      <a:rPr lang="en-US" altLang="ja-JP" sz="1300" b="1">
                        <a:solidFill>
                          <a:srgbClr val="C55A11"/>
                        </a:solidFill>
                        <a:latin typeface="Arial"/>
                        <a:ea typeface="ＭＳ Ｐゴシック"/>
                      </a:rPr>
                      <a:t>24.15</a:t>
                    </a:r>
                  </a:p>
                  <a:p>
                    <a:r>
                      <a:rPr lang="en-US" altLang="ja-JP" sz="1000" b="0">
                        <a:solidFill>
                          <a:srgbClr val="C55A11"/>
                        </a:solidFill>
                        <a:latin typeface="Arial"/>
                        <a:ea typeface="ＭＳ Ｐゴシック"/>
                      </a:rPr>
                      <a:t>(n=20)</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DC9-4E81-886E-03E65A384508}"/>
                </c:ext>
              </c:extLst>
            </c:dLbl>
            <c:dLbl>
              <c:idx val="2"/>
              <c:layout>
                <c:manualLayout>
                  <c:x val="-2.909331455519288E-2"/>
                  <c:y val="-9.5314287637122283E-2"/>
                </c:manualLayout>
              </c:layout>
              <c:tx>
                <c:rich>
                  <a:bodyPr/>
                  <a:lstStyle/>
                  <a:p>
                    <a:r>
                      <a:rPr lang="en-US" altLang="ja-JP" sz="1300" b="1">
                        <a:solidFill>
                          <a:srgbClr val="C55A11"/>
                        </a:solidFill>
                        <a:latin typeface="Arial"/>
                        <a:ea typeface="ＭＳ Ｐゴシック"/>
                      </a:rPr>
                      <a:t>23.84</a:t>
                    </a:r>
                  </a:p>
                  <a:p>
                    <a:r>
                      <a:rPr lang="en-US" altLang="ja-JP" sz="1000" b="0">
                        <a:solidFill>
                          <a:srgbClr val="C55A11"/>
                        </a:solidFill>
                        <a:latin typeface="Arial"/>
                        <a:ea typeface="ＭＳ Ｐゴシック"/>
                      </a:rPr>
                      <a:t>(n=19)</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DC9-4E81-886E-03E65A384508}"/>
                </c:ext>
              </c:extLst>
            </c:dLbl>
            <c:dLbl>
              <c:idx val="3"/>
              <c:tx>
                <c:rich>
                  <a:bodyPr/>
                  <a:lstStyle/>
                  <a:p>
                    <a:r>
                      <a:rPr lang="en-US" altLang="ja-JP" sz="1300" b="1">
                        <a:solidFill>
                          <a:srgbClr val="C55A11"/>
                        </a:solidFill>
                        <a:latin typeface="Arial"/>
                        <a:ea typeface="ＭＳ Ｐゴシック"/>
                      </a:rPr>
                      <a:t>23.50</a:t>
                    </a:r>
                  </a:p>
                  <a:p>
                    <a:r>
                      <a:rPr lang="en-US" altLang="ja-JP" sz="1000" b="0">
                        <a:solidFill>
                          <a:srgbClr val="C55A11"/>
                        </a:solidFill>
                        <a:latin typeface="Arial"/>
                        <a:ea typeface="ＭＳ Ｐゴシック"/>
                      </a:rPr>
                      <a:t>(n=20)</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DC9-4E81-886E-03E65A384508}"/>
                </c:ext>
              </c:extLst>
            </c:dLbl>
            <c:numFmt formatCode="#,##0" sourceLinked="0"/>
            <c:spPr>
              <a:noFill/>
              <a:ln>
                <a:noFill/>
              </a:ln>
              <a:effectLst/>
            </c:spPr>
            <c:txPr>
              <a:bodyPr/>
              <a:lstStyle/>
              <a:p>
                <a:pPr>
                  <a:defRPr sz="1200" b="0" i="0" u="none" strike="noStrike">
                    <a:solidFill>
                      <a:srgbClr val="000000"/>
                    </a:solidFill>
                    <a:latin typeface="Arial"/>
                  </a:defRPr>
                </a:pPr>
                <a:endParaRPr lang="ja-JP"/>
              </a:p>
            </c:tx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4"/>
                <c:pt idx="0">
                  <c:v>0.97</c:v>
                </c:pt>
                <c:pt idx="1">
                  <c:v>1.01</c:v>
                </c:pt>
                <c:pt idx="2">
                  <c:v>1.13</c:v>
                </c:pt>
                <c:pt idx="3">
                  <c:v>1.12</c:v>
                </c:pt>
              </c:numLit>
            </c:plus>
            <c:minus>
              <c:numLit>
                <c:formatCode>General</c:formatCode>
                <c:ptCount val="4"/>
                <c:pt idx="0">
                  <c:v>0.97</c:v>
                </c:pt>
                <c:pt idx="1">
                  <c:v>1.01</c:v>
                </c:pt>
                <c:pt idx="2">
                  <c:v>1.13</c:v>
                </c:pt>
                <c:pt idx="3">
                  <c:v>1.12</c:v>
                </c:pt>
              </c:numLit>
            </c:minus>
            <c:spPr>
              <a:ln w="9525">
                <a:solidFill>
                  <a:srgbClr val="595959"/>
                </a:solidFill>
              </a:ln>
            </c:spPr>
          </c:errBars>
          <c:cat>
            <c:strRef>
              <c:f>Sheet1!$A$2:$A$5</c:f>
              <c:strCache>
                <c:ptCount val="4"/>
                <c:pt idx="0">
                  <c:v>0か月</c:v>
                </c:pt>
                <c:pt idx="1">
                  <c:v>6か月</c:v>
                </c:pt>
                <c:pt idx="2">
                  <c:v>12か月</c:v>
                </c:pt>
                <c:pt idx="3">
                  <c:v>18か月</c:v>
                </c:pt>
              </c:strCache>
            </c:strRef>
          </c:cat>
          <c:val>
            <c:numRef>
              <c:f>Sheet1!$C$2:$C$5</c:f>
              <c:numCache>
                <c:formatCode>General</c:formatCode>
                <c:ptCount val="4"/>
                <c:pt idx="0">
                  <c:v>24.25</c:v>
                </c:pt>
                <c:pt idx="1">
                  <c:v>24.15</c:v>
                </c:pt>
                <c:pt idx="2">
                  <c:v>23.84</c:v>
                </c:pt>
                <c:pt idx="3">
                  <c:v>23.5</c:v>
                </c:pt>
              </c:numCache>
            </c:numRef>
          </c:val>
          <c:smooth val="0"/>
          <c:extLst>
            <c:ext xmlns:c16="http://schemas.microsoft.com/office/drawing/2014/chart" uri="{C3380CC4-5D6E-409C-BE32-E72D297353CC}">
              <c16:uniqueId val="{00000009-1DC9-4E81-886E-03E65A38450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27"/>
          <c:min val="20"/>
        </c:scaling>
        <c:delete val="0"/>
        <c:axPos val="l"/>
        <c:majorGridlines>
          <c:spPr>
            <a:ln w="9525" cap="flat">
              <a:solidFill>
                <a:srgbClr val="E1E0D9"/>
              </a:solidFill>
              <a:prstDash val="dash"/>
              <a:round/>
            </a:ln>
          </c:spPr>
        </c:majorGridlines>
        <c:title>
          <c:tx>
            <c:rich>
              <a:bodyPr/>
              <a:lstStyle/>
              <a:p>
                <a:pPr>
                  <a:defRPr sz="1300" b="0" i="0" u="none" strike="noStrike">
                    <a:solidFill>
                      <a:srgbClr val="000000"/>
                    </a:solidFill>
                    <a:latin typeface="Arial"/>
                  </a:defRPr>
                </a:pPr>
                <a:r>
                  <a:rPr lang="en-US" sz="1300" b="0" i="0" u="none" strike="noStrike">
                    <a:solidFill>
                      <a:srgbClr val="000000"/>
                    </a:solidFill>
                    <a:latin typeface="Arial"/>
                  </a:rPr>
                  <a:t>MMSE</a:t>
                </a:r>
                <a:r>
                  <a:rPr lang="ja-JP" altLang="en-US" sz="1300" b="0" i="0" u="none" strike="noStrike">
                    <a:solidFill>
                      <a:srgbClr val="000000"/>
                    </a:solidFill>
                    <a:latin typeface="Arial"/>
                  </a:rPr>
                  <a:t>実測値（点）</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000000"/>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改善訴えなし 個別症例</c:v>
                </c:pt>
              </c:strCache>
            </c:strRef>
          </c:tx>
          <c:spPr>
            <a:ln>
              <a:noFill/>
            </a:ln>
          </c:spPr>
          <c:marker>
            <c:symbol val="circle"/>
            <c:size val="5"/>
            <c:spPr>
              <a:solidFill>
                <a:srgbClr val="2E75B6">
                  <a:alpha val="65000"/>
                </a:srgbClr>
              </a:solidFill>
              <a:ln>
                <a:noFill/>
              </a:ln>
            </c:spPr>
          </c:marker>
          <c:xVal>
            <c:numRef>
              <c:f>Sheet1!$A$2:$A$60</c:f>
              <c:numCache>
                <c:formatCode>General</c:formatCode>
                <c:ptCount val="59"/>
                <c:pt idx="0">
                  <c:v>5.662</c:v>
                </c:pt>
                <c:pt idx="1">
                  <c:v>12.202</c:v>
                </c:pt>
                <c:pt idx="2">
                  <c:v>18.349</c:v>
                </c:pt>
                <c:pt idx="3">
                  <c:v>5.738</c:v>
                </c:pt>
                <c:pt idx="4">
                  <c:v>12.343</c:v>
                </c:pt>
                <c:pt idx="5">
                  <c:v>18.111</c:v>
                </c:pt>
                <c:pt idx="6">
                  <c:v>5.901</c:v>
                </c:pt>
                <c:pt idx="7">
                  <c:v>11.975</c:v>
                </c:pt>
                <c:pt idx="8">
                  <c:v>18.225</c:v>
                </c:pt>
                <c:pt idx="9">
                  <c:v>6.244</c:v>
                </c:pt>
                <c:pt idx="10">
                  <c:v>11.79</c:v>
                </c:pt>
                <c:pt idx="11">
                  <c:v>17.686</c:v>
                </c:pt>
                <c:pt idx="12">
                  <c:v>5.996</c:v>
                </c:pt>
                <c:pt idx="13">
                  <c:v>11.671</c:v>
                </c:pt>
                <c:pt idx="14">
                  <c:v>18.326</c:v>
                </c:pt>
                <c:pt idx="15">
                  <c:v>6.325</c:v>
                </c:pt>
                <c:pt idx="16">
                  <c:v>12.11</c:v>
                </c:pt>
                <c:pt idx="17">
                  <c:v>17.982</c:v>
                </c:pt>
                <c:pt idx="18">
                  <c:v>6.057</c:v>
                </c:pt>
                <c:pt idx="19">
                  <c:v>18.287</c:v>
                </c:pt>
                <c:pt idx="20">
                  <c:v>5.967</c:v>
                </c:pt>
                <c:pt idx="21">
                  <c:v>12.002</c:v>
                </c:pt>
                <c:pt idx="22">
                  <c:v>17.987</c:v>
                </c:pt>
                <c:pt idx="23">
                  <c:v>6.291</c:v>
                </c:pt>
                <c:pt idx="24">
                  <c:v>11.836</c:v>
                </c:pt>
                <c:pt idx="25">
                  <c:v>17.673</c:v>
                </c:pt>
                <c:pt idx="26">
                  <c:v>5.805</c:v>
                </c:pt>
                <c:pt idx="27">
                  <c:v>11.966</c:v>
                </c:pt>
                <c:pt idx="28">
                  <c:v>17.793</c:v>
                </c:pt>
                <c:pt idx="29">
                  <c:v>5.981</c:v>
                </c:pt>
                <c:pt idx="30">
                  <c:v>12.326</c:v>
                </c:pt>
                <c:pt idx="31">
                  <c:v>17.659</c:v>
                </c:pt>
                <c:pt idx="32">
                  <c:v>5.691</c:v>
                </c:pt>
                <c:pt idx="33">
                  <c:v>12.063</c:v>
                </c:pt>
                <c:pt idx="34">
                  <c:v>18.254</c:v>
                </c:pt>
                <c:pt idx="35">
                  <c:v>5.76</c:v>
                </c:pt>
                <c:pt idx="36">
                  <c:v>12.188</c:v>
                </c:pt>
                <c:pt idx="37">
                  <c:v>18.264</c:v>
                </c:pt>
                <c:pt idx="38">
                  <c:v>5.746</c:v>
                </c:pt>
                <c:pt idx="39">
                  <c:v>11.833</c:v>
                </c:pt>
                <c:pt idx="40">
                  <c:v>18.293</c:v>
                </c:pt>
                <c:pt idx="41">
                  <c:v>6.225</c:v>
                </c:pt>
                <c:pt idx="42">
                  <c:v>11.996</c:v>
                </c:pt>
                <c:pt idx="43">
                  <c:v>17.994</c:v>
                </c:pt>
                <c:pt idx="44">
                  <c:v>5.903</c:v>
                </c:pt>
                <c:pt idx="45">
                  <c:v>11.716</c:v>
                </c:pt>
                <c:pt idx="46">
                  <c:v>18.012</c:v>
                </c:pt>
                <c:pt idx="47">
                  <c:v>6.344</c:v>
                </c:pt>
                <c:pt idx="48">
                  <c:v>12.339</c:v>
                </c:pt>
                <c:pt idx="49">
                  <c:v>17.925</c:v>
                </c:pt>
                <c:pt idx="50">
                  <c:v>5.726</c:v>
                </c:pt>
                <c:pt idx="51">
                  <c:v>11.804</c:v>
                </c:pt>
                <c:pt idx="52">
                  <c:v>17.748</c:v>
                </c:pt>
                <c:pt idx="53">
                  <c:v>5.737</c:v>
                </c:pt>
                <c:pt idx="54">
                  <c:v>11.686</c:v>
                </c:pt>
                <c:pt idx="55">
                  <c:v>17.884</c:v>
                </c:pt>
                <c:pt idx="56">
                  <c:v>6.138</c:v>
                </c:pt>
                <c:pt idx="57">
                  <c:v>11.822</c:v>
                </c:pt>
                <c:pt idx="58">
                  <c:v>18.068</c:v>
                </c:pt>
              </c:numCache>
            </c:numRef>
          </c:xVal>
          <c:yVal>
            <c:numRef>
              <c:f>Sheet1!$B$2:$B$60</c:f>
              <c:numCache>
                <c:formatCode>General</c:formatCode>
                <c:ptCount val="59"/>
                <c:pt idx="0">
                  <c:v>3.0</c:v>
                </c:pt>
                <c:pt idx="1">
                  <c:v>3.0</c:v>
                </c:pt>
                <c:pt idx="2">
                  <c:v>4.0</c:v>
                </c:pt>
                <c:pt idx="3">
                  <c:v>3.0</c:v>
                </c:pt>
                <c:pt idx="4">
                  <c:v>2.0</c:v>
                </c:pt>
                <c:pt idx="5">
                  <c:v>2.0</c:v>
                </c:pt>
                <c:pt idx="6">
                  <c:v>-6.0</c:v>
                </c:pt>
                <c:pt idx="7">
                  <c:v>-6.0</c:v>
                </c:pt>
                <c:pt idx="8">
                  <c:v>-9.0</c:v>
                </c:pt>
                <c:pt idx="9">
                  <c:v>0.0</c:v>
                </c:pt>
                <c:pt idx="10">
                  <c:v>3.0</c:v>
                </c:pt>
                <c:pt idx="11">
                  <c:v>1.0</c:v>
                </c:pt>
                <c:pt idx="12">
                  <c:v>2.0</c:v>
                </c:pt>
                <c:pt idx="13">
                  <c:v>-1.0</c:v>
                </c:pt>
                <c:pt idx="14">
                  <c:v>1.0</c:v>
                </c:pt>
                <c:pt idx="15">
                  <c:v>1.0</c:v>
                </c:pt>
                <c:pt idx="16">
                  <c:v>-1.0</c:v>
                </c:pt>
                <c:pt idx="17">
                  <c:v>-2.0</c:v>
                </c:pt>
                <c:pt idx="18">
                  <c:v>0.0</c:v>
                </c:pt>
                <c:pt idx="19">
                  <c:v>0.0</c:v>
                </c:pt>
                <c:pt idx="20">
                  <c:v>1.0</c:v>
                </c:pt>
                <c:pt idx="21">
                  <c:v>0.0</c:v>
                </c:pt>
                <c:pt idx="22">
                  <c:v>-1.0</c:v>
                </c:pt>
                <c:pt idx="23">
                  <c:v>-2.0</c:v>
                </c:pt>
                <c:pt idx="24">
                  <c:v>-1.0</c:v>
                </c:pt>
                <c:pt idx="25">
                  <c:v>-3.0</c:v>
                </c:pt>
                <c:pt idx="26">
                  <c:v>0.0</c:v>
                </c:pt>
                <c:pt idx="27">
                  <c:v>-2.0</c:v>
                </c:pt>
                <c:pt idx="28">
                  <c:v>1.0</c:v>
                </c:pt>
                <c:pt idx="29">
                  <c:v>-2.0</c:v>
                </c:pt>
                <c:pt idx="30">
                  <c:v>-2.0</c:v>
                </c:pt>
                <c:pt idx="31">
                  <c:v>-3.0</c:v>
                </c:pt>
                <c:pt idx="32">
                  <c:v>-2.0</c:v>
                </c:pt>
                <c:pt idx="33">
                  <c:v>0.0</c:v>
                </c:pt>
                <c:pt idx="34">
                  <c:v>-1.0</c:v>
                </c:pt>
                <c:pt idx="35">
                  <c:v>2.0</c:v>
                </c:pt>
                <c:pt idx="36">
                  <c:v>2.0</c:v>
                </c:pt>
                <c:pt idx="37">
                  <c:v>-1.0</c:v>
                </c:pt>
                <c:pt idx="38">
                  <c:v>1.0</c:v>
                </c:pt>
                <c:pt idx="39">
                  <c:v>3.0</c:v>
                </c:pt>
                <c:pt idx="40">
                  <c:v>1.0</c:v>
                </c:pt>
                <c:pt idx="41">
                  <c:v>-1.0</c:v>
                </c:pt>
                <c:pt idx="42">
                  <c:v>0.0</c:v>
                </c:pt>
                <c:pt idx="43">
                  <c:v>0.0</c:v>
                </c:pt>
                <c:pt idx="44">
                  <c:v>2.0</c:v>
                </c:pt>
                <c:pt idx="45">
                  <c:v>2.0</c:v>
                </c:pt>
                <c:pt idx="46">
                  <c:v>2.0</c:v>
                </c:pt>
                <c:pt idx="47">
                  <c:v>-2.0</c:v>
                </c:pt>
                <c:pt idx="48">
                  <c:v>-4.0</c:v>
                </c:pt>
                <c:pt idx="49">
                  <c:v>-5.0</c:v>
                </c:pt>
                <c:pt idx="50">
                  <c:v>1.0</c:v>
                </c:pt>
                <c:pt idx="51">
                  <c:v>-3.0</c:v>
                </c:pt>
                <c:pt idx="52">
                  <c:v>0.0</c:v>
                </c:pt>
                <c:pt idx="53">
                  <c:v>-1.0</c:v>
                </c:pt>
                <c:pt idx="54">
                  <c:v>-1.0</c:v>
                </c:pt>
                <c:pt idx="55">
                  <c:v>0.0</c:v>
                </c:pt>
                <c:pt idx="56">
                  <c:v>-2.0</c:v>
                </c:pt>
                <c:pt idx="57">
                  <c:v>-4.0</c:v>
                </c:pt>
                <c:pt idx="58">
                  <c:v>-2.0</c:v>
                </c:pt>
              </c:numCache>
            </c:numRef>
          </c:yVal>
          <c:smooth val="0"/>
        </c:ser>
        <c:ser>
          <c:idx val="1"/>
          <c:order val="1"/>
          <c:tx>
            <c:strRef>
              <c:f>Sheet1!$B$62</c:f>
              <c:strCache>
                <c:ptCount val="1"/>
                <c:pt idx="0">
                  <c:v>改善訴えあり 個別症例</c:v>
                </c:pt>
              </c:strCache>
            </c:strRef>
          </c:tx>
          <c:spPr>
            <a:ln>
              <a:noFill/>
            </a:ln>
          </c:spPr>
          <c:marker>
            <c:symbol val="circle"/>
            <c:size val="5"/>
            <c:spPr>
              <a:solidFill>
                <a:srgbClr val="C00000">
                  <a:alpha val="65000"/>
                </a:srgbClr>
              </a:solidFill>
              <a:ln>
                <a:noFill/>
              </a:ln>
            </c:spPr>
          </c:marker>
          <c:xVal>
            <c:numRef>
              <c:f>Sheet1!$A$63:$A$89</c:f>
              <c:numCache>
                <c:formatCode>General</c:formatCode>
                <c:ptCount val="27"/>
                <c:pt idx="0">
                  <c:v>5.669</c:v>
                </c:pt>
                <c:pt idx="1">
                  <c:v>11.915</c:v>
                </c:pt>
                <c:pt idx="2">
                  <c:v>17.755</c:v>
                </c:pt>
                <c:pt idx="3">
                  <c:v>5.776</c:v>
                </c:pt>
                <c:pt idx="4">
                  <c:v>11.845</c:v>
                </c:pt>
                <c:pt idx="5">
                  <c:v>18.208</c:v>
                </c:pt>
                <c:pt idx="6">
                  <c:v>5.673</c:v>
                </c:pt>
                <c:pt idx="7">
                  <c:v>12.166</c:v>
                </c:pt>
                <c:pt idx="8">
                  <c:v>17.859</c:v>
                </c:pt>
                <c:pt idx="9">
                  <c:v>6.166</c:v>
                </c:pt>
                <c:pt idx="10">
                  <c:v>11.935</c:v>
                </c:pt>
                <c:pt idx="11">
                  <c:v>17.757</c:v>
                </c:pt>
                <c:pt idx="12">
                  <c:v>6.231</c:v>
                </c:pt>
                <c:pt idx="13">
                  <c:v>11.768</c:v>
                </c:pt>
                <c:pt idx="14">
                  <c:v>18.285</c:v>
                </c:pt>
                <c:pt idx="15">
                  <c:v>6.033</c:v>
                </c:pt>
                <c:pt idx="16">
                  <c:v>12.129</c:v>
                </c:pt>
                <c:pt idx="17">
                  <c:v>17.845</c:v>
                </c:pt>
                <c:pt idx="18">
                  <c:v>5.917</c:v>
                </c:pt>
                <c:pt idx="19">
                  <c:v>12.2</c:v>
                </c:pt>
                <c:pt idx="20">
                  <c:v>18.271</c:v>
                </c:pt>
                <c:pt idx="21">
                  <c:v>5.759</c:v>
                </c:pt>
                <c:pt idx="22">
                  <c:v>11.716</c:v>
                </c:pt>
                <c:pt idx="23">
                  <c:v>17.727</c:v>
                </c:pt>
                <c:pt idx="24">
                  <c:v>5.924</c:v>
                </c:pt>
                <c:pt idx="25">
                  <c:v>12.083</c:v>
                </c:pt>
                <c:pt idx="26">
                  <c:v>18.237</c:v>
                </c:pt>
              </c:numCache>
            </c:numRef>
          </c:xVal>
          <c:yVal>
            <c:numRef>
              <c:f>Sheet1!$B$63:$B$89</c:f>
              <c:numCache>
                <c:formatCode>General</c:formatCode>
                <c:ptCount val="27"/>
                <c:pt idx="0">
                  <c:v>4.0</c:v>
                </c:pt>
                <c:pt idx="1">
                  <c:v>1.0</c:v>
                </c:pt>
                <c:pt idx="2">
                  <c:v>4.0</c:v>
                </c:pt>
                <c:pt idx="3">
                  <c:v>5.0</c:v>
                </c:pt>
                <c:pt idx="4">
                  <c:v>5.0</c:v>
                </c:pt>
                <c:pt idx="5">
                  <c:v>3.0</c:v>
                </c:pt>
                <c:pt idx="6">
                  <c:v>-1.0</c:v>
                </c:pt>
                <c:pt idx="7">
                  <c:v>0.0</c:v>
                </c:pt>
                <c:pt idx="8">
                  <c:v>1.0</c:v>
                </c:pt>
                <c:pt idx="9">
                  <c:v>2.0</c:v>
                </c:pt>
                <c:pt idx="10">
                  <c:v>-1.0</c:v>
                </c:pt>
                <c:pt idx="11">
                  <c:v>-1.0</c:v>
                </c:pt>
                <c:pt idx="12">
                  <c:v>0.0</c:v>
                </c:pt>
                <c:pt idx="13">
                  <c:v>-5.0</c:v>
                </c:pt>
                <c:pt idx="14">
                  <c:v>-8.0</c:v>
                </c:pt>
                <c:pt idx="15">
                  <c:v>6.0</c:v>
                </c:pt>
                <c:pt idx="16">
                  <c:v>4.0</c:v>
                </c:pt>
                <c:pt idx="17">
                  <c:v>5.0</c:v>
                </c:pt>
                <c:pt idx="18">
                  <c:v>2.0</c:v>
                </c:pt>
                <c:pt idx="19">
                  <c:v>-1.0</c:v>
                </c:pt>
                <c:pt idx="20">
                  <c:v>1.0</c:v>
                </c:pt>
                <c:pt idx="21">
                  <c:v>2.0</c:v>
                </c:pt>
                <c:pt idx="22">
                  <c:v>3.0</c:v>
                </c:pt>
                <c:pt idx="23">
                  <c:v>4.0</c:v>
                </c:pt>
                <c:pt idx="24">
                  <c:v>-5.0</c:v>
                </c:pt>
                <c:pt idx="25">
                  <c:v>-4.0</c:v>
                </c:pt>
                <c:pt idx="26">
                  <c:v>-7.0</c:v>
                </c:pt>
              </c:numCache>
            </c:numRef>
          </c:yVal>
          <c:smooth val="0"/>
        </c:ser>
        <c:ser>
          <c:idx val="2"/>
          <c:order val="2"/>
          <c:tx>
            <c:strRef>
              <c:f>Sheet1!$B$91</c:f>
              <c:strCache>
                <c:ptCount val="1"/>
                <c:pt idx="0">
                  <c:v>改善訴えあり 群平均 (n=9)</c:v>
                </c:pt>
              </c:strCache>
            </c:strRef>
          </c:tx>
          <c:spPr>
            <a:ln w="35560">
              <a:solidFill>
                <a:srgbClr val="C00000"/>
              </a:solidFill>
            </a:ln>
          </c:spPr>
          <c:marker>
            <c:symbol val="circle"/>
            <c:size val="9"/>
            <c:spPr>
              <a:solidFill>
                <a:srgbClr val="C00000"/>
              </a:solidFill>
              <a:ln w="15240">
                <a:solidFill>
                  <a:srgbClr val="FFFFFF"/>
                </a:solidFill>
              </a:ln>
            </c:spPr>
          </c:marker>
          <c:errBars>
            <c:errDir val="y"/>
            <c:errBarType val="both"/>
            <c:errValType val="cust"/>
            <c:noEndCap val="0"/>
            <c:plus>
              <c:numLit>
                <c:formatCode>General</c:formatCode>
                <c:ptCount val="3"/>
                <c:pt idx="0">
                  <c:v>2.5781910013560654</c:v>
                </c:pt>
                <c:pt idx="1">
                  <c:v>2.628624942802172</c:v>
                </c:pt>
                <c:pt idx="2">
                  <c:v>3.6618335965084388</c:v>
                </c:pt>
              </c:numLit>
            </c:plus>
            <c:minus>
              <c:numLit>
                <c:formatCode>General</c:formatCode>
                <c:ptCount val="3"/>
                <c:pt idx="0">
                  <c:v>2.5781910013560654</c:v>
                </c:pt>
                <c:pt idx="1">
                  <c:v>2.628624942802172</c:v>
                </c:pt>
                <c:pt idx="2">
                  <c:v>3.6618335965084388</c:v>
                </c:pt>
              </c:numLit>
            </c:minus>
            <c:spPr>
              <a:ln w="9525">
                <a:solidFill>
                  <a:srgbClr val="C00000"/>
                </a:solidFill>
              </a:ln>
            </c:spPr>
          </c:errBars>
          <c:xVal>
            <c:numRef>
              <c:f>Sheet1!$A$92:$A$94</c:f>
              <c:numCache>
                <c:formatCode>General</c:formatCode>
                <c:ptCount val="3"/>
                <c:pt idx="0">
                  <c:v>6</c:v>
                </c:pt>
                <c:pt idx="1">
                  <c:v>12</c:v>
                </c:pt>
                <c:pt idx="2">
                  <c:v>18</c:v>
                </c:pt>
              </c:numCache>
            </c:numRef>
          </c:xVal>
          <c:yVal>
            <c:numRef>
              <c:f>Sheet1!$B$92:$B$94</c:f>
              <c:numCache>
                <c:formatCode>General</c:formatCode>
                <c:ptCount val="3"/>
                <c:pt idx="0">
                  <c:v>1.667</c:v>
                </c:pt>
                <c:pt idx="1">
                  <c:v>0.222</c:v>
                </c:pt>
                <c:pt idx="2">
                  <c:v>0.222</c:v>
                </c:pt>
              </c:numCache>
            </c:numRef>
          </c:yVal>
          <c:smooth val="0"/>
        </c:ser>
        <c:ser>
          <c:idx val="3"/>
          <c:order val="3"/>
          <c:tx>
            <c:strRef>
              <c:f>Sheet1!$B$96</c:f>
              <c:strCache>
                <c:ptCount val="1"/>
                <c:pt idx="0">
                  <c:v>改善訴えなし 群平均 (n=20)</c:v>
                </c:pt>
              </c:strCache>
            </c:strRef>
          </c:tx>
          <c:spPr>
            <a:ln w="35560">
              <a:solidFill>
                <a:srgbClr val="2E75B6"/>
              </a:solidFill>
            </a:ln>
          </c:spPr>
          <c:marker>
            <c:symbol val="circle"/>
            <c:size val="9"/>
            <c:spPr>
              <a:solidFill>
                <a:srgbClr val="2E75B6"/>
              </a:solidFill>
              <a:ln w="15240">
                <a:solidFill>
                  <a:srgbClr val="FFFFFF"/>
                </a:solidFill>
              </a:ln>
            </c:spPr>
          </c:marker>
          <c:errBars>
            <c:errDir val="y"/>
            <c:errBarType val="both"/>
            <c:errValType val="cust"/>
            <c:noEndCap val="0"/>
            <c:plus>
              <c:numLit>
                <c:formatCode>General</c:formatCode>
                <c:ptCount val="3"/>
                <c:pt idx="0">
                  <c:v>1.0287355828190494</c:v>
                </c:pt>
                <c:pt idx="1">
                  <c:v>1.258590231614355</c:v>
                </c:pt>
                <c:pt idx="2">
                  <c:v>1.3226555881130622</c:v>
                </c:pt>
              </c:numLit>
            </c:plus>
            <c:minus>
              <c:numLit>
                <c:formatCode>General</c:formatCode>
                <c:ptCount val="3"/>
                <c:pt idx="0">
                  <c:v>1.0287355828190494</c:v>
                </c:pt>
                <c:pt idx="1">
                  <c:v>1.258590231614355</c:v>
                </c:pt>
                <c:pt idx="2">
                  <c:v>1.3226555881130622</c:v>
                </c:pt>
              </c:numLit>
            </c:minus>
            <c:spPr>
              <a:ln w="9525">
                <a:solidFill>
                  <a:srgbClr val="2E75B6"/>
                </a:solidFill>
              </a:ln>
            </c:spPr>
          </c:errBars>
          <c:xVal>
            <c:numRef>
              <c:f>Sheet1!$A$97:$A$99</c:f>
              <c:numCache>
                <c:formatCode>General</c:formatCode>
                <c:ptCount val="3"/>
                <c:pt idx="0">
                  <c:v>6</c:v>
                </c:pt>
                <c:pt idx="1">
                  <c:v>12</c:v>
                </c:pt>
                <c:pt idx="2">
                  <c:v>18</c:v>
                </c:pt>
              </c:numCache>
            </c:numRef>
          </c:xVal>
          <c:yVal>
            <c:numRef>
              <c:f>Sheet1!$B$97:$B$99</c:f>
              <c:numCache>
                <c:formatCode>General</c:formatCode>
                <c:ptCount val="3"/>
                <c:pt idx="0">
                  <c:v>-0.1</c:v>
                </c:pt>
                <c:pt idx="1">
                  <c:v>-0.526</c:v>
                </c:pt>
                <c:pt idx="2">
                  <c:v>-0.75</c:v>
                </c:pt>
              </c:numCache>
            </c:numRef>
          </c:yVal>
          <c:smooth val="0"/>
        </c:ser>
        <c:ser>
          <c:idx val="4"/>
          <c:order val="4"/>
          <c:tx>
            <c:strRef>
              <c:f>Sheet1!$B$101</c:f>
              <c:strCache>
                <c:ptCount val="1"/>
                <c:pt idx="0">
                  <c:v>参照帯上限（年−1.01点の低下相当）</c:v>
                </c:pt>
              </c:strCache>
            </c:strRef>
          </c:tx>
          <c:spPr>
            <a:ln w="13970">
              <a:solidFill>
                <a:srgbClr val="888888"/>
              </a:solidFill>
              <a:prstDash val="dash"/>
            </a:ln>
          </c:spPr>
          <c:marker>
            <c:symbol val="none"/>
          </c:marker>
          <c:xVal>
            <c:numRef>
              <c:f>Sheet1!$A$102:$A$104</c:f>
              <c:numCache>
                <c:formatCode>General</c:formatCode>
                <c:ptCount val="3"/>
                <c:pt idx="0">
                  <c:v>6</c:v>
                </c:pt>
                <c:pt idx="1">
                  <c:v>12</c:v>
                </c:pt>
                <c:pt idx="2">
                  <c:v>18</c:v>
                </c:pt>
              </c:numCache>
            </c:numRef>
          </c:xVal>
          <c:yVal>
            <c:numRef>
              <c:f>Sheet1!$B$102:$B$104</c:f>
              <c:numCache>
                <c:formatCode>General</c:formatCode>
                <c:ptCount val="3"/>
                <c:pt idx="0">
                  <c:v>-0.155</c:v>
                </c:pt>
                <c:pt idx="1">
                  <c:v>-0.66</c:v>
                </c:pt>
                <c:pt idx="2">
                  <c:v>-1.165</c:v>
                </c:pt>
              </c:numCache>
            </c:numRef>
          </c:yVal>
          <c:smooth val="0"/>
        </c:ser>
        <c:ser>
          <c:idx val="5"/>
          <c:order val="5"/>
          <c:tx>
            <c:strRef>
              <c:f>Sheet1!$B$106</c:f>
              <c:strCache>
                <c:ptCount val="1"/>
                <c:pt idx="0">
                  <c:v>参照帯下限</c:v>
                </c:pt>
              </c:strCache>
            </c:strRef>
          </c:tx>
          <c:spPr>
            <a:ln w="13970">
              <a:solidFill>
                <a:srgbClr val="888888"/>
              </a:solidFill>
              <a:prstDash val="dash"/>
            </a:ln>
          </c:spPr>
          <c:marker>
            <c:symbol val="none"/>
          </c:marker>
          <c:xVal>
            <c:numRef>
              <c:f>Sheet1!$A$107:$A$109</c:f>
              <c:numCache>
                <c:formatCode>General</c:formatCode>
                <c:ptCount val="3"/>
                <c:pt idx="0">
                  <c:v>6</c:v>
                </c:pt>
                <c:pt idx="1">
                  <c:v>12</c:v>
                </c:pt>
                <c:pt idx="2">
                  <c:v>18</c:v>
                </c:pt>
              </c:numCache>
            </c:numRef>
          </c:xVal>
          <c:yVal>
            <c:numRef>
              <c:f>Sheet1!$B$107:$B$109</c:f>
              <c:numCache>
                <c:formatCode>General</c:formatCode>
                <c:ptCount val="3"/>
                <c:pt idx="0">
                  <c:v>-0.855</c:v>
                </c:pt>
                <c:pt idx="1">
                  <c:v>-1.36</c:v>
                </c:pt>
                <c:pt idx="2">
                  <c:v>-1.865</c:v>
                </c:pt>
              </c:numCache>
            </c:numRef>
          </c:yVal>
          <c:smooth val="0"/>
        </c:ser>
        <c:ser>
          <c:idx val="6"/>
          <c:order val="6"/>
          <c:tx>
            <c:strRef>
              <c:f>Sheet1!$B$111</c:f>
              <c:strCache>
                <c:ptCount val="1"/>
                <c:pt idx="0">
                  <c:v>Δ=0</c:v>
                </c:pt>
              </c:strCache>
            </c:strRef>
          </c:tx>
          <c:spPr>
            <a:ln w="12700">
              <a:solidFill>
                <a:srgbClr val="404040"/>
              </a:solidFill>
            </a:ln>
          </c:spPr>
          <c:marker>
            <c:symbol val="none"/>
          </c:marker>
          <c:xVal>
            <c:numRef>
              <c:f>Sheet1!$A$112:$A$113</c:f>
              <c:numCache>
                <c:formatCode>General</c:formatCode>
                <c:ptCount val="2"/>
                <c:pt idx="0">
                  <c:v>0</c:v>
                </c:pt>
                <c:pt idx="1">
                  <c:v>24</c:v>
                </c:pt>
              </c:numCache>
            </c:numRef>
          </c:xVal>
          <c:yVal>
            <c:numRef>
              <c:f>Sheet1!$B$112:$B$113</c:f>
              <c:numCache>
                <c:formatCode>General</c:formatCode>
                <c:ptCount val="2"/>
                <c:pt idx="0">
                  <c:v>0</c:v>
                </c:pt>
                <c:pt idx="1">
                  <c:v>0</c:v>
                </c:pt>
              </c:numCache>
            </c:numRef>
          </c:yVal>
          <c:smooth val="0"/>
        </c:ser>
        <c:axId val="-2128940872"/>
        <c:axId val="-2129643912"/>
      </c:scatterChart>
      <c:valAx>
        <c:axId val="-2128940872"/>
        <c:scaling>
          <c:orientation val="minMax"/>
          <c:max val="24.0"/>
          <c:min val="0.0"/>
        </c:scaling>
        <c:delete val="0"/>
        <c:axPos val="b"/>
        <c:majorGridlines>
          <c:spPr>
            <a:ln w="9525">
              <a:solidFill>
                <a:srgbClr val="E1E0D9"/>
              </a:solidFill>
              <a:prstDash val="dash"/>
            </a:ln>
          </c:spPr>
        </c:majorGridlines>
        <c:title>
          <c:tx>
            <c:rich>
              <a:bodyPr/>
              <a:lstStyle/>
              <a:p>
                <a:r>
                  <a:rPr sz="1200">
                    <a:solidFill>
                      <a:srgbClr val="000000"/>
                    </a:solidFill>
                    <a:latin typeface="Arial"/>
                  </a:rPr>
                  <a:t>レカネマブ投与開始からの経過時点（か月）</a:t>
                </a:r>
              </a:p>
            </c:rich>
          </c:tx>
          <c:layout/>
          <c:overlay val="0"/>
        </c:title>
        <c:numFmt formatCode="General" sourceLinked="1"/>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29643912"/>
        <c:crosses val="autoZero"/>
        <c:crossBetween val="midCat"/>
        <c:majorUnit val="6.0"/>
      </c:valAx>
      <c:valAx>
        <c:axId val="-2129643912"/>
        <c:scaling>
          <c:orientation val="minMax"/>
          <c:max val="10.0"/>
          <c:min val="-10.0"/>
        </c:scaling>
        <c:delete val="0"/>
        <c:axPos val="l"/>
        <c:majorGridlines>
          <c:spPr>
            <a:ln w="9525">
              <a:solidFill>
                <a:srgbClr val="E1E0D9"/>
              </a:solidFill>
              <a:prstDash val="dash"/>
            </a:ln>
          </c:spPr>
        </c:majorGridlines>
        <c:title>
          <c:tx>
            <c:rich>
              <a:bodyPr/>
              <a:lstStyle/>
              <a:p>
                <a:r>
                  <a:rPr sz="1200">
                    <a:solidFill>
                      <a:srgbClr val="000000"/>
                    </a:solidFill>
                    <a:latin typeface="Arial"/>
                  </a:rPr>
                  <a:t>Δ MMSE（ベースラインからの変化量、点）</a:t>
                </a:r>
              </a:p>
            </c:rich>
          </c:tx>
          <c:layout/>
          <c:overlay val="0"/>
        </c:title>
        <c:numFmt formatCode="General" sourceLinked="1"/>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28940872"/>
        <c:crosses val="autoZero"/>
        <c:crossBetween val="midCat"/>
        <c:majorUnit val="2.0"/>
      </c:valAx>
    </c:plotArea>
    <c:legend>
      <c:legendPos val="b"/>
      <c:legendEntry>
        <c:idx val="6"/>
        <c:delete val="1"/>
      </c:legendEntry>
      <c:legendEntry>
        <c:idx val="5"/>
        <c:delete val="1"/>
      </c:legendEntry>
      <c:legendEntry>
        <c:idx val="4"/>
        <c:delete val="1"/>
      </c:legendEntry>
      <c:layout/>
      <c:overlay val="0"/>
      <c:txPr>
        <a:bodyPr/>
        <a:lstStyle/>
        <a:p>
          <a:pPr>
            <a:defRPr sz="1100">
              <a:solidFill>
                <a:srgbClr val="000000"/>
              </a:solidFill>
              <a:latin typeface="Arial"/>
            </a:defRPr>
          </a:pPr>
        </a:p>
      </c:txPr>
    </c:legend>
    <c:plotVisOnly val="1"/>
    <c:dispBlanksAs val="gap"/>
    <c:showDLblsOverMax val="0"/>
  </c:chart>
  <c:txPr>
    <a:bodyPr/>
    <a:lstStyle/>
    <a:p>
      <a:pPr>
        <a:defRPr sz="1200">
          <a:solidFill>
            <a:srgbClr val="00000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L7（訴えなし）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Sheet1!$B$2:$B$5</c:f>
              <c:numCache>
                <c:formatCode>General</c:formatCode>
                <c:ptCount val="4"/>
                <c:pt idx="0">
                  <c:v>22.0</c:v>
                </c:pt>
                <c:pt idx="1">
                  <c:v>25.0</c:v>
                </c:pt>
                <c:pt idx="2">
                  <c:v>25.0</c:v>
                </c:pt>
                <c:pt idx="3">
                  <c:v>26.0</c:v>
                </c:pt>
              </c:numCache>
            </c:numRef>
          </c:val>
          <c:smooth val="0"/>
        </c:ser>
        <c:ser>
          <c:idx val="1"/>
          <c:order val="1"/>
          <c:tx>
            <c:strRef>
              <c:f>Sheet1!$C$1</c:f>
              <c:strCache>
                <c:ptCount val="1"/>
                <c:pt idx="0">
                  <c:v>L9（訴えなし）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Sheet1!$C$2:$C$5</c:f>
              <c:numCache>
                <c:formatCode>General</c:formatCode>
                <c:ptCount val="4"/>
                <c:pt idx="0">
                  <c:v>23.0</c:v>
                </c:pt>
                <c:pt idx="1">
                  <c:v>26.0</c:v>
                </c:pt>
                <c:pt idx="2">
                  <c:v>25.0</c:v>
                </c:pt>
                <c:pt idx="3">
                  <c:v>25.0</c:v>
                </c:pt>
              </c:numCache>
            </c:numRef>
          </c:val>
          <c:smooth val="0"/>
        </c:ser>
        <c:ser>
          <c:idx val="2"/>
          <c:order val="2"/>
          <c:tx>
            <c:strRef>
              <c:f>Sheet1!$D$1</c:f>
              <c:strCache>
                <c:ptCount val="1"/>
                <c:pt idx="0">
                  <c:v>L11（訴えなし）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Sheet1!$D$2:$D$5</c:f>
              <c:numCache>
                <c:formatCode>General</c:formatCode>
                <c:ptCount val="4"/>
                <c:pt idx="0">
                  <c:v>28.0</c:v>
                </c:pt>
                <c:pt idx="1">
                  <c:v>22.0</c:v>
                </c:pt>
                <c:pt idx="2">
                  <c:v>22.0</c:v>
                </c:pt>
                <c:pt idx="3">
                  <c:v>19.0</c:v>
                </c:pt>
              </c:numCache>
            </c:numRef>
          </c:val>
          <c:smooth val="0"/>
        </c:ser>
        <c:ser>
          <c:idx val="3"/>
          <c:order val="3"/>
          <c:tx>
            <c:strRef>
              <c:f>Sheet1!$E$1</c:f>
              <c:strCache>
                <c:ptCount val="1"/>
                <c:pt idx="0">
                  <c:v>L12（訴えなし）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Sheet1!$E$2:$E$5</c:f>
              <c:numCache>
                <c:formatCode>General</c:formatCode>
                <c:ptCount val="4"/>
                <c:pt idx="0">
                  <c:v>24.0</c:v>
                </c:pt>
                <c:pt idx="1">
                  <c:v>24.0</c:v>
                </c:pt>
                <c:pt idx="2">
                  <c:v>27.0</c:v>
                </c:pt>
                <c:pt idx="3">
                  <c:v>25.0</c:v>
                </c:pt>
              </c:numCache>
            </c:numRef>
          </c:val>
          <c:smooth val="0"/>
        </c:ser>
        <c:ser>
          <c:idx val="4"/>
          <c:order val="4"/>
          <c:tx>
            <c:strRef>
              <c:f>Sheet1!$F$1</c:f>
              <c:strCache>
                <c:ptCount val="1"/>
                <c:pt idx="0">
                  <c:v>L13（訴えなし）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Sheet1!$F$2:$F$5</c:f>
              <c:numCache>
                <c:formatCode>General</c:formatCode>
                <c:ptCount val="4"/>
                <c:pt idx="0">
                  <c:v>25.0</c:v>
                </c:pt>
                <c:pt idx="1">
                  <c:v>27.0</c:v>
                </c:pt>
                <c:pt idx="2">
                  <c:v>24.0</c:v>
                </c:pt>
                <c:pt idx="3">
                  <c:v>26.0</c:v>
                </c:pt>
              </c:numCache>
            </c:numRef>
          </c:val>
          <c:smooth val="0"/>
        </c:ser>
        <c:ser>
          <c:idx val="5"/>
          <c:order val="5"/>
          <c:tx>
            <c:strRef>
              <c:f>Sheet1!$G$1</c:f>
              <c:strCache>
                <c:ptCount val="1"/>
                <c:pt idx="0">
                  <c:v>L16（訴えなし）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Sheet1!$G$2:$G$5</c:f>
              <c:numCache>
                <c:formatCode>General</c:formatCode>
                <c:ptCount val="4"/>
                <c:pt idx="0">
                  <c:v>26.0</c:v>
                </c:pt>
                <c:pt idx="1">
                  <c:v>27.0</c:v>
                </c:pt>
                <c:pt idx="2">
                  <c:v>25.0</c:v>
                </c:pt>
                <c:pt idx="3">
                  <c:v>24.0</c:v>
                </c:pt>
              </c:numCache>
            </c:numRef>
          </c:val>
          <c:smooth val="0"/>
        </c:ser>
        <c:ser>
          <c:idx val="6"/>
          <c:order val="6"/>
          <c:tx>
            <c:strRef>
              <c:f>Sheet1!$H$1</c:f>
              <c:strCache>
                <c:ptCount val="1"/>
                <c:pt idx="0">
                  <c:v>L17（訴えなし）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Sheet1!$H$2:$H$5</c:f>
              <c:numCache>
                <c:formatCode>General</c:formatCode>
                <c:ptCount val="4"/>
                <c:pt idx="0">
                  <c:v>22.0</c:v>
                </c:pt>
                <c:pt idx="1">
                  <c:v>22.0</c:v>
                </c:pt>
                <c:pt idx="3">
                  <c:v>22.0</c:v>
                </c:pt>
              </c:numCache>
            </c:numRef>
          </c:val>
          <c:smooth val="0"/>
        </c:ser>
        <c:ser>
          <c:idx val="7"/>
          <c:order val="7"/>
          <c:tx>
            <c:strRef>
              <c:f>Sheet1!$I$1</c:f>
              <c:strCache>
                <c:ptCount val="1"/>
                <c:pt idx="0">
                  <c:v>L19（訴えなし）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Sheet1!$I$2:$I$5</c:f>
              <c:numCache>
                <c:formatCode>General</c:formatCode>
                <c:ptCount val="4"/>
                <c:pt idx="0">
                  <c:v>24.0</c:v>
                </c:pt>
                <c:pt idx="1">
                  <c:v>25.0</c:v>
                </c:pt>
                <c:pt idx="2">
                  <c:v>24.0</c:v>
                </c:pt>
                <c:pt idx="3">
                  <c:v>23.0</c:v>
                </c:pt>
              </c:numCache>
            </c:numRef>
          </c:val>
          <c:smooth val="0"/>
        </c:ser>
        <c:ser>
          <c:idx val="8"/>
          <c:order val="8"/>
          <c:tx>
            <c:strRef>
              <c:f>Sheet1!$J$1</c:f>
              <c:strCache>
                <c:ptCount val="1"/>
                <c:pt idx="0">
                  <c:v>L21（訴えなし）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Sheet1!$J$2:$J$5</c:f>
              <c:numCache>
                <c:formatCode>General</c:formatCode>
                <c:ptCount val="4"/>
                <c:pt idx="0">
                  <c:v>27.0</c:v>
                </c:pt>
                <c:pt idx="1">
                  <c:v>25.0</c:v>
                </c:pt>
                <c:pt idx="2">
                  <c:v>26.0</c:v>
                </c:pt>
                <c:pt idx="3">
                  <c:v>24.0</c:v>
                </c:pt>
              </c:numCache>
            </c:numRef>
          </c:val>
          <c:smooth val="0"/>
        </c:ser>
        <c:ser>
          <c:idx val="9"/>
          <c:order val="9"/>
          <c:tx>
            <c:strRef>
              <c:f>Sheet1!$K$1</c:f>
              <c:strCache>
                <c:ptCount val="1"/>
                <c:pt idx="0">
                  <c:v>L22（訴えなし）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Sheet1!$K$2:$K$5</c:f>
              <c:numCache>
                <c:formatCode>General</c:formatCode>
                <c:ptCount val="4"/>
                <c:pt idx="0">
                  <c:v>24.0</c:v>
                </c:pt>
                <c:pt idx="1">
                  <c:v>24.0</c:v>
                </c:pt>
                <c:pt idx="2">
                  <c:v>22.0</c:v>
                </c:pt>
                <c:pt idx="3">
                  <c:v>25.0</c:v>
                </c:pt>
              </c:numCache>
            </c:numRef>
          </c:val>
          <c:smooth val="0"/>
        </c:ser>
        <c:ser>
          <c:idx val="10"/>
          <c:order val="10"/>
          <c:tx>
            <c:strRef>
              <c:f>Sheet1!$L$1</c:f>
              <c:strCache>
                <c:ptCount val="1"/>
                <c:pt idx="0">
                  <c:v>L23（訴えなし）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Sheet1!$L$2:$L$5</c:f>
              <c:numCache>
                <c:formatCode>General</c:formatCode>
                <c:ptCount val="4"/>
                <c:pt idx="0">
                  <c:v>27.0</c:v>
                </c:pt>
                <c:pt idx="1">
                  <c:v>25.0</c:v>
                </c:pt>
                <c:pt idx="2">
                  <c:v>25.0</c:v>
                </c:pt>
                <c:pt idx="3">
                  <c:v>24.0</c:v>
                </c:pt>
              </c:numCache>
            </c:numRef>
          </c:val>
          <c:smooth val="0"/>
        </c:ser>
        <c:ser>
          <c:idx val="11"/>
          <c:order val="11"/>
          <c:tx>
            <c:strRef>
              <c:f>Sheet1!$M$1</c:f>
              <c:strCache>
                <c:ptCount val="1"/>
                <c:pt idx="0">
                  <c:v>L24（訴えなし）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Sheet1!$M$2:$M$5</c:f>
              <c:numCache>
                <c:formatCode>General</c:formatCode>
                <c:ptCount val="4"/>
                <c:pt idx="0">
                  <c:v>27.0</c:v>
                </c:pt>
                <c:pt idx="1">
                  <c:v>25.0</c:v>
                </c:pt>
                <c:pt idx="2">
                  <c:v>27.0</c:v>
                </c:pt>
                <c:pt idx="3">
                  <c:v>26.0</c:v>
                </c:pt>
              </c:numCache>
            </c:numRef>
          </c:val>
          <c:smooth val="0"/>
        </c:ser>
        <c:ser>
          <c:idx val="12"/>
          <c:order val="12"/>
          <c:tx>
            <c:strRef>
              <c:f>Sheet1!$N$1</c:f>
              <c:strCache>
                <c:ptCount val="1"/>
                <c:pt idx="0">
                  <c:v>L25（訴えなし）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Sheet1!$N$2:$N$5</c:f>
              <c:numCache>
                <c:formatCode>General</c:formatCode>
                <c:ptCount val="4"/>
                <c:pt idx="0">
                  <c:v>24.0</c:v>
                </c:pt>
                <c:pt idx="1">
                  <c:v>26.0</c:v>
                </c:pt>
                <c:pt idx="2">
                  <c:v>26.0</c:v>
                </c:pt>
                <c:pt idx="3">
                  <c:v>23.0</c:v>
                </c:pt>
              </c:numCache>
            </c:numRef>
          </c:val>
          <c:smooth val="0"/>
        </c:ser>
        <c:ser>
          <c:idx val="13"/>
          <c:order val="13"/>
          <c:tx>
            <c:strRef>
              <c:f>Sheet1!$O$1</c:f>
              <c:strCache>
                <c:ptCount val="1"/>
                <c:pt idx="0">
                  <c:v>L26（訴えなし）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Sheet1!$O$2:$O$5</c:f>
              <c:numCache>
                <c:formatCode>General</c:formatCode>
                <c:ptCount val="4"/>
                <c:pt idx="0">
                  <c:v>22.0</c:v>
                </c:pt>
                <c:pt idx="1">
                  <c:v>23.0</c:v>
                </c:pt>
                <c:pt idx="2">
                  <c:v>25.0</c:v>
                </c:pt>
                <c:pt idx="3">
                  <c:v>23.0</c:v>
                </c:pt>
              </c:numCache>
            </c:numRef>
          </c:val>
          <c:smooth val="0"/>
        </c:ser>
        <c:ser>
          <c:idx val="14"/>
          <c:order val="14"/>
          <c:tx>
            <c:strRef>
              <c:f>Sheet1!$P$1</c:f>
              <c:strCache>
                <c:ptCount val="1"/>
                <c:pt idx="0">
                  <c:v>L27（訴えなし）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Sheet1!$P$2:$P$5</c:f>
              <c:numCache>
                <c:formatCode>General</c:formatCode>
                <c:ptCount val="4"/>
                <c:pt idx="0">
                  <c:v>22.0</c:v>
                </c:pt>
                <c:pt idx="1">
                  <c:v>21.0</c:v>
                </c:pt>
                <c:pt idx="2">
                  <c:v>22.0</c:v>
                </c:pt>
                <c:pt idx="3">
                  <c:v>22.0</c:v>
                </c:pt>
              </c:numCache>
            </c:numRef>
          </c:val>
          <c:smooth val="0"/>
        </c:ser>
        <c:ser>
          <c:idx val="15"/>
          <c:order val="15"/>
          <c:tx>
            <c:strRef>
              <c:f>Sheet1!$Q$1</c:f>
              <c:strCache>
                <c:ptCount val="1"/>
                <c:pt idx="0">
                  <c:v>L28（訴えなし）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Sheet1!$Q$2:$Q$5</c:f>
              <c:numCache>
                <c:formatCode>General</c:formatCode>
                <c:ptCount val="4"/>
                <c:pt idx="0">
                  <c:v>22.0</c:v>
                </c:pt>
                <c:pt idx="1">
                  <c:v>24.0</c:v>
                </c:pt>
                <c:pt idx="2">
                  <c:v>24.0</c:v>
                </c:pt>
                <c:pt idx="3">
                  <c:v>24.0</c:v>
                </c:pt>
              </c:numCache>
            </c:numRef>
          </c:val>
          <c:smooth val="0"/>
        </c:ser>
        <c:ser>
          <c:idx val="16"/>
          <c:order val="16"/>
          <c:tx>
            <c:strRef>
              <c:f>Sheet1!$R$1</c:f>
              <c:strCache>
                <c:ptCount val="1"/>
                <c:pt idx="0">
                  <c:v>L30（訴えなし）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Sheet1!$R$2:$R$5</c:f>
              <c:numCache>
                <c:formatCode>General</c:formatCode>
                <c:ptCount val="4"/>
                <c:pt idx="0">
                  <c:v>22.0</c:v>
                </c:pt>
                <c:pt idx="1">
                  <c:v>20.0</c:v>
                </c:pt>
                <c:pt idx="2">
                  <c:v>18.0</c:v>
                </c:pt>
                <c:pt idx="3">
                  <c:v>17.0</c:v>
                </c:pt>
              </c:numCache>
            </c:numRef>
          </c:val>
          <c:smooth val="0"/>
        </c:ser>
        <c:ser>
          <c:idx val="17"/>
          <c:order val="17"/>
          <c:tx>
            <c:strRef>
              <c:f>Sheet1!$S$1</c:f>
              <c:strCache>
                <c:ptCount val="1"/>
                <c:pt idx="0">
                  <c:v>L31（訴えなし）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Sheet1!$S$2:$S$5</c:f>
              <c:numCache>
                <c:formatCode>General</c:formatCode>
                <c:ptCount val="4"/>
                <c:pt idx="0">
                  <c:v>27.0</c:v>
                </c:pt>
                <c:pt idx="1">
                  <c:v>28.0</c:v>
                </c:pt>
                <c:pt idx="2">
                  <c:v>24.0</c:v>
                </c:pt>
                <c:pt idx="3">
                  <c:v>27.0</c:v>
                </c:pt>
              </c:numCache>
            </c:numRef>
          </c:val>
          <c:smooth val="0"/>
        </c:ser>
        <c:ser>
          <c:idx val="18"/>
          <c:order val="18"/>
          <c:tx>
            <c:strRef>
              <c:f>Sheet1!$T$1</c:f>
              <c:strCache>
                <c:ptCount val="1"/>
                <c:pt idx="0">
                  <c:v>L33（訴えなし）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Sheet1!$T$2:$T$5</c:f>
              <c:numCache>
                <c:formatCode>General</c:formatCode>
                <c:ptCount val="4"/>
                <c:pt idx="0">
                  <c:v>23.0</c:v>
                </c:pt>
                <c:pt idx="1">
                  <c:v>22.0</c:v>
                </c:pt>
                <c:pt idx="2">
                  <c:v>22.0</c:v>
                </c:pt>
                <c:pt idx="3">
                  <c:v>23.0</c:v>
                </c:pt>
              </c:numCache>
            </c:numRef>
          </c:val>
          <c:smooth val="0"/>
        </c:ser>
        <c:ser>
          <c:idx val="19"/>
          <c:order val="19"/>
          <c:tx>
            <c:strRef>
              <c:f>Sheet1!$U$1</c:f>
              <c:strCache>
                <c:ptCount val="1"/>
                <c:pt idx="0">
                  <c:v>L34（訴えなし）</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Sheet1!$U$2:$U$5</c:f>
              <c:numCache>
                <c:formatCode>General</c:formatCode>
                <c:ptCount val="4"/>
                <c:pt idx="0">
                  <c:v>24.0</c:v>
                </c:pt>
                <c:pt idx="1">
                  <c:v>22.0</c:v>
                </c:pt>
                <c:pt idx="2">
                  <c:v>20.0</c:v>
                </c:pt>
                <c:pt idx="3">
                  <c:v>22.0</c:v>
                </c:pt>
              </c:numCache>
            </c:numRef>
          </c:val>
          <c:smooth val="0"/>
        </c:ser>
        <c:ser>
          <c:idx val="20"/>
          <c:order val="20"/>
          <c:tx>
            <c:strRef>
              <c:f>Sheet1!$V$1</c:f>
              <c:strCache>
                <c:ptCount val="1"/>
                <c:pt idx="0">
                  <c:v>L1（訴えあり）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Sheet1!$V$2:$V$5</c:f>
              <c:numCache>
                <c:formatCode>General</c:formatCode>
                <c:ptCount val="4"/>
                <c:pt idx="0">
                  <c:v>22.0</c:v>
                </c:pt>
                <c:pt idx="1">
                  <c:v>26.0</c:v>
                </c:pt>
                <c:pt idx="2">
                  <c:v>23.0</c:v>
                </c:pt>
                <c:pt idx="3">
                  <c:v>26.0</c:v>
                </c:pt>
              </c:numCache>
            </c:numRef>
          </c:val>
          <c:smooth val="0"/>
        </c:ser>
        <c:ser>
          <c:idx val="21"/>
          <c:order val="21"/>
          <c:tx>
            <c:strRef>
              <c:f>Sheet1!$W$1</c:f>
              <c:strCache>
                <c:ptCount val="1"/>
                <c:pt idx="0">
                  <c:v>L2（訴えあり）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Sheet1!$W$2:$W$5</c:f>
              <c:numCache>
                <c:formatCode>General</c:formatCode>
                <c:ptCount val="4"/>
                <c:pt idx="0">
                  <c:v>24.0</c:v>
                </c:pt>
                <c:pt idx="1">
                  <c:v>29.0</c:v>
                </c:pt>
                <c:pt idx="2">
                  <c:v>29.0</c:v>
                </c:pt>
                <c:pt idx="3">
                  <c:v>27.0</c:v>
                </c:pt>
              </c:numCache>
            </c:numRef>
          </c:val>
          <c:smooth val="0"/>
        </c:ser>
        <c:ser>
          <c:idx val="22"/>
          <c:order val="22"/>
          <c:tx>
            <c:strRef>
              <c:f>Sheet1!$X$1</c:f>
              <c:strCache>
                <c:ptCount val="1"/>
                <c:pt idx="0">
                  <c:v>L3（訴えあり）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Sheet1!$X$2:$X$5</c:f>
              <c:numCache>
                <c:formatCode>General</c:formatCode>
                <c:ptCount val="4"/>
                <c:pt idx="0">
                  <c:v>24.0</c:v>
                </c:pt>
                <c:pt idx="1">
                  <c:v>23.0</c:v>
                </c:pt>
                <c:pt idx="2">
                  <c:v>24.0</c:v>
                </c:pt>
                <c:pt idx="3">
                  <c:v>25.0</c:v>
                </c:pt>
              </c:numCache>
            </c:numRef>
          </c:val>
          <c:smooth val="0"/>
        </c:ser>
        <c:ser>
          <c:idx val="23"/>
          <c:order val="23"/>
          <c:tx>
            <c:strRef>
              <c:f>Sheet1!$Y$1</c:f>
              <c:strCache>
                <c:ptCount val="1"/>
                <c:pt idx="0">
                  <c:v>L4（訴えあり）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Sheet1!$Y$2:$Y$5</c:f>
              <c:numCache>
                <c:formatCode>General</c:formatCode>
                <c:ptCount val="4"/>
                <c:pt idx="0">
                  <c:v>23.0</c:v>
                </c:pt>
                <c:pt idx="1">
                  <c:v>25.0</c:v>
                </c:pt>
                <c:pt idx="2">
                  <c:v>22.0</c:v>
                </c:pt>
                <c:pt idx="3">
                  <c:v>22.0</c:v>
                </c:pt>
              </c:numCache>
            </c:numRef>
          </c:val>
          <c:smooth val="0"/>
        </c:ser>
        <c:ser>
          <c:idx val="24"/>
          <c:order val="24"/>
          <c:tx>
            <c:strRef>
              <c:f>Sheet1!$Z$1</c:f>
              <c:strCache>
                <c:ptCount val="1"/>
                <c:pt idx="0">
                  <c:v>L6（訴えあり）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Sheet1!$Z$2:$Z$5</c:f>
              <c:numCache>
                <c:formatCode>General</c:formatCode>
                <c:ptCount val="4"/>
                <c:pt idx="0">
                  <c:v>24.0</c:v>
                </c:pt>
                <c:pt idx="1">
                  <c:v>24.0</c:v>
                </c:pt>
                <c:pt idx="2">
                  <c:v>19.0</c:v>
                </c:pt>
                <c:pt idx="3">
                  <c:v>16.0</c:v>
                </c:pt>
              </c:numCache>
            </c:numRef>
          </c:val>
          <c:smooth val="0"/>
        </c:ser>
        <c:ser>
          <c:idx val="25"/>
          <c:order val="25"/>
          <c:tx>
            <c:strRef>
              <c:f>Sheet1!$AA$1</c:f>
              <c:strCache>
                <c:ptCount val="1"/>
                <c:pt idx="0">
                  <c:v>L8（訴えあり）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Sheet1!$AA$2:$AA$5</c:f>
              <c:numCache>
                <c:formatCode>General</c:formatCode>
                <c:ptCount val="4"/>
                <c:pt idx="0">
                  <c:v>19.0</c:v>
                </c:pt>
                <c:pt idx="1">
                  <c:v>25.0</c:v>
                </c:pt>
                <c:pt idx="2">
                  <c:v>23.0</c:v>
                </c:pt>
                <c:pt idx="3">
                  <c:v>24.0</c:v>
                </c:pt>
              </c:numCache>
            </c:numRef>
          </c:val>
          <c:smooth val="0"/>
        </c:ser>
        <c:ser>
          <c:idx val="26"/>
          <c:order val="26"/>
          <c:tx>
            <c:strRef>
              <c:f>Sheet1!$AB$1</c:f>
              <c:strCache>
                <c:ptCount val="1"/>
                <c:pt idx="0">
                  <c:v>L15（訴えあり）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Sheet1!$AB$2:$AB$5</c:f>
              <c:numCache>
                <c:formatCode>General</c:formatCode>
                <c:ptCount val="4"/>
                <c:pt idx="0">
                  <c:v>25.0</c:v>
                </c:pt>
                <c:pt idx="1">
                  <c:v>27.0</c:v>
                </c:pt>
                <c:pt idx="2">
                  <c:v>24.0</c:v>
                </c:pt>
                <c:pt idx="3">
                  <c:v>26.0</c:v>
                </c:pt>
              </c:numCache>
            </c:numRef>
          </c:val>
          <c:smooth val="0"/>
        </c:ser>
        <c:ser>
          <c:idx val="27"/>
          <c:order val="27"/>
          <c:tx>
            <c:strRef>
              <c:f>Sheet1!$AC$1</c:f>
              <c:strCache>
                <c:ptCount val="1"/>
                <c:pt idx="0">
                  <c:v>L32（訴えあり）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Sheet1!$AC$2:$AC$5</c:f>
              <c:numCache>
                <c:formatCode>General</c:formatCode>
                <c:ptCount val="4"/>
                <c:pt idx="0">
                  <c:v>22.0</c:v>
                </c:pt>
                <c:pt idx="1">
                  <c:v>24.0</c:v>
                </c:pt>
                <c:pt idx="2">
                  <c:v>25.0</c:v>
                </c:pt>
                <c:pt idx="3">
                  <c:v>26.0</c:v>
                </c:pt>
              </c:numCache>
            </c:numRef>
          </c:val>
          <c:smooth val="0"/>
        </c:ser>
        <c:ser>
          <c:idx val="28"/>
          <c:order val="28"/>
          <c:tx>
            <c:strRef>
              <c:f>Sheet1!$AD$1</c:f>
              <c:strCache>
                <c:ptCount val="1"/>
                <c:pt idx="0">
                  <c:v>L45（訴えあり）</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Sheet1!$AD$2:$AD$5</c:f>
              <c:numCache>
                <c:formatCode>General</c:formatCode>
                <c:ptCount val="4"/>
                <c:pt idx="0">
                  <c:v>23.0</c:v>
                </c:pt>
                <c:pt idx="1">
                  <c:v>18.0</c:v>
                </c:pt>
                <c:pt idx="2">
                  <c:v>19.0</c:v>
                </c:pt>
                <c:pt idx="3">
                  <c:v>16.0</c:v>
                </c:pt>
              </c:numCache>
            </c:numRef>
          </c:val>
          <c:smooth val="0"/>
        </c:ser>
        <c:ser>
          <c:idx val="29"/>
          <c:order val="29"/>
          <c:tx>
            <c:strRef>
              <c:f>Sheet1!$AE$1</c:f>
              <c:strCache>
                <c:ptCount val="1"/>
                <c:pt idx="0">
                  <c:v>改善訴えなし 群平均 (n=20)</c:v>
                </c:pt>
              </c:strCache>
            </c:strRef>
          </c:tx>
          <c:spPr>
            <a:ln w="40640">
              <a:solidFill>
                <a:srgbClr val="2E75B6"/>
              </a:solidFill>
            </a:ln>
          </c:spPr>
          <c:marker>
            <c:symbol val="circle"/>
            <c:size val="8"/>
            <c:spPr>
              <a:solidFill>
                <a:srgbClr val="2E75B6"/>
              </a:solidFill>
              <a:ln w="15240">
                <a:solidFill>
                  <a:srgbClr val="FFFFFF"/>
                </a:solidFill>
              </a:ln>
            </c:spPr>
          </c:marker>
          <c:cat>
            <c:strRef>
              <c:f>Sheet1!$A$2:$A$5</c:f>
              <c:strCache>
                <c:ptCount val="4"/>
                <c:pt idx="0">
                  <c:v>0か月</c:v>
                </c:pt>
                <c:pt idx="1">
                  <c:v>6か月</c:v>
                </c:pt>
                <c:pt idx="2">
                  <c:v>12か月</c:v>
                </c:pt>
                <c:pt idx="3">
                  <c:v>18か月</c:v>
                </c:pt>
              </c:strCache>
            </c:strRef>
          </c:cat>
          <c:val>
            <c:numRef>
              <c:f>Sheet1!$AE$2:$AE$5</c:f>
              <c:numCache>
                <c:formatCode>General</c:formatCode>
                <c:ptCount val="4"/>
                <c:pt idx="0">
                  <c:v>24.25</c:v>
                </c:pt>
                <c:pt idx="1">
                  <c:v>24.15</c:v>
                </c:pt>
                <c:pt idx="2">
                  <c:v>23.842</c:v>
                </c:pt>
                <c:pt idx="3">
                  <c:v>23.5</c:v>
                </c:pt>
              </c:numCache>
            </c:numRef>
          </c:val>
          <c:smooth val="0"/>
        </c:ser>
        <c:ser>
          <c:idx val="30"/>
          <c:order val="30"/>
          <c:tx>
            <c:strRef>
              <c:f>Sheet1!$AF$1</c:f>
              <c:strCache>
                <c:ptCount val="1"/>
                <c:pt idx="0">
                  <c:v>改善訴えあり 群平均 (n=9)</c:v>
                </c:pt>
              </c:strCache>
            </c:strRef>
          </c:tx>
          <c:spPr>
            <a:ln w="40640">
              <a:solidFill>
                <a:srgbClr val="C00000"/>
              </a:solidFill>
            </a:ln>
          </c:spPr>
          <c:marker>
            <c:symbol val="circle"/>
            <c:size val="8"/>
            <c:spPr>
              <a:solidFill>
                <a:srgbClr val="C00000"/>
              </a:solidFill>
              <a:ln w="15240">
                <a:solidFill>
                  <a:srgbClr val="FFFFFF"/>
                </a:solidFill>
              </a:ln>
            </c:spPr>
          </c:marker>
          <c:cat>
            <c:strRef>
              <c:f>Sheet1!$A$2:$A$5</c:f>
              <c:strCache>
                <c:ptCount val="4"/>
                <c:pt idx="0">
                  <c:v>0か月</c:v>
                </c:pt>
                <c:pt idx="1">
                  <c:v>6か月</c:v>
                </c:pt>
                <c:pt idx="2">
                  <c:v>12か月</c:v>
                </c:pt>
                <c:pt idx="3">
                  <c:v>18か月</c:v>
                </c:pt>
              </c:strCache>
            </c:strRef>
          </c:cat>
          <c:val>
            <c:numRef>
              <c:f>Sheet1!$AF$2:$AF$5</c:f>
              <c:numCache>
                <c:formatCode>General</c:formatCode>
                <c:ptCount val="4"/>
                <c:pt idx="0">
                  <c:v>22.889</c:v>
                </c:pt>
                <c:pt idx="1">
                  <c:v>24.556</c:v>
                </c:pt>
                <c:pt idx="2">
                  <c:v>23.111</c:v>
                </c:pt>
                <c:pt idx="3">
                  <c:v>23.111</c:v>
                </c:pt>
              </c:numCache>
            </c:numRef>
          </c:val>
          <c:smooth val="0"/>
        </c:ser>
        <c:marker val="1"/>
        <c:smooth val="0"/>
        <c:axId val="2118791784"/>
        <c:axId val="2140495176"/>
      </c:lineChart>
      <c:catAx>
        <c:axId val="2118791784"/>
        <c:scaling>
          <c:orientation val="minMax"/>
        </c:scaling>
        <c:delete val="0"/>
        <c:axPos val="b"/>
        <c:title>
          <c:tx>
            <c:rich>
              <a:bodyPr/>
              <a:lstStyle/>
              <a:p>
                <a:r>
                  <a:rPr sz="1200">
                    <a:solidFill>
                      <a:srgbClr val="000000"/>
                    </a:solidFill>
                    <a:latin typeface="Arial"/>
                  </a:rPr>
                  <a:t>レカネマブ投与開始からの経過時点</a:t>
                </a:r>
              </a:p>
            </c:rich>
          </c:tx>
          <c:layout/>
          <c:overlay val="0"/>
        </c:title>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40495176"/>
        <c:crosses val="autoZero"/>
        <c:auto val="1"/>
        <c:lblAlgn val="ctr"/>
        <c:lblOffset val="100"/>
        <c:noMultiLvlLbl val="0"/>
      </c:catAx>
      <c:valAx>
        <c:axId val="2140495176"/>
        <c:scaling>
          <c:max val="30.0"/>
          <c:min val="14.0"/>
        </c:scaling>
        <c:delete val="0"/>
        <c:axPos val="l"/>
        <c:majorGridlines>
          <c:spPr>
            <a:ln w="9525">
              <a:solidFill>
                <a:srgbClr val="E1E0D9"/>
              </a:solidFill>
              <a:prstDash val="dash"/>
            </a:ln>
          </c:spPr>
        </c:majorGridlines>
        <c:title>
          <c:tx>
            <c:rich>
              <a:bodyPr/>
              <a:lstStyle/>
              <a:p>
                <a:r>
                  <a:rPr sz="1200">
                    <a:solidFill>
                      <a:srgbClr val="000000"/>
                    </a:solidFill>
                    <a:latin typeface="Arial"/>
                  </a:rPr>
                  <a:t>MMSE実測値（点）</a:t>
                </a:r>
              </a:p>
            </c:rich>
          </c:tx>
          <c:layout/>
          <c:overlay val="0"/>
        </c:title>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18791784"/>
        <c:crosses val="autoZero"/>
        <c:majorUnit val="2.0"/>
      </c:valAx>
    </c:plotArea>
    <c:legend>
      <c:legendPos val="b"/>
      <c:legendEntry>
        <c:idx val="28"/>
        <c:delete val="1"/>
      </c:legendEntry>
      <c:legendEntry>
        <c:idx val="27"/>
        <c:delete val="1"/>
      </c:legendEntry>
      <c:legendEntry>
        <c:idx val="26"/>
        <c:delete val="1"/>
      </c:legendEntry>
      <c:legendEntry>
        <c:idx val="25"/>
        <c:delete val="1"/>
      </c:legendEntry>
      <c:legendEntry>
        <c:idx val="24"/>
        <c:delete val="1"/>
      </c:legendEntry>
      <c:legendEntry>
        <c:idx val="23"/>
        <c:delete val="1"/>
      </c:legendEntry>
      <c:legendEntry>
        <c:idx val="22"/>
        <c:delete val="1"/>
      </c:legendEntry>
      <c:legendEntry>
        <c:idx val="21"/>
        <c:delete val="1"/>
      </c:legendEntry>
      <c:legendEntry>
        <c:idx val="20"/>
        <c:delete val="1"/>
      </c:legendEntry>
      <c:legendEntry>
        <c:idx val="19"/>
        <c:delete val="1"/>
      </c:legendEntry>
      <c:legendEntry>
        <c:idx val="18"/>
        <c:delete val="1"/>
      </c:legendEntry>
      <c:legendEntry>
        <c:idx val="17"/>
        <c:delete val="1"/>
      </c:legendEntry>
      <c:legendEntry>
        <c:idx val="16"/>
        <c:delete val="1"/>
      </c:legendEntry>
      <c:legendEntry>
        <c:idx val="15"/>
        <c:delete val="1"/>
      </c:legendEntry>
      <c:legendEntry>
        <c:idx val="14"/>
        <c:delete val="1"/>
      </c:legendEntry>
      <c:legendEntry>
        <c:idx val="13"/>
        <c:delete val="1"/>
      </c:legendEntry>
      <c:legendEntry>
        <c:idx val="12"/>
        <c:delete val="1"/>
      </c:legendEntry>
      <c:legendEntry>
        <c:idx val="11"/>
        <c:delete val="1"/>
      </c:legendEntry>
      <c:legendEntry>
        <c:idx val="10"/>
        <c:delete val="1"/>
      </c:legendEntry>
      <c:legendEntry>
        <c:idx val="9"/>
        <c:delete val="1"/>
      </c:legendEntry>
      <c:legendEntry>
        <c:idx val="8"/>
        <c:delete val="1"/>
      </c:legendEntry>
      <c:legendEntry>
        <c:idx val="7"/>
        <c:delete val="1"/>
      </c:legendEntry>
      <c:legendEntry>
        <c:idx val="6"/>
        <c:delete val="1"/>
      </c:legendEntry>
      <c:legendEntry>
        <c:idx val="5"/>
        <c:delete val="1"/>
      </c:legendEntry>
      <c:legendEntry>
        <c:idx val="4"/>
        <c:delete val="1"/>
      </c:legendEntry>
      <c:legendEntry>
        <c:idx val="3"/>
        <c:delete val="1"/>
      </c:legendEntry>
      <c:legendEntry>
        <c:idx val="2"/>
        <c:delete val="1"/>
      </c:legendEntry>
      <c:legendEntry>
        <c:idx val="1"/>
        <c:delete val="1"/>
      </c:legendEntry>
      <c:legendEntry>
        <c:idx val="0"/>
        <c:delete val="1"/>
      </c:legendEntry>
      <c:layout/>
      <c:overlay val="0"/>
      <c:txPr>
        <a:bodyPr/>
        <a:lstStyle/>
        <a:p>
          <a:pPr>
            <a:defRPr sz="1100">
              <a:solidFill>
                <a:srgbClr val="000000"/>
              </a:solidFill>
              <a:latin typeface="Arial"/>
            </a:defRPr>
          </a:pPr>
        </a:p>
      </c:txPr>
    </c:legend>
    <c:plotVisOnly val="1"/>
    <c:dispBlanksAs val="gap"/>
    <c:showDLblsOverMax val="0"/>
  </c:chart>
  <c:txPr>
    <a:bodyPr/>
    <a:lstStyle/>
    <a:p>
      <a:pPr>
        <a:defRPr sz="1200">
          <a:solidFill>
            <a:srgbClr val="00000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時間見当識（5点満点）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1.0168522440061316</c:v>
                </c:pt>
                <c:pt idx="1">
                  <c:v>0.840082241854862</c:v>
                </c:pt>
                <c:pt idx="2">
                  <c:v>1.1168487765268735</c:v>
                </c:pt>
                <c:pt idx="3">
                  <c:v>1.261750378776646</c:v>
                </c:pt>
              </c:numLit>
            </c:plus>
            <c:minus>
              <c:numLit>
                <c:formatCode>General</c:formatCode>
                <c:ptCount val="4"/>
                <c:pt idx="0">
                  <c:v>1.0168522440061316</c:v>
                </c:pt>
                <c:pt idx="1">
                  <c:v>0.840082241854862</c:v>
                </c:pt>
                <c:pt idx="2">
                  <c:v>1.1168487765268735</c:v>
                </c:pt>
                <c:pt idx="3">
                  <c:v>1.261750378776646</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3.667</c:v>
                </c:pt>
                <c:pt idx="1">
                  <c:v>3.778</c:v>
                </c:pt>
                <c:pt idx="2">
                  <c:v>3.889</c:v>
                </c:pt>
                <c:pt idx="3">
                  <c:v>3.778</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0.5573933794867287</c:v>
                </c:pt>
                <c:pt idx="1">
                  <c:v>0.5573933794867287</c:v>
                </c:pt>
                <c:pt idx="2">
                  <c:v>0.6200522663920737</c:v>
                </c:pt>
                <c:pt idx="3">
                  <c:v>0.6347548257460393</c:v>
                </c:pt>
              </c:numLit>
            </c:plus>
            <c:minus>
              <c:numLit>
                <c:formatCode>General</c:formatCode>
                <c:ptCount val="4"/>
                <c:pt idx="0">
                  <c:v>0.5573933794867287</c:v>
                </c:pt>
                <c:pt idx="1">
                  <c:v>0.5573933794867287</c:v>
                </c:pt>
                <c:pt idx="2">
                  <c:v>0.6200522663920737</c:v>
                </c:pt>
                <c:pt idx="3">
                  <c:v>0.6347548257460393</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3.55</c:v>
                </c:pt>
                <c:pt idx="1">
                  <c:v>3.45</c:v>
                </c:pt>
                <c:pt idx="2">
                  <c:v>3.105</c:v>
                </c:pt>
                <c:pt idx="3">
                  <c:v>2.95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5.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場所見当識（5点満点）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0.5584243882634368</c:v>
                </c:pt>
                <c:pt idx="1">
                  <c:v>0.5584243882634368</c:v>
                </c:pt>
                <c:pt idx="2">
                  <c:v>0.6779014960040876</c:v>
                </c:pt>
                <c:pt idx="3">
                  <c:v>0.5124453633787035</c:v>
                </c:pt>
              </c:numLit>
            </c:plus>
            <c:minus>
              <c:numLit>
                <c:formatCode>General</c:formatCode>
                <c:ptCount val="4"/>
                <c:pt idx="0">
                  <c:v>0.5584243882634368</c:v>
                </c:pt>
                <c:pt idx="1">
                  <c:v>0.5584243882634368</c:v>
                </c:pt>
                <c:pt idx="2">
                  <c:v>0.6779014960040876</c:v>
                </c:pt>
                <c:pt idx="3">
                  <c:v>0.5124453633787035</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4.444</c:v>
                </c:pt>
                <c:pt idx="1">
                  <c:v>4.556</c:v>
                </c:pt>
                <c:pt idx="2">
                  <c:v>4.444</c:v>
                </c:pt>
                <c:pt idx="3">
                  <c:v>4.222</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0.3074605129850897</c:v>
                </c:pt>
                <c:pt idx="1">
                  <c:v>0.28305760229150484</c:v>
                </c:pt>
                <c:pt idx="2">
                  <c:v>0.29255353907432746</c:v>
                </c:pt>
                <c:pt idx="3">
                  <c:v>0.3841381195606566</c:v>
                </c:pt>
              </c:numLit>
            </c:plus>
            <c:minus>
              <c:numLit>
                <c:formatCode>General</c:formatCode>
                <c:ptCount val="4"/>
                <c:pt idx="0">
                  <c:v>0.3074605129850897</c:v>
                </c:pt>
                <c:pt idx="1">
                  <c:v>0.28305760229150484</c:v>
                </c:pt>
                <c:pt idx="2">
                  <c:v>0.29255353907432746</c:v>
                </c:pt>
                <c:pt idx="3">
                  <c:v>0.3841381195606566</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4.3</c:v>
                </c:pt>
                <c:pt idx="1">
                  <c:v>4.45</c:v>
                </c:pt>
                <c:pt idx="2">
                  <c:v>4.579</c:v>
                </c:pt>
                <c:pt idx="3">
                  <c:v>4.4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5.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物品呼称（2点満点）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0.0</c:v>
                </c:pt>
                <c:pt idx="1">
                  <c:v>0.0</c:v>
                </c:pt>
                <c:pt idx="2">
                  <c:v>0.0</c:v>
                </c:pt>
                <c:pt idx="3">
                  <c:v>0.0</c:v>
                </c:pt>
              </c:numLit>
            </c:plus>
            <c:minus>
              <c:numLit>
                <c:formatCode>General</c:formatCode>
                <c:ptCount val="4"/>
                <c:pt idx="0">
                  <c:v>0.0</c:v>
                </c:pt>
                <c:pt idx="1">
                  <c:v>0.0</c:v>
                </c:pt>
                <c:pt idx="2">
                  <c:v>0.0</c:v>
                </c:pt>
                <c:pt idx="3">
                  <c:v>0.0</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2.0</c:v>
                </c:pt>
                <c:pt idx="1">
                  <c:v>2.0</c:v>
                </c:pt>
                <c:pt idx="2">
                  <c:v>2.0</c:v>
                </c:pt>
                <c:pt idx="3">
                  <c:v>2.0</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0.0</c:v>
                </c:pt>
                <c:pt idx="1">
                  <c:v>0.10465120272041546</c:v>
                </c:pt>
                <c:pt idx="2">
                  <c:v>0.22114968844642505</c:v>
                </c:pt>
                <c:pt idx="3">
                  <c:v>0.10465120272041546</c:v>
                </c:pt>
              </c:numLit>
            </c:plus>
            <c:minus>
              <c:numLit>
                <c:formatCode>General</c:formatCode>
                <c:ptCount val="4"/>
                <c:pt idx="0">
                  <c:v>0.0</c:v>
                </c:pt>
                <c:pt idx="1">
                  <c:v>0.10465120272041546</c:v>
                </c:pt>
                <c:pt idx="2">
                  <c:v>0.22114968844642505</c:v>
                </c:pt>
                <c:pt idx="3">
                  <c:v>0.10465120272041546</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2.0</c:v>
                </c:pt>
                <c:pt idx="1">
                  <c:v>1.95</c:v>
                </c:pt>
                <c:pt idx="2">
                  <c:v>1.895</c:v>
                </c:pt>
                <c:pt idx="3">
                  <c:v>1.95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2.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記銘（3点満点）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0.25622268168935175</c:v>
                </c:pt>
                <c:pt idx="1">
                  <c:v>0.0</c:v>
                </c:pt>
                <c:pt idx="2">
                  <c:v>0.0</c:v>
                </c:pt>
                <c:pt idx="3">
                  <c:v>0.0</c:v>
                </c:pt>
              </c:numLit>
            </c:plus>
            <c:minus>
              <c:numLit>
                <c:formatCode>General</c:formatCode>
                <c:ptCount val="4"/>
                <c:pt idx="0">
                  <c:v>0.25622268168935175</c:v>
                </c:pt>
                <c:pt idx="1">
                  <c:v>0.0</c:v>
                </c:pt>
                <c:pt idx="2">
                  <c:v>0.0</c:v>
                </c:pt>
                <c:pt idx="3">
                  <c:v>0.0</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2.889</c:v>
                </c:pt>
                <c:pt idx="1">
                  <c:v>3.0</c:v>
                </c:pt>
                <c:pt idx="2">
                  <c:v>3.0</c:v>
                </c:pt>
                <c:pt idx="3">
                  <c:v>3.0</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0.0</c:v>
                </c:pt>
                <c:pt idx="1">
                  <c:v>0.0</c:v>
                </c:pt>
                <c:pt idx="2">
                  <c:v>0.0</c:v>
                </c:pt>
                <c:pt idx="3">
                  <c:v>0.0</c:v>
                </c:pt>
              </c:numLit>
            </c:plus>
            <c:minus>
              <c:numLit>
                <c:formatCode>General</c:formatCode>
                <c:ptCount val="4"/>
                <c:pt idx="0">
                  <c:v>0.0</c:v>
                </c:pt>
                <c:pt idx="1">
                  <c:v>0.0</c:v>
                </c:pt>
                <c:pt idx="2">
                  <c:v>0.0</c:v>
                </c:pt>
                <c:pt idx="3">
                  <c:v>0.0</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3.0</c:v>
                </c:pt>
                <c:pt idx="1">
                  <c:v>3.0</c:v>
                </c:pt>
                <c:pt idx="2">
                  <c:v>3.0</c:v>
                </c:pt>
                <c:pt idx="3">
                  <c:v>3.0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3.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注意計算（5点満点）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1.385736025151769</c:v>
                </c:pt>
                <c:pt idx="1">
                  <c:v>1.2153708935020062</c:v>
                </c:pt>
                <c:pt idx="2">
                  <c:v>1.1811282024008916</c:v>
                </c:pt>
                <c:pt idx="3">
                  <c:v>1.318986982202704</c:v>
                </c:pt>
              </c:numLit>
            </c:plus>
            <c:minus>
              <c:numLit>
                <c:formatCode>General</c:formatCode>
                <c:ptCount val="4"/>
                <c:pt idx="0">
                  <c:v>1.385736025151769</c:v>
                </c:pt>
                <c:pt idx="1">
                  <c:v>1.2153708935020062</c:v>
                </c:pt>
                <c:pt idx="2">
                  <c:v>1.1811282024008916</c:v>
                </c:pt>
                <c:pt idx="3">
                  <c:v>1.318986982202704</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2.667</c:v>
                </c:pt>
                <c:pt idx="1">
                  <c:v>3.667</c:v>
                </c:pt>
                <c:pt idx="2">
                  <c:v>2.889</c:v>
                </c:pt>
                <c:pt idx="3">
                  <c:v>3.222</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0.43679878364037794</c:v>
                </c:pt>
                <c:pt idx="1">
                  <c:v>0.5573933794867287</c:v>
                </c:pt>
                <c:pt idx="2">
                  <c:v>0.6426460955556474</c:v>
                </c:pt>
                <c:pt idx="3">
                  <c:v>0.6347548257460393</c:v>
                </c:pt>
              </c:numLit>
            </c:plus>
            <c:minus>
              <c:numLit>
                <c:formatCode>General</c:formatCode>
                <c:ptCount val="4"/>
                <c:pt idx="0">
                  <c:v>0.43679878364037794</c:v>
                </c:pt>
                <c:pt idx="1">
                  <c:v>0.5573933794867287</c:v>
                </c:pt>
                <c:pt idx="2">
                  <c:v>0.6426460955556474</c:v>
                </c:pt>
                <c:pt idx="3">
                  <c:v>0.6347548257460393</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4.15</c:v>
                </c:pt>
                <c:pt idx="1">
                  <c:v>4.05</c:v>
                </c:pt>
                <c:pt idx="2">
                  <c:v>4.0</c:v>
                </c:pt>
                <c:pt idx="3">
                  <c:v>4.05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5.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遅延再生（3点満点）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0.6656860541062577</c:v>
                </c:pt>
                <c:pt idx="1">
                  <c:v>1.0486365188912639</c:v>
                </c:pt>
                <c:pt idx="2">
                  <c:v>0.5435303871490287</c:v>
                </c:pt>
                <c:pt idx="3">
                  <c:v>0.33895074800204383</c:v>
                </c:pt>
              </c:numLit>
            </c:plus>
            <c:minus>
              <c:numLit>
                <c:formatCode>General</c:formatCode>
                <c:ptCount val="4"/>
                <c:pt idx="0">
                  <c:v>0.6656860541062577</c:v>
                </c:pt>
                <c:pt idx="1">
                  <c:v>1.0486365188912639</c:v>
                </c:pt>
                <c:pt idx="2">
                  <c:v>0.5435303871490287</c:v>
                </c:pt>
                <c:pt idx="3">
                  <c:v>0.33895074800204383</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0.667</c:v>
                </c:pt>
                <c:pt idx="1">
                  <c:v>0.889</c:v>
                </c:pt>
                <c:pt idx="2">
                  <c:v>0.333</c:v>
                </c:pt>
                <c:pt idx="3">
                  <c:v>0.222</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0.3841381195606565</c:v>
                </c:pt>
                <c:pt idx="1">
                  <c:v>0.3841381195606565</c:v>
                </c:pt>
                <c:pt idx="2">
                  <c:v>0.40544109548511265</c:v>
                </c:pt>
                <c:pt idx="3">
                  <c:v>0.2747913585784737</c:v>
                </c:pt>
              </c:numLit>
            </c:plus>
            <c:minus>
              <c:numLit>
                <c:formatCode>General</c:formatCode>
                <c:ptCount val="4"/>
                <c:pt idx="0">
                  <c:v>0.3841381195606565</c:v>
                </c:pt>
                <c:pt idx="1">
                  <c:v>0.3841381195606565</c:v>
                </c:pt>
                <c:pt idx="2">
                  <c:v>0.40544109548511265</c:v>
                </c:pt>
                <c:pt idx="3">
                  <c:v>0.2747913585784737</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0.6</c:v>
                </c:pt>
                <c:pt idx="1">
                  <c:v>0.6</c:v>
                </c:pt>
                <c:pt idx="2">
                  <c:v>0.474</c:v>
                </c:pt>
                <c:pt idx="3">
                  <c:v>0.35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3.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復唱（1点満点）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0.0</c:v>
                </c:pt>
                <c:pt idx="1">
                  <c:v>0.0</c:v>
                </c:pt>
                <c:pt idx="2">
                  <c:v>0.0</c:v>
                </c:pt>
                <c:pt idx="3">
                  <c:v>0.0</c:v>
                </c:pt>
              </c:numLit>
            </c:plus>
            <c:minus>
              <c:numLit>
                <c:formatCode>General</c:formatCode>
                <c:ptCount val="4"/>
                <c:pt idx="0">
                  <c:v>0.0</c:v>
                </c:pt>
                <c:pt idx="1">
                  <c:v>0.0</c:v>
                </c:pt>
                <c:pt idx="2">
                  <c:v>0.0</c:v>
                </c:pt>
                <c:pt idx="3">
                  <c:v>0.0</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1.0</c:v>
                </c:pt>
                <c:pt idx="1">
                  <c:v>1.0</c:v>
                </c:pt>
                <c:pt idx="2">
                  <c:v>1.0</c:v>
                </c:pt>
                <c:pt idx="3">
                  <c:v>1.0</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0.10465120272041546</c:v>
                </c:pt>
                <c:pt idx="1">
                  <c:v>0.0</c:v>
                </c:pt>
                <c:pt idx="2">
                  <c:v>0.15197058742284136</c:v>
                </c:pt>
                <c:pt idx="3">
                  <c:v>0.1714559304698416</c:v>
                </c:pt>
              </c:numLit>
            </c:plus>
            <c:minus>
              <c:numLit>
                <c:formatCode>General</c:formatCode>
                <c:ptCount val="4"/>
                <c:pt idx="0">
                  <c:v>0.10465120272041546</c:v>
                </c:pt>
                <c:pt idx="1">
                  <c:v>0.0</c:v>
                </c:pt>
                <c:pt idx="2">
                  <c:v>0.15197058742284136</c:v>
                </c:pt>
                <c:pt idx="3">
                  <c:v>0.1714559304698416</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0.95</c:v>
                </c:pt>
                <c:pt idx="1">
                  <c:v>1.0</c:v>
                </c:pt>
                <c:pt idx="2">
                  <c:v>0.895</c:v>
                </c:pt>
                <c:pt idx="3">
                  <c:v>0.85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1.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読字理解（1点満点）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0.0</c:v>
                </c:pt>
                <c:pt idx="1">
                  <c:v>0.0</c:v>
                </c:pt>
                <c:pt idx="2">
                  <c:v>0.0</c:v>
                </c:pt>
                <c:pt idx="3">
                  <c:v>0.0</c:v>
                </c:pt>
              </c:numLit>
            </c:plus>
            <c:minus>
              <c:numLit>
                <c:formatCode>General</c:formatCode>
                <c:ptCount val="4"/>
                <c:pt idx="0">
                  <c:v>0.0</c:v>
                </c:pt>
                <c:pt idx="1">
                  <c:v>0.0</c:v>
                </c:pt>
                <c:pt idx="2">
                  <c:v>0.0</c:v>
                </c:pt>
                <c:pt idx="3">
                  <c:v>0.0</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1.0</c:v>
                </c:pt>
                <c:pt idx="1">
                  <c:v>1.0</c:v>
                </c:pt>
                <c:pt idx="2">
                  <c:v>1.0</c:v>
                </c:pt>
                <c:pt idx="3">
                  <c:v>1.0</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0.0</c:v>
                </c:pt>
                <c:pt idx="1">
                  <c:v>0.0</c:v>
                </c:pt>
                <c:pt idx="2">
                  <c:v>0.0</c:v>
                </c:pt>
                <c:pt idx="3">
                  <c:v>0.0</c:v>
                </c:pt>
              </c:numLit>
            </c:plus>
            <c:minus>
              <c:numLit>
                <c:formatCode>General</c:formatCode>
                <c:ptCount val="4"/>
                <c:pt idx="0">
                  <c:v>0.0</c:v>
                </c:pt>
                <c:pt idx="1">
                  <c:v>0.0</c:v>
                </c:pt>
                <c:pt idx="2">
                  <c:v>0.0</c:v>
                </c:pt>
                <c:pt idx="3">
                  <c:v>0.0</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1.0</c:v>
                </c:pt>
                <c:pt idx="1">
                  <c:v>1.0</c:v>
                </c:pt>
                <c:pt idx="2">
                  <c:v>1.0</c:v>
                </c:pt>
                <c:pt idx="3">
                  <c:v>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1.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3段階命令（3点満点）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0.5435303871490286</c:v>
                </c:pt>
                <c:pt idx="1">
                  <c:v>0.25622268168935175</c:v>
                </c:pt>
                <c:pt idx="2">
                  <c:v>0.25622268168935175</c:v>
                </c:pt>
                <c:pt idx="3">
                  <c:v>0.0</c:v>
                </c:pt>
              </c:numLit>
            </c:plus>
            <c:minus>
              <c:numLit>
                <c:formatCode>General</c:formatCode>
                <c:ptCount val="4"/>
                <c:pt idx="0">
                  <c:v>0.5435303871490286</c:v>
                </c:pt>
                <c:pt idx="1">
                  <c:v>0.25622268168935175</c:v>
                </c:pt>
                <c:pt idx="2">
                  <c:v>0.25622268168935175</c:v>
                </c:pt>
                <c:pt idx="3">
                  <c:v>0.0</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2.667</c:v>
                </c:pt>
                <c:pt idx="1">
                  <c:v>2.889</c:v>
                </c:pt>
                <c:pt idx="2">
                  <c:v>2.889</c:v>
                </c:pt>
                <c:pt idx="3">
                  <c:v>3.0</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0.3429118609396832</c:v>
                </c:pt>
                <c:pt idx="1">
                  <c:v>0.25746390002906905</c:v>
                </c:pt>
                <c:pt idx="2">
                  <c:v>0.11057484422321252</c:v>
                </c:pt>
                <c:pt idx="3">
                  <c:v>0.0</c:v>
                </c:pt>
              </c:numLit>
            </c:plus>
            <c:minus>
              <c:numLit>
                <c:formatCode>General</c:formatCode>
                <c:ptCount val="4"/>
                <c:pt idx="0">
                  <c:v>0.3429118609396832</c:v>
                </c:pt>
                <c:pt idx="1">
                  <c:v>0.25746390002906905</c:v>
                </c:pt>
                <c:pt idx="2">
                  <c:v>0.11057484422321252</c:v>
                </c:pt>
                <c:pt idx="3">
                  <c:v>0.0</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2.7</c:v>
                </c:pt>
                <c:pt idx="1">
                  <c:v>2.75</c:v>
                </c:pt>
                <c:pt idx="2">
                  <c:v>2.947</c:v>
                </c:pt>
                <c:pt idx="3">
                  <c:v>3.0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3.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書字（1点満点）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0.0</c:v>
                </c:pt>
                <c:pt idx="1">
                  <c:v>0.25622268168935175</c:v>
                </c:pt>
                <c:pt idx="2">
                  <c:v>0.33895074800204383</c:v>
                </c:pt>
                <c:pt idx="3">
                  <c:v>0.25622268168935175</c:v>
                </c:pt>
              </c:numLit>
            </c:plus>
            <c:minus>
              <c:numLit>
                <c:formatCode>General</c:formatCode>
                <c:ptCount val="4"/>
                <c:pt idx="0">
                  <c:v>0.0</c:v>
                </c:pt>
                <c:pt idx="1">
                  <c:v>0.25622268168935175</c:v>
                </c:pt>
                <c:pt idx="2">
                  <c:v>0.33895074800204383</c:v>
                </c:pt>
                <c:pt idx="3">
                  <c:v>0.25622268168935175</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1.0</c:v>
                </c:pt>
                <c:pt idx="1">
                  <c:v>0.889</c:v>
                </c:pt>
                <c:pt idx="2">
                  <c:v>0.778</c:v>
                </c:pt>
                <c:pt idx="3">
                  <c:v>0.889</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0.0</c:v>
                </c:pt>
                <c:pt idx="1">
                  <c:v>0.10465120272041546</c:v>
                </c:pt>
                <c:pt idx="2">
                  <c:v>0.0</c:v>
                </c:pt>
                <c:pt idx="3">
                  <c:v>0.0</c:v>
                </c:pt>
              </c:numLit>
            </c:plus>
            <c:minus>
              <c:numLit>
                <c:formatCode>General</c:formatCode>
                <c:ptCount val="4"/>
                <c:pt idx="0">
                  <c:v>0.0</c:v>
                </c:pt>
                <c:pt idx="1">
                  <c:v>0.10465120272041546</c:v>
                </c:pt>
                <c:pt idx="2">
                  <c:v>0.0</c:v>
                </c:pt>
                <c:pt idx="3">
                  <c:v>0.0</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1.0</c:v>
                </c:pt>
                <c:pt idx="1">
                  <c:v>0.95</c:v>
                </c:pt>
                <c:pt idx="2">
                  <c:v>1.0</c:v>
                </c:pt>
                <c:pt idx="3">
                  <c:v>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1.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0">
                <a:latin typeface="Arial"/>
              </a:rPr>
              <a:t>図形模写（1点満点）</a:t>
            </a:r>
          </a:p>
        </c:rich>
      </c:tx>
      <c:layout/>
      <c:overlay val="0"/>
    </c:title>
    <c:autoTitleDeleted val="1"/>
    <c:plotArea>
      <c:lineChart>
        <c:grouping val="standard"/>
        <c:varyColors val="0"/>
        <c:ser>
          <c:idx val="0"/>
          <c:order val="0"/>
          <c:tx>
            <c:strRef>
              <c:f>Sheet1!$B$1</c:f>
              <c:strCache>
                <c:ptCount val="1"/>
                <c:pt idx="0">
                  <c:v>改善訴えあり</c:v>
                </c:pt>
              </c:strCache>
            </c:strRef>
          </c:tx>
          <c:spPr>
            <a:ln w="20320">
              <a:solidFill>
                <a:srgbClr val="C00000"/>
              </a:solidFill>
            </a:ln>
          </c:spPr>
          <c:marker>
            <c:symbol val="circle"/>
            <c:size val="5"/>
            <c:spPr>
              <a:solidFill>
                <a:srgbClr val="C00000"/>
              </a:solidFill>
              <a:ln w="15240">
                <a:solidFill>
                  <a:srgbClr val="FFFFFF"/>
                </a:solidFill>
              </a:ln>
            </c:spPr>
          </c:marker>
          <c:errBars>
            <c:errDir val="y"/>
            <c:errBarType val="both"/>
            <c:errValType val="cust"/>
            <c:noEndCap val="0"/>
            <c:plus>
              <c:numLit>
                <c:formatCode>General</c:formatCode>
                <c:ptCount val="4"/>
                <c:pt idx="0">
                  <c:v>0.25622268168935175</c:v>
                </c:pt>
                <c:pt idx="1">
                  <c:v>0.25622268168935175</c:v>
                </c:pt>
                <c:pt idx="2">
                  <c:v>0.3843340225340276</c:v>
                </c:pt>
                <c:pt idx="3">
                  <c:v>0.33895074800204383</c:v>
                </c:pt>
              </c:numLit>
            </c:plus>
            <c:minus>
              <c:numLit>
                <c:formatCode>General</c:formatCode>
                <c:ptCount val="4"/>
                <c:pt idx="0">
                  <c:v>0.25622268168935175</c:v>
                </c:pt>
                <c:pt idx="1">
                  <c:v>0.25622268168935175</c:v>
                </c:pt>
                <c:pt idx="2">
                  <c:v>0.3843340225340276</c:v>
                </c:pt>
                <c:pt idx="3">
                  <c:v>0.33895074800204383</c:v>
                </c:pt>
              </c:numLit>
            </c:minus>
            <c:spPr>
              <a:ln w="7620">
                <a:solidFill>
                  <a:srgbClr val="C00000"/>
                </a:solidFill>
              </a:ln>
            </c:spPr>
          </c:errBars>
          <c:cat>
            <c:strRef>
              <c:f>Sheet1!$A$2:$A$5</c:f>
              <c:strCache>
                <c:ptCount val="4"/>
                <c:pt idx="0">
                  <c:v>0</c:v>
                </c:pt>
                <c:pt idx="1">
                  <c:v>6</c:v>
                </c:pt>
                <c:pt idx="2">
                  <c:v>12</c:v>
                </c:pt>
                <c:pt idx="3">
                  <c:v>18</c:v>
                </c:pt>
              </c:strCache>
            </c:strRef>
          </c:cat>
          <c:val>
            <c:numRef>
              <c:f>Sheet1!$B$2:$B$5</c:f>
              <c:numCache>
                <c:formatCode>General</c:formatCode>
                <c:ptCount val="4"/>
                <c:pt idx="0">
                  <c:v>0.889</c:v>
                </c:pt>
                <c:pt idx="1">
                  <c:v>0.889</c:v>
                </c:pt>
                <c:pt idx="2">
                  <c:v>0.667</c:v>
                </c:pt>
                <c:pt idx="3">
                  <c:v>0.778</c:v>
                </c:pt>
              </c:numCache>
            </c:numRef>
          </c:val>
          <c:smooth val="0"/>
        </c:ser>
        <c:ser>
          <c:idx val="1"/>
          <c:order val="1"/>
          <c:tx>
            <c:strRef>
              <c:f>Sheet1!$C$1</c:f>
              <c:strCache>
                <c:ptCount val="1"/>
                <c:pt idx="0">
                  <c:v>改善訴えなし</c:v>
                </c:pt>
              </c:strCache>
            </c:strRef>
          </c:tx>
          <c:spPr>
            <a:ln w="20320">
              <a:solidFill>
                <a:srgbClr val="2E75B6"/>
              </a:solidFill>
            </a:ln>
          </c:spPr>
          <c:marker>
            <c:symbol val="circle"/>
            <c:size val="5"/>
            <c:spPr>
              <a:solidFill>
                <a:srgbClr val="2E75B6"/>
              </a:solidFill>
              <a:ln w="15240">
                <a:solidFill>
                  <a:srgbClr val="FFFFFF"/>
                </a:solidFill>
              </a:ln>
            </c:spPr>
          </c:marker>
          <c:errBars>
            <c:errDir val="y"/>
            <c:errBarType val="both"/>
            <c:errValType val="cust"/>
            <c:noEndCap val="0"/>
            <c:plus>
              <c:numLit>
                <c:formatCode>General</c:formatCode>
                <c:ptCount val="4"/>
                <c:pt idx="0">
                  <c:v>0.0</c:v>
                </c:pt>
                <c:pt idx="1">
                  <c:v>0.10465120272041546</c:v>
                </c:pt>
                <c:pt idx="2">
                  <c:v>0.11057484422321252</c:v>
                </c:pt>
                <c:pt idx="3">
                  <c:v>0.10465120272041546</c:v>
                </c:pt>
              </c:numLit>
            </c:plus>
            <c:minus>
              <c:numLit>
                <c:formatCode>General</c:formatCode>
                <c:ptCount val="4"/>
                <c:pt idx="0">
                  <c:v>0.0</c:v>
                </c:pt>
                <c:pt idx="1">
                  <c:v>0.10465120272041546</c:v>
                </c:pt>
                <c:pt idx="2">
                  <c:v>0.11057484422321252</c:v>
                </c:pt>
                <c:pt idx="3">
                  <c:v>0.10465120272041546</c:v>
                </c:pt>
              </c:numLit>
            </c:minus>
            <c:spPr>
              <a:ln w="7620">
                <a:solidFill>
                  <a:srgbClr val="2E75B6"/>
                </a:solidFill>
              </a:ln>
            </c:spPr>
          </c:errBars>
          <c:cat>
            <c:strRef>
              <c:f>Sheet1!$A$2:$A$5</c:f>
              <c:strCache>
                <c:ptCount val="4"/>
                <c:pt idx="0">
                  <c:v>0</c:v>
                </c:pt>
                <c:pt idx="1">
                  <c:v>6</c:v>
                </c:pt>
                <c:pt idx="2">
                  <c:v>12</c:v>
                </c:pt>
                <c:pt idx="3">
                  <c:v>18</c:v>
                </c:pt>
              </c:strCache>
            </c:strRef>
          </c:cat>
          <c:val>
            <c:numRef>
              <c:f>Sheet1!$C$2:$C$5</c:f>
              <c:numCache>
                <c:formatCode>General</c:formatCode>
                <c:ptCount val="4"/>
                <c:pt idx="0">
                  <c:v>1.0</c:v>
                </c:pt>
                <c:pt idx="1">
                  <c:v>0.95</c:v>
                </c:pt>
                <c:pt idx="2">
                  <c:v>0.947</c:v>
                </c:pt>
                <c:pt idx="3">
                  <c:v>0.95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40495176"/>
        <c:crosses val="autoZero"/>
        <c:auto val="1"/>
        <c:lblAlgn val="ctr"/>
        <c:lblOffset val="100"/>
        <c:noMultiLvlLbl val="0"/>
      </c:catAx>
      <c:valAx>
        <c:axId val="2140495176"/>
        <c:scaling>
          <c:max val="1.0"/>
          <c:min val="0.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750">
                <a:solidFill>
                  <a:srgbClr val="000000"/>
                </a:solidFill>
                <a:latin typeface="Arial"/>
              </a:defRPr>
            </a:pPr>
          </a:p>
        </c:txPr>
        <c:crossAx val="2118791784"/>
        <c:crosses val="autoZero"/>
        <c:majorUnit val="1.0"/>
      </c:valAx>
    </c:plotArea>
    <c:plotVisOnly val="1"/>
    <c:dispBlanksAs val="gap"/>
    <c:showDLblsOverMax val="0"/>
  </c:chart>
  <c:txPr>
    <a:bodyPr/>
    <a:lstStyle/>
    <a:p>
      <a:pPr>
        <a:defRPr sz="800">
          <a:solidFill>
            <a:srgbClr val="000000"/>
          </a:solidFill>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L1</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Sheet1!$B$2:$B$5</c:f>
              <c:numCache>
                <c:formatCode>General</c:formatCode>
                <c:ptCount val="4"/>
                <c:pt idx="0">
                  <c:v>22.0</c:v>
                </c:pt>
                <c:pt idx="1">
                  <c:v>26.0</c:v>
                </c:pt>
                <c:pt idx="2">
                  <c:v>23.0</c:v>
                </c:pt>
                <c:pt idx="3">
                  <c:v>26.0</c:v>
                </c:pt>
              </c:numCache>
            </c:numRef>
          </c:val>
          <c:smooth val="0"/>
        </c:ser>
        <c:ser>
          <c:idx val="1"/>
          <c:order val="1"/>
          <c:tx>
            <c:strRef>
              <c:f>Sheet1!$C$1</c:f>
              <c:strCache>
                <c:ptCount val="1"/>
                <c:pt idx="0">
                  <c:v>L2</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Sheet1!$C$2:$C$5</c:f>
              <c:numCache>
                <c:formatCode>General</c:formatCode>
                <c:ptCount val="4"/>
                <c:pt idx="0">
                  <c:v>24.0</c:v>
                </c:pt>
                <c:pt idx="1">
                  <c:v>29.0</c:v>
                </c:pt>
                <c:pt idx="2">
                  <c:v>29.0</c:v>
                </c:pt>
                <c:pt idx="3">
                  <c:v>27.0</c:v>
                </c:pt>
              </c:numCache>
            </c:numRef>
          </c:val>
          <c:smooth val="0"/>
        </c:ser>
        <c:ser>
          <c:idx val="2"/>
          <c:order val="2"/>
          <c:tx>
            <c:strRef>
              <c:f>Sheet1!$D$1</c:f>
              <c:strCache>
                <c:ptCount val="1"/>
                <c:pt idx="0">
                  <c:v>L3</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Sheet1!$D$2:$D$5</c:f>
              <c:numCache>
                <c:formatCode>General</c:formatCode>
                <c:ptCount val="4"/>
                <c:pt idx="0">
                  <c:v>24.0</c:v>
                </c:pt>
                <c:pt idx="1">
                  <c:v>23.0</c:v>
                </c:pt>
                <c:pt idx="2">
                  <c:v>24.0</c:v>
                </c:pt>
                <c:pt idx="3">
                  <c:v>25.0</c:v>
                </c:pt>
              </c:numCache>
            </c:numRef>
          </c:val>
          <c:smooth val="0"/>
        </c:ser>
        <c:ser>
          <c:idx val="3"/>
          <c:order val="3"/>
          <c:tx>
            <c:strRef>
              <c:f>Sheet1!$E$1</c:f>
              <c:strCache>
                <c:ptCount val="1"/>
                <c:pt idx="0">
                  <c:v>L4</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Sheet1!$E$2:$E$5</c:f>
              <c:numCache>
                <c:formatCode>General</c:formatCode>
                <c:ptCount val="4"/>
                <c:pt idx="0">
                  <c:v>23.0</c:v>
                </c:pt>
                <c:pt idx="1">
                  <c:v>25.0</c:v>
                </c:pt>
                <c:pt idx="2">
                  <c:v>22.0</c:v>
                </c:pt>
                <c:pt idx="3">
                  <c:v>22.0</c:v>
                </c:pt>
              </c:numCache>
            </c:numRef>
          </c:val>
          <c:smooth val="0"/>
        </c:ser>
        <c:ser>
          <c:idx val="4"/>
          <c:order val="4"/>
          <c:tx>
            <c:strRef>
              <c:f>Sheet1!$F$1</c:f>
              <c:strCache>
                <c:ptCount val="1"/>
                <c:pt idx="0">
                  <c:v>L6</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Sheet1!$F$2:$F$5</c:f>
              <c:numCache>
                <c:formatCode>General</c:formatCode>
                <c:ptCount val="4"/>
                <c:pt idx="0">
                  <c:v>24.0</c:v>
                </c:pt>
                <c:pt idx="1">
                  <c:v>24.0</c:v>
                </c:pt>
                <c:pt idx="2">
                  <c:v>19.0</c:v>
                </c:pt>
                <c:pt idx="3">
                  <c:v>16.0</c:v>
                </c:pt>
              </c:numCache>
            </c:numRef>
          </c:val>
          <c:smooth val="0"/>
        </c:ser>
        <c:ser>
          <c:idx val="5"/>
          <c:order val="5"/>
          <c:tx>
            <c:strRef>
              <c:f>Sheet1!$G$1</c:f>
              <c:strCache>
                <c:ptCount val="1"/>
                <c:pt idx="0">
                  <c:v>L8</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Sheet1!$G$2:$G$5</c:f>
              <c:numCache>
                <c:formatCode>General</c:formatCode>
                <c:ptCount val="4"/>
                <c:pt idx="0">
                  <c:v>19.0</c:v>
                </c:pt>
                <c:pt idx="1">
                  <c:v>25.0</c:v>
                </c:pt>
                <c:pt idx="2">
                  <c:v>23.0</c:v>
                </c:pt>
                <c:pt idx="3">
                  <c:v>24.0</c:v>
                </c:pt>
              </c:numCache>
            </c:numRef>
          </c:val>
          <c:smooth val="0"/>
        </c:ser>
        <c:ser>
          <c:idx val="6"/>
          <c:order val="6"/>
          <c:tx>
            <c:strRef>
              <c:f>Sheet1!$H$1</c:f>
              <c:strCache>
                <c:ptCount val="1"/>
                <c:pt idx="0">
                  <c:v>L15</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Sheet1!$H$2:$H$5</c:f>
              <c:numCache>
                <c:formatCode>General</c:formatCode>
                <c:ptCount val="4"/>
                <c:pt idx="0">
                  <c:v>25.0</c:v>
                </c:pt>
                <c:pt idx="1">
                  <c:v>27.0</c:v>
                </c:pt>
                <c:pt idx="2">
                  <c:v>24.0</c:v>
                </c:pt>
                <c:pt idx="3">
                  <c:v>26.0</c:v>
                </c:pt>
              </c:numCache>
            </c:numRef>
          </c:val>
          <c:smooth val="0"/>
        </c:ser>
        <c:ser>
          <c:idx val="7"/>
          <c:order val="7"/>
          <c:tx>
            <c:strRef>
              <c:f>Sheet1!$I$1</c:f>
              <c:strCache>
                <c:ptCount val="1"/>
                <c:pt idx="0">
                  <c:v>L32</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Sheet1!$I$2:$I$5</c:f>
              <c:numCache>
                <c:formatCode>General</c:formatCode>
                <c:ptCount val="4"/>
                <c:pt idx="0">
                  <c:v>22.0</c:v>
                </c:pt>
                <c:pt idx="1">
                  <c:v>24.0</c:v>
                </c:pt>
                <c:pt idx="2">
                  <c:v>25.0</c:v>
                </c:pt>
                <c:pt idx="3">
                  <c:v>26.0</c:v>
                </c:pt>
              </c:numCache>
            </c:numRef>
          </c:val>
          <c:smooth val="0"/>
        </c:ser>
        <c:ser>
          <c:idx val="8"/>
          <c:order val="8"/>
          <c:tx>
            <c:strRef>
              <c:f>Sheet1!$J$1</c:f>
              <c:strCache>
                <c:ptCount val="1"/>
                <c:pt idx="0">
                  <c:v>L45</c:v>
                </c:pt>
              </c:strCache>
            </c:strRef>
          </c:tx>
          <c:spPr>
            <a:ln w="15240">
              <a:solidFill>
                <a:srgbClr val="C00000">
                  <a:alpha val="45000"/>
                </a:srgbClr>
              </a:solidFill>
            </a:ln>
          </c:spPr>
          <c:marker>
            <c:symbol val="none"/>
          </c:marker>
          <c:cat>
            <c:strRef>
              <c:f>Sheet1!$A$2:$A$5</c:f>
              <c:strCache>
                <c:ptCount val="4"/>
                <c:pt idx="0">
                  <c:v>0か月</c:v>
                </c:pt>
                <c:pt idx="1">
                  <c:v>6か月</c:v>
                </c:pt>
                <c:pt idx="2">
                  <c:v>12か月</c:v>
                </c:pt>
                <c:pt idx="3">
                  <c:v>18か月</c:v>
                </c:pt>
              </c:strCache>
            </c:strRef>
          </c:cat>
          <c:val>
            <c:numRef>
              <c:f>Sheet1!$J$2:$J$5</c:f>
              <c:numCache>
                <c:formatCode>General</c:formatCode>
                <c:ptCount val="4"/>
                <c:pt idx="0">
                  <c:v>23.0</c:v>
                </c:pt>
                <c:pt idx="1">
                  <c:v>18.0</c:v>
                </c:pt>
                <c:pt idx="2">
                  <c:v>19.0</c:v>
                </c:pt>
                <c:pt idx="3">
                  <c:v>16.0</c:v>
                </c:pt>
              </c:numCache>
            </c:numRef>
          </c:val>
          <c:smooth val="0"/>
        </c:ser>
        <c:ser>
          <c:idx val="9"/>
          <c:order val="9"/>
          <c:tx>
            <c:strRef>
              <c:f>Sheet1!$K$1</c:f>
              <c:strCache>
                <c:ptCount val="1"/>
                <c:pt idx="0">
                  <c:v>群平均 (n=9)</c:v>
                </c:pt>
              </c:strCache>
            </c:strRef>
          </c:tx>
          <c:spPr>
            <a:ln w="38100">
              <a:solidFill>
                <a:srgbClr val="C00000"/>
              </a:solidFill>
            </a:ln>
          </c:spPr>
          <c:marker>
            <c:symbol val="circle"/>
            <c:size val="8"/>
            <c:spPr>
              <a:solidFill>
                <a:srgbClr val="C00000"/>
              </a:solidFill>
              <a:ln w="15240">
                <a:solidFill>
                  <a:srgbClr val="FFFFFF"/>
                </a:solidFill>
              </a:ln>
            </c:spPr>
          </c:marker>
          <c:cat>
            <c:strRef>
              <c:f>Sheet1!$A$2:$A$5</c:f>
              <c:strCache>
                <c:ptCount val="4"/>
                <c:pt idx="0">
                  <c:v>0か月</c:v>
                </c:pt>
                <c:pt idx="1">
                  <c:v>6か月</c:v>
                </c:pt>
                <c:pt idx="2">
                  <c:v>12か月</c:v>
                </c:pt>
                <c:pt idx="3">
                  <c:v>18か月</c:v>
                </c:pt>
              </c:strCache>
            </c:strRef>
          </c:cat>
          <c:val>
            <c:numRef>
              <c:f>Sheet1!$K$2:$K$5</c:f>
              <c:numCache>
                <c:formatCode>General</c:formatCode>
                <c:ptCount val="4"/>
                <c:pt idx="0">
                  <c:v>22.889</c:v>
                </c:pt>
                <c:pt idx="1">
                  <c:v>24.556</c:v>
                </c:pt>
                <c:pt idx="2">
                  <c:v>23.111</c:v>
                </c:pt>
                <c:pt idx="3">
                  <c:v>23.111</c:v>
                </c:pt>
              </c:numCache>
            </c:numRef>
          </c:val>
          <c:smooth val="0"/>
        </c:ser>
        <c:marker val="1"/>
        <c:smooth val="0"/>
        <c:axId val="2118791784"/>
        <c:axId val="2140495176"/>
      </c:lineChart>
      <c:catAx>
        <c:axId val="2118791784"/>
        <c:scaling>
          <c:orientation val="minMax"/>
        </c:scaling>
        <c:delete val="0"/>
        <c:axPos val="b"/>
        <c:title>
          <c:tx>
            <c:rich>
              <a:bodyPr/>
              <a:lstStyle/>
              <a:p>
                <a:r>
                  <a:rPr sz="1200">
                    <a:solidFill>
                      <a:srgbClr val="000000"/>
                    </a:solidFill>
                    <a:latin typeface="Arial"/>
                  </a:rPr>
                  <a:t>改善訴えあり（n=9）</a:t>
                </a:r>
              </a:p>
            </c:rich>
          </c:tx>
          <c:layout/>
          <c:overlay val="0"/>
        </c:title>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40495176"/>
        <c:crosses val="autoZero"/>
        <c:auto val="1"/>
        <c:lblAlgn val="ctr"/>
        <c:lblOffset val="100"/>
        <c:noMultiLvlLbl val="0"/>
      </c:catAx>
      <c:valAx>
        <c:axId val="2140495176"/>
        <c:scaling>
          <c:max val="30.0"/>
          <c:min val="14.0"/>
        </c:scaling>
        <c:delete val="0"/>
        <c:axPos val="l"/>
        <c:majorGridlines>
          <c:spPr>
            <a:ln w="9525">
              <a:solidFill>
                <a:srgbClr val="E1E0D9"/>
              </a:solidFill>
              <a:prstDash val="dash"/>
            </a:ln>
          </c:spPr>
        </c:majorGridlines>
        <c:title>
          <c:tx>
            <c:rich>
              <a:bodyPr/>
              <a:lstStyle/>
              <a:p>
                <a:r>
                  <a:rPr sz="1200">
                    <a:solidFill>
                      <a:srgbClr val="000000"/>
                    </a:solidFill>
                    <a:latin typeface="Arial"/>
                  </a:rPr>
                  <a:t>MMSE実測値（点）</a:t>
                </a:r>
              </a:p>
            </c:rich>
          </c:tx>
          <c:layout/>
          <c:overlay val="0"/>
        </c:title>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18791784"/>
        <c:crosses val="autoZero"/>
        <c:majorUnit val="2.0"/>
      </c:valAx>
    </c:plotArea>
    <c:legend>
      <c:legendPos val="b"/>
      <c:legendEntry>
        <c:idx val="8"/>
        <c:delete val="1"/>
      </c:legendEntry>
      <c:legendEntry>
        <c:idx val="7"/>
        <c:delete val="1"/>
      </c:legendEntry>
      <c:legendEntry>
        <c:idx val="6"/>
        <c:delete val="1"/>
      </c:legendEntry>
      <c:legendEntry>
        <c:idx val="5"/>
        <c:delete val="1"/>
      </c:legendEntry>
      <c:legendEntry>
        <c:idx val="4"/>
        <c:delete val="1"/>
      </c:legendEntry>
      <c:legendEntry>
        <c:idx val="3"/>
        <c:delete val="1"/>
      </c:legendEntry>
      <c:legendEntry>
        <c:idx val="2"/>
        <c:delete val="1"/>
      </c:legendEntry>
      <c:legendEntry>
        <c:idx val="1"/>
        <c:delete val="1"/>
      </c:legendEntry>
      <c:legendEntry>
        <c:idx val="0"/>
        <c:delete val="1"/>
      </c:legendEntry>
      <c:layout/>
      <c:overlay val="0"/>
      <c:txPr>
        <a:bodyPr/>
        <a:lstStyle/>
        <a:p>
          <a:pPr>
            <a:defRPr sz="1100">
              <a:solidFill>
                <a:srgbClr val="000000"/>
              </a:solidFill>
              <a:latin typeface="Arial"/>
            </a:defRPr>
          </a:pPr>
        </a:p>
      </c:txPr>
    </c:legend>
    <c:plotVisOnly val="1"/>
    <c:dispBlanksAs val="gap"/>
    <c:showDLblsOverMax val="0"/>
  </c:chart>
  <c:txPr>
    <a:bodyPr/>
    <a:lstStyle/>
    <a:p>
      <a:pPr>
        <a:defRPr sz="1200">
          <a:solidFill>
            <a:srgbClr val="000000"/>
          </a:solidFill>
          <a:latin typeface="Aria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L7</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Sheet1!$B$2:$B$5</c:f>
              <c:numCache>
                <c:formatCode>General</c:formatCode>
                <c:ptCount val="4"/>
                <c:pt idx="0">
                  <c:v>22.0</c:v>
                </c:pt>
                <c:pt idx="1">
                  <c:v>25.0</c:v>
                </c:pt>
                <c:pt idx="2">
                  <c:v>25.0</c:v>
                </c:pt>
                <c:pt idx="3">
                  <c:v>26.0</c:v>
                </c:pt>
              </c:numCache>
            </c:numRef>
          </c:val>
          <c:smooth val="0"/>
        </c:ser>
        <c:ser>
          <c:idx val="1"/>
          <c:order val="1"/>
          <c:tx>
            <c:strRef>
              <c:f>Sheet1!$C$1</c:f>
              <c:strCache>
                <c:ptCount val="1"/>
                <c:pt idx="0">
                  <c:v>L9</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Sheet1!$C$2:$C$5</c:f>
              <c:numCache>
                <c:formatCode>General</c:formatCode>
                <c:ptCount val="4"/>
                <c:pt idx="0">
                  <c:v>23.0</c:v>
                </c:pt>
                <c:pt idx="1">
                  <c:v>26.0</c:v>
                </c:pt>
                <c:pt idx="2">
                  <c:v>25.0</c:v>
                </c:pt>
                <c:pt idx="3">
                  <c:v>25.0</c:v>
                </c:pt>
              </c:numCache>
            </c:numRef>
          </c:val>
          <c:smooth val="0"/>
        </c:ser>
        <c:ser>
          <c:idx val="2"/>
          <c:order val="2"/>
          <c:tx>
            <c:strRef>
              <c:f>Sheet1!$D$1</c:f>
              <c:strCache>
                <c:ptCount val="1"/>
                <c:pt idx="0">
                  <c:v>L11</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Sheet1!$D$2:$D$5</c:f>
              <c:numCache>
                <c:formatCode>General</c:formatCode>
                <c:ptCount val="4"/>
                <c:pt idx="0">
                  <c:v>28.0</c:v>
                </c:pt>
                <c:pt idx="1">
                  <c:v>22.0</c:v>
                </c:pt>
                <c:pt idx="2">
                  <c:v>22.0</c:v>
                </c:pt>
                <c:pt idx="3">
                  <c:v>19.0</c:v>
                </c:pt>
              </c:numCache>
            </c:numRef>
          </c:val>
          <c:smooth val="0"/>
        </c:ser>
        <c:ser>
          <c:idx val="3"/>
          <c:order val="3"/>
          <c:tx>
            <c:strRef>
              <c:f>Sheet1!$E$1</c:f>
              <c:strCache>
                <c:ptCount val="1"/>
                <c:pt idx="0">
                  <c:v>L12</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Sheet1!$E$2:$E$5</c:f>
              <c:numCache>
                <c:formatCode>General</c:formatCode>
                <c:ptCount val="4"/>
                <c:pt idx="0">
                  <c:v>24.0</c:v>
                </c:pt>
                <c:pt idx="1">
                  <c:v>24.0</c:v>
                </c:pt>
                <c:pt idx="2">
                  <c:v>27.0</c:v>
                </c:pt>
                <c:pt idx="3">
                  <c:v>25.0</c:v>
                </c:pt>
              </c:numCache>
            </c:numRef>
          </c:val>
          <c:smooth val="0"/>
        </c:ser>
        <c:ser>
          <c:idx val="4"/>
          <c:order val="4"/>
          <c:tx>
            <c:strRef>
              <c:f>Sheet1!$F$1</c:f>
              <c:strCache>
                <c:ptCount val="1"/>
                <c:pt idx="0">
                  <c:v>L13</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Sheet1!$F$2:$F$5</c:f>
              <c:numCache>
                <c:formatCode>General</c:formatCode>
                <c:ptCount val="4"/>
                <c:pt idx="0">
                  <c:v>25.0</c:v>
                </c:pt>
                <c:pt idx="1">
                  <c:v>27.0</c:v>
                </c:pt>
                <c:pt idx="2">
                  <c:v>24.0</c:v>
                </c:pt>
                <c:pt idx="3">
                  <c:v>26.0</c:v>
                </c:pt>
              </c:numCache>
            </c:numRef>
          </c:val>
          <c:smooth val="0"/>
        </c:ser>
        <c:ser>
          <c:idx val="5"/>
          <c:order val="5"/>
          <c:tx>
            <c:strRef>
              <c:f>Sheet1!$G$1</c:f>
              <c:strCache>
                <c:ptCount val="1"/>
                <c:pt idx="0">
                  <c:v>L16</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Sheet1!$G$2:$G$5</c:f>
              <c:numCache>
                <c:formatCode>General</c:formatCode>
                <c:ptCount val="4"/>
                <c:pt idx="0">
                  <c:v>26.0</c:v>
                </c:pt>
                <c:pt idx="1">
                  <c:v>27.0</c:v>
                </c:pt>
                <c:pt idx="2">
                  <c:v>25.0</c:v>
                </c:pt>
                <c:pt idx="3">
                  <c:v>24.0</c:v>
                </c:pt>
              </c:numCache>
            </c:numRef>
          </c:val>
          <c:smooth val="0"/>
        </c:ser>
        <c:ser>
          <c:idx val="6"/>
          <c:order val="6"/>
          <c:tx>
            <c:strRef>
              <c:f>Sheet1!$H$1</c:f>
              <c:strCache>
                <c:ptCount val="1"/>
                <c:pt idx="0">
                  <c:v>L17</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Sheet1!$H$2:$H$5</c:f>
              <c:numCache>
                <c:formatCode>General</c:formatCode>
                <c:ptCount val="4"/>
                <c:pt idx="0">
                  <c:v>22.0</c:v>
                </c:pt>
                <c:pt idx="1">
                  <c:v>22.0</c:v>
                </c:pt>
                <c:pt idx="3">
                  <c:v>22.0</c:v>
                </c:pt>
              </c:numCache>
            </c:numRef>
          </c:val>
          <c:smooth val="0"/>
        </c:ser>
        <c:ser>
          <c:idx val="7"/>
          <c:order val="7"/>
          <c:tx>
            <c:strRef>
              <c:f>Sheet1!$I$1</c:f>
              <c:strCache>
                <c:ptCount val="1"/>
                <c:pt idx="0">
                  <c:v>L19</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Sheet1!$I$2:$I$5</c:f>
              <c:numCache>
                <c:formatCode>General</c:formatCode>
                <c:ptCount val="4"/>
                <c:pt idx="0">
                  <c:v>24.0</c:v>
                </c:pt>
                <c:pt idx="1">
                  <c:v>25.0</c:v>
                </c:pt>
                <c:pt idx="2">
                  <c:v>24.0</c:v>
                </c:pt>
                <c:pt idx="3">
                  <c:v>23.0</c:v>
                </c:pt>
              </c:numCache>
            </c:numRef>
          </c:val>
          <c:smooth val="0"/>
        </c:ser>
        <c:ser>
          <c:idx val="8"/>
          <c:order val="8"/>
          <c:tx>
            <c:strRef>
              <c:f>Sheet1!$J$1</c:f>
              <c:strCache>
                <c:ptCount val="1"/>
                <c:pt idx="0">
                  <c:v>L21</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Sheet1!$J$2:$J$5</c:f>
              <c:numCache>
                <c:formatCode>General</c:formatCode>
                <c:ptCount val="4"/>
                <c:pt idx="0">
                  <c:v>27.0</c:v>
                </c:pt>
                <c:pt idx="1">
                  <c:v>25.0</c:v>
                </c:pt>
                <c:pt idx="2">
                  <c:v>26.0</c:v>
                </c:pt>
                <c:pt idx="3">
                  <c:v>24.0</c:v>
                </c:pt>
              </c:numCache>
            </c:numRef>
          </c:val>
          <c:smooth val="0"/>
        </c:ser>
        <c:ser>
          <c:idx val="9"/>
          <c:order val="9"/>
          <c:tx>
            <c:strRef>
              <c:f>Sheet1!$K$1</c:f>
              <c:strCache>
                <c:ptCount val="1"/>
                <c:pt idx="0">
                  <c:v>L22</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Sheet1!$K$2:$K$5</c:f>
              <c:numCache>
                <c:formatCode>General</c:formatCode>
                <c:ptCount val="4"/>
                <c:pt idx="0">
                  <c:v>24.0</c:v>
                </c:pt>
                <c:pt idx="1">
                  <c:v>24.0</c:v>
                </c:pt>
                <c:pt idx="2">
                  <c:v>22.0</c:v>
                </c:pt>
                <c:pt idx="3">
                  <c:v>25.0</c:v>
                </c:pt>
              </c:numCache>
            </c:numRef>
          </c:val>
          <c:smooth val="0"/>
        </c:ser>
        <c:ser>
          <c:idx val="10"/>
          <c:order val="10"/>
          <c:tx>
            <c:strRef>
              <c:f>Sheet1!$L$1</c:f>
              <c:strCache>
                <c:ptCount val="1"/>
                <c:pt idx="0">
                  <c:v>L23</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Sheet1!$L$2:$L$5</c:f>
              <c:numCache>
                <c:formatCode>General</c:formatCode>
                <c:ptCount val="4"/>
                <c:pt idx="0">
                  <c:v>27.0</c:v>
                </c:pt>
                <c:pt idx="1">
                  <c:v>25.0</c:v>
                </c:pt>
                <c:pt idx="2">
                  <c:v>25.0</c:v>
                </c:pt>
                <c:pt idx="3">
                  <c:v>24.0</c:v>
                </c:pt>
              </c:numCache>
            </c:numRef>
          </c:val>
          <c:smooth val="0"/>
        </c:ser>
        <c:ser>
          <c:idx val="11"/>
          <c:order val="11"/>
          <c:tx>
            <c:strRef>
              <c:f>Sheet1!$M$1</c:f>
              <c:strCache>
                <c:ptCount val="1"/>
                <c:pt idx="0">
                  <c:v>L24</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Sheet1!$M$2:$M$5</c:f>
              <c:numCache>
                <c:formatCode>General</c:formatCode>
                <c:ptCount val="4"/>
                <c:pt idx="0">
                  <c:v>27.0</c:v>
                </c:pt>
                <c:pt idx="1">
                  <c:v>25.0</c:v>
                </c:pt>
                <c:pt idx="2">
                  <c:v>27.0</c:v>
                </c:pt>
                <c:pt idx="3">
                  <c:v>26.0</c:v>
                </c:pt>
              </c:numCache>
            </c:numRef>
          </c:val>
          <c:smooth val="0"/>
        </c:ser>
        <c:ser>
          <c:idx val="12"/>
          <c:order val="12"/>
          <c:tx>
            <c:strRef>
              <c:f>Sheet1!$N$1</c:f>
              <c:strCache>
                <c:ptCount val="1"/>
                <c:pt idx="0">
                  <c:v>L25</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Sheet1!$N$2:$N$5</c:f>
              <c:numCache>
                <c:formatCode>General</c:formatCode>
                <c:ptCount val="4"/>
                <c:pt idx="0">
                  <c:v>24.0</c:v>
                </c:pt>
                <c:pt idx="1">
                  <c:v>26.0</c:v>
                </c:pt>
                <c:pt idx="2">
                  <c:v>26.0</c:v>
                </c:pt>
                <c:pt idx="3">
                  <c:v>23.0</c:v>
                </c:pt>
              </c:numCache>
            </c:numRef>
          </c:val>
          <c:smooth val="0"/>
        </c:ser>
        <c:ser>
          <c:idx val="13"/>
          <c:order val="13"/>
          <c:tx>
            <c:strRef>
              <c:f>Sheet1!$O$1</c:f>
              <c:strCache>
                <c:ptCount val="1"/>
                <c:pt idx="0">
                  <c:v>L26</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Sheet1!$O$2:$O$5</c:f>
              <c:numCache>
                <c:formatCode>General</c:formatCode>
                <c:ptCount val="4"/>
                <c:pt idx="0">
                  <c:v>22.0</c:v>
                </c:pt>
                <c:pt idx="1">
                  <c:v>23.0</c:v>
                </c:pt>
                <c:pt idx="2">
                  <c:v>25.0</c:v>
                </c:pt>
                <c:pt idx="3">
                  <c:v>23.0</c:v>
                </c:pt>
              </c:numCache>
            </c:numRef>
          </c:val>
          <c:smooth val="0"/>
        </c:ser>
        <c:ser>
          <c:idx val="14"/>
          <c:order val="14"/>
          <c:tx>
            <c:strRef>
              <c:f>Sheet1!$P$1</c:f>
              <c:strCache>
                <c:ptCount val="1"/>
                <c:pt idx="0">
                  <c:v>L27</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Sheet1!$P$2:$P$5</c:f>
              <c:numCache>
                <c:formatCode>General</c:formatCode>
                <c:ptCount val="4"/>
                <c:pt idx="0">
                  <c:v>22.0</c:v>
                </c:pt>
                <c:pt idx="1">
                  <c:v>21.0</c:v>
                </c:pt>
                <c:pt idx="2">
                  <c:v>22.0</c:v>
                </c:pt>
                <c:pt idx="3">
                  <c:v>22.0</c:v>
                </c:pt>
              </c:numCache>
            </c:numRef>
          </c:val>
          <c:smooth val="0"/>
        </c:ser>
        <c:ser>
          <c:idx val="15"/>
          <c:order val="15"/>
          <c:tx>
            <c:strRef>
              <c:f>Sheet1!$Q$1</c:f>
              <c:strCache>
                <c:ptCount val="1"/>
                <c:pt idx="0">
                  <c:v>L28</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Sheet1!$Q$2:$Q$5</c:f>
              <c:numCache>
                <c:formatCode>General</c:formatCode>
                <c:ptCount val="4"/>
                <c:pt idx="0">
                  <c:v>22.0</c:v>
                </c:pt>
                <c:pt idx="1">
                  <c:v>24.0</c:v>
                </c:pt>
                <c:pt idx="2">
                  <c:v>24.0</c:v>
                </c:pt>
                <c:pt idx="3">
                  <c:v>24.0</c:v>
                </c:pt>
              </c:numCache>
            </c:numRef>
          </c:val>
          <c:smooth val="0"/>
        </c:ser>
        <c:ser>
          <c:idx val="16"/>
          <c:order val="16"/>
          <c:tx>
            <c:strRef>
              <c:f>Sheet1!$R$1</c:f>
              <c:strCache>
                <c:ptCount val="1"/>
                <c:pt idx="0">
                  <c:v>L30</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Sheet1!$R$2:$R$5</c:f>
              <c:numCache>
                <c:formatCode>General</c:formatCode>
                <c:ptCount val="4"/>
                <c:pt idx="0">
                  <c:v>22.0</c:v>
                </c:pt>
                <c:pt idx="1">
                  <c:v>20.0</c:v>
                </c:pt>
                <c:pt idx="2">
                  <c:v>18.0</c:v>
                </c:pt>
                <c:pt idx="3">
                  <c:v>17.0</c:v>
                </c:pt>
              </c:numCache>
            </c:numRef>
          </c:val>
          <c:smooth val="0"/>
        </c:ser>
        <c:ser>
          <c:idx val="17"/>
          <c:order val="17"/>
          <c:tx>
            <c:strRef>
              <c:f>Sheet1!$S$1</c:f>
              <c:strCache>
                <c:ptCount val="1"/>
                <c:pt idx="0">
                  <c:v>L31</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Sheet1!$S$2:$S$5</c:f>
              <c:numCache>
                <c:formatCode>General</c:formatCode>
                <c:ptCount val="4"/>
                <c:pt idx="0">
                  <c:v>27.0</c:v>
                </c:pt>
                <c:pt idx="1">
                  <c:v>28.0</c:v>
                </c:pt>
                <c:pt idx="2">
                  <c:v>24.0</c:v>
                </c:pt>
                <c:pt idx="3">
                  <c:v>27.0</c:v>
                </c:pt>
              </c:numCache>
            </c:numRef>
          </c:val>
          <c:smooth val="0"/>
        </c:ser>
        <c:ser>
          <c:idx val="18"/>
          <c:order val="18"/>
          <c:tx>
            <c:strRef>
              <c:f>Sheet1!$T$1</c:f>
              <c:strCache>
                <c:ptCount val="1"/>
                <c:pt idx="0">
                  <c:v>L33</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Sheet1!$T$2:$T$5</c:f>
              <c:numCache>
                <c:formatCode>General</c:formatCode>
                <c:ptCount val="4"/>
                <c:pt idx="0">
                  <c:v>23.0</c:v>
                </c:pt>
                <c:pt idx="1">
                  <c:v>22.0</c:v>
                </c:pt>
                <c:pt idx="2">
                  <c:v>22.0</c:v>
                </c:pt>
                <c:pt idx="3">
                  <c:v>23.0</c:v>
                </c:pt>
              </c:numCache>
            </c:numRef>
          </c:val>
          <c:smooth val="0"/>
        </c:ser>
        <c:ser>
          <c:idx val="19"/>
          <c:order val="19"/>
          <c:tx>
            <c:strRef>
              <c:f>Sheet1!$U$1</c:f>
              <c:strCache>
                <c:ptCount val="1"/>
                <c:pt idx="0">
                  <c:v>L34</c:v>
                </c:pt>
              </c:strCache>
            </c:strRef>
          </c:tx>
          <c:spPr>
            <a:ln w="12700">
              <a:solidFill>
                <a:srgbClr val="2E75B6">
                  <a:alpha val="58000"/>
                </a:srgbClr>
              </a:solidFill>
            </a:ln>
          </c:spPr>
          <c:marker>
            <c:symbol val="none"/>
          </c:marker>
          <c:cat>
            <c:strRef>
              <c:f>Sheet1!$A$2:$A$5</c:f>
              <c:strCache>
                <c:ptCount val="4"/>
                <c:pt idx="0">
                  <c:v>0か月</c:v>
                </c:pt>
                <c:pt idx="1">
                  <c:v>6か月</c:v>
                </c:pt>
                <c:pt idx="2">
                  <c:v>12か月</c:v>
                </c:pt>
                <c:pt idx="3">
                  <c:v>18か月</c:v>
                </c:pt>
              </c:strCache>
            </c:strRef>
          </c:cat>
          <c:val>
            <c:numRef>
              <c:f>Sheet1!$U$2:$U$5</c:f>
              <c:numCache>
                <c:formatCode>General</c:formatCode>
                <c:ptCount val="4"/>
                <c:pt idx="0">
                  <c:v>24.0</c:v>
                </c:pt>
                <c:pt idx="1">
                  <c:v>22.0</c:v>
                </c:pt>
                <c:pt idx="2">
                  <c:v>20.0</c:v>
                </c:pt>
                <c:pt idx="3">
                  <c:v>22.0</c:v>
                </c:pt>
              </c:numCache>
            </c:numRef>
          </c:val>
          <c:smooth val="0"/>
        </c:ser>
        <c:ser>
          <c:idx val="20"/>
          <c:order val="20"/>
          <c:tx>
            <c:strRef>
              <c:f>Sheet1!$V$1</c:f>
              <c:strCache>
                <c:ptCount val="1"/>
                <c:pt idx="0">
                  <c:v>群平均 (n=20)</c:v>
                </c:pt>
              </c:strCache>
            </c:strRef>
          </c:tx>
          <c:spPr>
            <a:ln w="38100">
              <a:solidFill>
                <a:srgbClr val="2E75B6"/>
              </a:solidFill>
            </a:ln>
          </c:spPr>
          <c:marker>
            <c:symbol val="circle"/>
            <c:size val="8"/>
            <c:spPr>
              <a:solidFill>
                <a:srgbClr val="2E75B6"/>
              </a:solidFill>
              <a:ln w="15240">
                <a:solidFill>
                  <a:srgbClr val="FFFFFF"/>
                </a:solidFill>
              </a:ln>
            </c:spPr>
          </c:marker>
          <c:cat>
            <c:strRef>
              <c:f>Sheet1!$A$2:$A$5</c:f>
              <c:strCache>
                <c:ptCount val="4"/>
                <c:pt idx="0">
                  <c:v>0か月</c:v>
                </c:pt>
                <c:pt idx="1">
                  <c:v>6か月</c:v>
                </c:pt>
                <c:pt idx="2">
                  <c:v>12か月</c:v>
                </c:pt>
                <c:pt idx="3">
                  <c:v>18か月</c:v>
                </c:pt>
              </c:strCache>
            </c:strRef>
          </c:cat>
          <c:val>
            <c:numRef>
              <c:f>Sheet1!$V$2:$V$5</c:f>
              <c:numCache>
                <c:formatCode>General</c:formatCode>
                <c:ptCount val="4"/>
                <c:pt idx="0">
                  <c:v>24.25</c:v>
                </c:pt>
                <c:pt idx="1">
                  <c:v>24.15</c:v>
                </c:pt>
                <c:pt idx="2">
                  <c:v>23.842</c:v>
                </c:pt>
                <c:pt idx="3">
                  <c:v>23.5</c:v>
                </c:pt>
              </c:numCache>
            </c:numRef>
          </c:val>
          <c:smooth val="0"/>
        </c:ser>
        <c:marker val="1"/>
        <c:smooth val="0"/>
        <c:axId val="2118791784"/>
        <c:axId val="2140495176"/>
      </c:lineChart>
      <c:catAx>
        <c:axId val="2118791784"/>
        <c:scaling>
          <c:orientation val="minMax"/>
        </c:scaling>
        <c:delete val="0"/>
        <c:axPos val="b"/>
        <c:title>
          <c:tx>
            <c:rich>
              <a:bodyPr/>
              <a:lstStyle/>
              <a:p>
                <a:r>
                  <a:rPr sz="1200">
                    <a:solidFill>
                      <a:srgbClr val="000000"/>
                    </a:solidFill>
                    <a:latin typeface="Arial"/>
                  </a:rPr>
                  <a:t>改善訴えなし（n=20）</a:t>
                </a:r>
              </a:p>
            </c:rich>
          </c:tx>
          <c:layout/>
          <c:overlay val="0"/>
        </c:title>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40495176"/>
        <c:crosses val="autoZero"/>
        <c:auto val="1"/>
        <c:lblAlgn val="ctr"/>
        <c:lblOffset val="100"/>
        <c:noMultiLvlLbl val="0"/>
      </c:catAx>
      <c:valAx>
        <c:axId val="2140495176"/>
        <c:scaling>
          <c:max val="30.0"/>
          <c:min val="14.0"/>
        </c:scaling>
        <c:delete val="0"/>
        <c:axPos val="l"/>
        <c:majorGridlines>
          <c:spPr>
            <a:ln w="9525">
              <a:solidFill>
                <a:srgbClr val="E1E0D9"/>
              </a:solidFill>
              <a:prstDash val="dash"/>
            </a:ln>
          </c:spPr>
        </c:majorGridlines>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18791784"/>
        <c:crosses val="autoZero"/>
        <c:majorUnit val="2.0"/>
      </c:valAx>
    </c:plotArea>
    <c:legend>
      <c:legendPos val="b"/>
      <c:legendEntry>
        <c:idx val="19"/>
        <c:delete val="1"/>
      </c:legendEntry>
      <c:legendEntry>
        <c:idx val="18"/>
        <c:delete val="1"/>
      </c:legendEntry>
      <c:legendEntry>
        <c:idx val="17"/>
        <c:delete val="1"/>
      </c:legendEntry>
      <c:legendEntry>
        <c:idx val="16"/>
        <c:delete val="1"/>
      </c:legendEntry>
      <c:legendEntry>
        <c:idx val="15"/>
        <c:delete val="1"/>
      </c:legendEntry>
      <c:legendEntry>
        <c:idx val="14"/>
        <c:delete val="1"/>
      </c:legendEntry>
      <c:legendEntry>
        <c:idx val="13"/>
        <c:delete val="1"/>
      </c:legendEntry>
      <c:legendEntry>
        <c:idx val="12"/>
        <c:delete val="1"/>
      </c:legendEntry>
      <c:legendEntry>
        <c:idx val="11"/>
        <c:delete val="1"/>
      </c:legendEntry>
      <c:legendEntry>
        <c:idx val="10"/>
        <c:delete val="1"/>
      </c:legendEntry>
      <c:legendEntry>
        <c:idx val="9"/>
        <c:delete val="1"/>
      </c:legendEntry>
      <c:legendEntry>
        <c:idx val="8"/>
        <c:delete val="1"/>
      </c:legendEntry>
      <c:legendEntry>
        <c:idx val="7"/>
        <c:delete val="1"/>
      </c:legendEntry>
      <c:legendEntry>
        <c:idx val="6"/>
        <c:delete val="1"/>
      </c:legendEntry>
      <c:legendEntry>
        <c:idx val="5"/>
        <c:delete val="1"/>
      </c:legendEntry>
      <c:legendEntry>
        <c:idx val="4"/>
        <c:delete val="1"/>
      </c:legendEntry>
      <c:legendEntry>
        <c:idx val="3"/>
        <c:delete val="1"/>
      </c:legendEntry>
      <c:legendEntry>
        <c:idx val="2"/>
        <c:delete val="1"/>
      </c:legendEntry>
      <c:legendEntry>
        <c:idx val="1"/>
        <c:delete val="1"/>
      </c:legendEntry>
      <c:legendEntry>
        <c:idx val="0"/>
        <c:delete val="1"/>
      </c:legendEntry>
      <c:layout/>
      <c:overlay val="0"/>
      <c:txPr>
        <a:bodyPr/>
        <a:lstStyle/>
        <a:p>
          <a:pPr>
            <a:defRPr sz="1100">
              <a:solidFill>
                <a:srgbClr val="000000"/>
              </a:solidFill>
              <a:latin typeface="Arial"/>
            </a:defRPr>
          </a:pPr>
        </a:p>
      </c:txPr>
    </c:legend>
    <c:plotVisOnly val="1"/>
    <c:dispBlanksAs val="gap"/>
    <c:showDLblsOverMax val="0"/>
  </c:chart>
  <c:txPr>
    <a:bodyPr/>
    <a:lstStyle/>
    <a:p>
      <a:pPr>
        <a:defRPr sz="1200">
          <a:solidFill>
            <a:srgbClr val="000000"/>
          </a:solidFill>
          <a:latin typeface="Aria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改善訴えなし 個別症例</c:v>
                </c:pt>
              </c:strCache>
            </c:strRef>
          </c:tx>
          <c:spPr>
            <a:ln w="47625">
              <a:noFill/>
            </a:ln>
          </c:spPr>
          <c:marker>
            <c:symbol val="circle"/>
            <c:size val="6"/>
            <c:spPr>
              <a:solidFill>
                <a:srgbClr val="2E75B6">
                  <a:alpha val="70000"/>
                </a:srgbClr>
              </a:solidFill>
              <a:ln>
                <a:noFill/>
              </a:ln>
            </c:spPr>
          </c:marker>
          <c:xVal>
            <c:numRef>
              <c:f>Sheet1!$A$2:$A$21</c:f>
              <c:numCache>
                <c:formatCode>General</c:formatCode>
                <c:ptCount val="20"/>
                <c:pt idx="0">
                  <c:v>2.107</c:v>
                </c:pt>
                <c:pt idx="1">
                  <c:v>1.968</c:v>
                </c:pt>
                <c:pt idx="2">
                  <c:v>1.898</c:v>
                </c:pt>
                <c:pt idx="3">
                  <c:v>1.951</c:v>
                </c:pt>
                <c:pt idx="4">
                  <c:v>1.911</c:v>
                </c:pt>
                <c:pt idx="5">
                  <c:v>2.076</c:v>
                </c:pt>
                <c:pt idx="6">
                  <c:v>2.077</c:v>
                </c:pt>
                <c:pt idx="7">
                  <c:v>2.075</c:v>
                </c:pt>
                <c:pt idx="8">
                  <c:v>2.014</c:v>
                </c:pt>
                <c:pt idx="9">
                  <c:v>2.117</c:v>
                </c:pt>
                <c:pt idx="10">
                  <c:v>1.944</c:v>
                </c:pt>
                <c:pt idx="11">
                  <c:v>1.882</c:v>
                </c:pt>
                <c:pt idx="12">
                  <c:v>1.89</c:v>
                </c:pt>
                <c:pt idx="13">
                  <c:v>1.951</c:v>
                </c:pt>
                <c:pt idx="14">
                  <c:v>2.077</c:v>
                </c:pt>
                <c:pt idx="15">
                  <c:v>1.979</c:v>
                </c:pt>
                <c:pt idx="16">
                  <c:v>2.075</c:v>
                </c:pt>
                <c:pt idx="17">
                  <c:v>1.926</c:v>
                </c:pt>
                <c:pt idx="18">
                  <c:v>2.079</c:v>
                </c:pt>
                <c:pt idx="19">
                  <c:v>2.038</c:v>
                </c:pt>
              </c:numCache>
            </c:numRef>
          </c:xVal>
          <c:yVal>
            <c:numRef>
              <c:f>Sheet1!$B$2:$B$21</c:f>
              <c:numCache>
                <c:formatCode>General</c:formatCode>
                <c:ptCount val="20"/>
                <c:pt idx="0">
                  <c:v>4.0</c:v>
                </c:pt>
                <c:pt idx="1">
                  <c:v>2.0</c:v>
                </c:pt>
                <c:pt idx="2">
                  <c:v>-9.0</c:v>
                </c:pt>
                <c:pt idx="3">
                  <c:v>1.0</c:v>
                </c:pt>
                <c:pt idx="4">
                  <c:v>1.0</c:v>
                </c:pt>
                <c:pt idx="5">
                  <c:v>-2.0</c:v>
                </c:pt>
                <c:pt idx="6">
                  <c:v>0.0</c:v>
                </c:pt>
                <c:pt idx="7">
                  <c:v>-1.0</c:v>
                </c:pt>
                <c:pt idx="8">
                  <c:v>-3.0</c:v>
                </c:pt>
                <c:pt idx="9">
                  <c:v>1.0</c:v>
                </c:pt>
                <c:pt idx="10">
                  <c:v>-3.0</c:v>
                </c:pt>
                <c:pt idx="11">
                  <c:v>-1.0</c:v>
                </c:pt>
                <c:pt idx="12">
                  <c:v>-1.0</c:v>
                </c:pt>
                <c:pt idx="13">
                  <c:v>1.0</c:v>
                </c:pt>
                <c:pt idx="14">
                  <c:v>0.0</c:v>
                </c:pt>
                <c:pt idx="15">
                  <c:v>2.0</c:v>
                </c:pt>
                <c:pt idx="16">
                  <c:v>-5.0</c:v>
                </c:pt>
                <c:pt idx="17">
                  <c:v>0.0</c:v>
                </c:pt>
                <c:pt idx="18">
                  <c:v>0.0</c:v>
                </c:pt>
                <c:pt idx="19">
                  <c:v>-2.0</c:v>
                </c:pt>
              </c:numCache>
            </c:numRef>
          </c:yVal>
          <c:smooth val="0"/>
        </c:ser>
        <c:ser>
          <c:idx val="1"/>
          <c:order val="1"/>
          <c:tx>
            <c:strRef>
              <c:f>Sheet1!$B$23</c:f>
              <c:strCache>
                <c:ptCount val="1"/>
                <c:pt idx="0">
                  <c:v>改善訴えあり 個別症例</c:v>
                </c:pt>
              </c:strCache>
            </c:strRef>
          </c:tx>
          <c:spPr>
            <a:ln w="47625">
              <a:noFill/>
            </a:ln>
          </c:spPr>
          <c:marker>
            <c:symbol val="circle"/>
            <c:size val="6"/>
            <c:spPr>
              <a:solidFill>
                <a:srgbClr val="C00000">
                  <a:alpha val="70000"/>
                </a:srgbClr>
              </a:solidFill>
              <a:ln>
                <a:noFill/>
              </a:ln>
            </c:spPr>
          </c:marker>
          <c:xVal>
            <c:numRef>
              <c:f>Sheet1!$A$24:$A$32</c:f>
              <c:numCache>
                <c:formatCode>General</c:formatCode>
                <c:ptCount val="9"/>
                <c:pt idx="0">
                  <c:v>1.084</c:v>
                </c:pt>
                <c:pt idx="1">
                  <c:v>0.919</c:v>
                </c:pt>
                <c:pt idx="2">
                  <c:v>1.081</c:v>
                </c:pt>
                <c:pt idx="3">
                  <c:v>1.061</c:v>
                </c:pt>
                <c:pt idx="4">
                  <c:v>0.979</c:v>
                </c:pt>
                <c:pt idx="5">
                  <c:v>0.961</c:v>
                </c:pt>
                <c:pt idx="6">
                  <c:v>1.027</c:v>
                </c:pt>
                <c:pt idx="7">
                  <c:v>0.931</c:v>
                </c:pt>
                <c:pt idx="8">
                  <c:v>1.013</c:v>
                </c:pt>
              </c:numCache>
            </c:numRef>
          </c:xVal>
          <c:yVal>
            <c:numRef>
              <c:f>Sheet1!$B$24:$B$32</c:f>
              <c:numCache>
                <c:formatCode>General</c:formatCode>
                <c:ptCount val="9"/>
                <c:pt idx="0">
                  <c:v>4.0</c:v>
                </c:pt>
                <c:pt idx="1">
                  <c:v>3.0</c:v>
                </c:pt>
                <c:pt idx="2">
                  <c:v>1.0</c:v>
                </c:pt>
                <c:pt idx="3">
                  <c:v>-1.0</c:v>
                </c:pt>
                <c:pt idx="4">
                  <c:v>-8.0</c:v>
                </c:pt>
                <c:pt idx="5">
                  <c:v>5.0</c:v>
                </c:pt>
                <c:pt idx="6">
                  <c:v>1.0</c:v>
                </c:pt>
                <c:pt idx="7">
                  <c:v>4.0</c:v>
                </c:pt>
                <c:pt idx="8">
                  <c:v>-7.0</c:v>
                </c:pt>
              </c:numCache>
            </c:numRef>
          </c:yVal>
          <c:smooth val="0"/>
        </c:ser>
        <c:ser>
          <c:idx val="2"/>
          <c:order val="2"/>
          <c:tx>
            <c:strRef>
              <c:f>Sheet1!$B$34</c:f>
              <c:strCache>
                <c:ptCount val="1"/>
                <c:pt idx="0">
                  <c:v>改善訴えあり 中央値(IQR)</c:v>
                </c:pt>
              </c:strCache>
            </c:strRef>
          </c:tx>
          <c:spPr>
            <a:ln w="47625">
              <a:noFill/>
            </a:ln>
          </c:spPr>
          <c:marker>
            <c:symbol val="diamond"/>
            <c:size val="12"/>
            <c:spPr>
              <a:solidFill>
                <a:srgbClr val="C00000"/>
              </a:solidFill>
              <a:ln w="15240">
                <a:solidFill>
                  <a:srgbClr val="FFFFFF"/>
                </a:solidFill>
              </a:ln>
            </c:spPr>
          </c:marker>
          <c:errBars>
            <c:errDir val="y"/>
            <c:errBarType val="both"/>
            <c:errValType val="cust"/>
            <c:noEndCap val="0"/>
            <c:plus>
              <c:numLit>
                <c:formatCode>General</c:formatCode>
                <c:ptCount val="1"/>
                <c:pt idx="0">
                  <c:v>3.0</c:v>
                </c:pt>
              </c:numLit>
            </c:plus>
            <c:minus>
              <c:numLit>
                <c:formatCode>General</c:formatCode>
                <c:ptCount val="1"/>
                <c:pt idx="0">
                  <c:v>2.0</c:v>
                </c:pt>
              </c:numLit>
            </c:minus>
            <c:spPr>
              <a:ln w="17780">
                <a:solidFill>
                  <a:srgbClr val="C00000"/>
                </a:solidFill>
              </a:ln>
            </c:spPr>
          </c:errBars>
          <c:xVal>
            <c:numRef>
              <c:f>Sheet1!$A$35:$A$35</c:f>
              <c:numCache>
                <c:formatCode>General</c:formatCode>
                <c:ptCount val="1"/>
                <c:pt idx="0">
                  <c:v>1</c:v>
                </c:pt>
              </c:numCache>
            </c:numRef>
          </c:xVal>
          <c:yVal>
            <c:numRef>
              <c:f>Sheet1!$B$35:$B$35</c:f>
              <c:numCache>
                <c:formatCode>General</c:formatCode>
                <c:ptCount val="1"/>
                <c:pt idx="0">
                  <c:v>1.0</c:v>
                </c:pt>
              </c:numCache>
            </c:numRef>
          </c:yVal>
          <c:smooth val="0"/>
        </c:ser>
        <c:ser>
          <c:idx val="3"/>
          <c:order val="3"/>
          <c:tx>
            <c:strRef>
              <c:f>Sheet1!$B$37</c:f>
              <c:strCache>
                <c:ptCount val="1"/>
                <c:pt idx="0">
                  <c:v>改善訴えなし 中央値(IQR)</c:v>
                </c:pt>
              </c:strCache>
            </c:strRef>
          </c:tx>
          <c:spPr>
            <a:ln w="47625">
              <a:noFill/>
            </a:ln>
          </c:spPr>
          <c:marker>
            <c:symbol val="diamond"/>
            <c:size val="12"/>
            <c:spPr>
              <a:solidFill>
                <a:srgbClr val="2E75B6"/>
              </a:solidFill>
              <a:ln w="15240">
                <a:solidFill>
                  <a:srgbClr val="FFFFFF"/>
                </a:solidFill>
              </a:ln>
            </c:spPr>
          </c:marker>
          <c:errBars>
            <c:errDir val="y"/>
            <c:errBarType val="both"/>
            <c:errValType val="cust"/>
            <c:noEndCap val="0"/>
            <c:plus>
              <c:numLit>
                <c:formatCode>General</c:formatCode>
                <c:ptCount val="1"/>
                <c:pt idx="0">
                  <c:v>1.0</c:v>
                </c:pt>
              </c:numLit>
            </c:plus>
            <c:minus>
              <c:numLit>
                <c:formatCode>General</c:formatCode>
                <c:ptCount val="1"/>
                <c:pt idx="0">
                  <c:v>2.0</c:v>
                </c:pt>
              </c:numLit>
            </c:minus>
            <c:spPr>
              <a:ln w="17780">
                <a:solidFill>
                  <a:srgbClr val="2E75B6"/>
                </a:solidFill>
              </a:ln>
            </c:spPr>
          </c:errBars>
          <c:xVal>
            <c:numRef>
              <c:f>Sheet1!$A$38:$A$38</c:f>
              <c:numCache>
                <c:formatCode>General</c:formatCode>
                <c:ptCount val="1"/>
                <c:pt idx="0">
                  <c:v>2</c:v>
                </c:pt>
              </c:numCache>
            </c:numRef>
          </c:xVal>
          <c:yVal>
            <c:numRef>
              <c:f>Sheet1!$B$38:$B$38</c:f>
              <c:numCache>
                <c:formatCode>General</c:formatCode>
                <c:ptCount val="1"/>
                <c:pt idx="0">
                  <c:v>0.0</c:v>
                </c:pt>
              </c:numCache>
            </c:numRef>
          </c:yVal>
          <c:smooth val="0"/>
        </c:ser>
        <c:ser>
          <c:idx val="4"/>
          <c:order val="4"/>
          <c:tx>
            <c:strRef>
              <c:f>Sheet1!$B$40</c:f>
              <c:strCache>
                <c:ptCount val="1"/>
                <c:pt idx="0">
                  <c:v>参照帯上限</c:v>
                </c:pt>
              </c:strCache>
            </c:strRef>
          </c:tx>
          <c:spPr>
            <a:ln w="13970">
              <a:solidFill>
                <a:srgbClr val="888888"/>
              </a:solidFill>
              <a:prstDash val="dash"/>
            </a:ln>
          </c:spPr>
          <c:marker>
            <c:symbol val="none"/>
          </c:marker>
          <c:xVal>
            <c:numRef>
              <c:f>Sheet1!$A$41:$A$42</c:f>
              <c:numCache>
                <c:formatCode>General</c:formatCode>
                <c:ptCount val="2"/>
                <c:pt idx="0">
                  <c:v>0.2</c:v>
                </c:pt>
                <c:pt idx="1">
                  <c:v>2.8</c:v>
                </c:pt>
              </c:numCache>
            </c:numRef>
          </c:xVal>
          <c:yVal>
            <c:numRef>
              <c:f>Sheet1!$B$41:$B$42</c:f>
              <c:numCache>
                <c:formatCode>General</c:formatCode>
                <c:ptCount val="2"/>
                <c:pt idx="0">
                  <c:v>-1.165</c:v>
                </c:pt>
                <c:pt idx="1">
                  <c:v>-1.165</c:v>
                </c:pt>
              </c:numCache>
            </c:numRef>
          </c:yVal>
          <c:smooth val="0"/>
        </c:ser>
        <c:ser>
          <c:idx val="5"/>
          <c:order val="5"/>
          <c:tx>
            <c:strRef>
              <c:f>Sheet1!$B$44</c:f>
              <c:strCache>
                <c:ptCount val="1"/>
                <c:pt idx="0">
                  <c:v>参照帯下限</c:v>
                </c:pt>
              </c:strCache>
            </c:strRef>
          </c:tx>
          <c:spPr>
            <a:ln w="13970">
              <a:solidFill>
                <a:srgbClr val="888888"/>
              </a:solidFill>
              <a:prstDash val="dash"/>
            </a:ln>
          </c:spPr>
          <c:marker>
            <c:symbol val="none"/>
          </c:marker>
          <c:xVal>
            <c:numRef>
              <c:f>Sheet1!$A$45:$A$46</c:f>
              <c:numCache>
                <c:formatCode>General</c:formatCode>
                <c:ptCount val="2"/>
                <c:pt idx="0">
                  <c:v>0.2</c:v>
                </c:pt>
                <c:pt idx="1">
                  <c:v>2.8</c:v>
                </c:pt>
              </c:numCache>
            </c:numRef>
          </c:xVal>
          <c:yVal>
            <c:numRef>
              <c:f>Sheet1!$B$45:$B$46</c:f>
              <c:numCache>
                <c:formatCode>General</c:formatCode>
                <c:ptCount val="2"/>
                <c:pt idx="0">
                  <c:v>-1.865</c:v>
                </c:pt>
                <c:pt idx="1">
                  <c:v>-1.865</c:v>
                </c:pt>
              </c:numCache>
            </c:numRef>
          </c:yVal>
          <c:smooth val="0"/>
        </c:ser>
        <c:axId val="-2128940872"/>
        <c:axId val="-2129643912"/>
      </c:scatterChart>
      <c:valAx>
        <c:axId val="-2128940872"/>
        <c:scaling>
          <c:orientation val="minMax"/>
          <c:max val="3.0"/>
          <c:min val="0.0"/>
        </c:scaling>
        <c:delete val="0"/>
        <c:axPos val="b"/>
        <c:title>
          <c:tx>
            <c:rich>
              <a:bodyPr/>
              <a:lstStyle/>
              <a:p>
                <a:r>
                  <a:rPr sz="1200">
                    <a:solidFill>
                      <a:srgbClr val="000000"/>
                    </a:solidFill>
                    <a:latin typeface="Arial"/>
                  </a:rPr>
                  <a:t>1 = 改善訴えあり(n=9)　　2 = 改善訴えなし(n=20)</a:t>
                </a:r>
              </a:p>
            </c:rich>
          </c:tx>
          <c:layout/>
          <c:overlay val="0"/>
        </c:title>
        <c:numFmt formatCode="General" sourceLinked="1"/>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29643912"/>
        <c:crosses val="autoZero"/>
        <c:crossBetween val="midCat"/>
        <c:majorUnit val="1.0"/>
      </c:valAx>
      <c:valAx>
        <c:axId val="-2129643912"/>
        <c:scaling>
          <c:orientation val="minMax"/>
          <c:max val="10.0"/>
          <c:min val="-10.0"/>
        </c:scaling>
        <c:delete val="0"/>
        <c:axPos val="l"/>
        <c:majorGridlines>
          <c:spPr>
            <a:ln w="9525">
              <a:solidFill>
                <a:srgbClr val="E1E0D9"/>
              </a:solidFill>
              <a:prstDash val="dash"/>
            </a:ln>
          </c:spPr>
        </c:majorGridlines>
        <c:title>
          <c:tx>
            <c:rich>
              <a:bodyPr/>
              <a:lstStyle/>
              <a:p>
                <a:r>
                  <a:rPr sz="1200">
                    <a:solidFill>
                      <a:srgbClr val="000000"/>
                    </a:solidFill>
                    <a:latin typeface="Arial"/>
                  </a:rPr>
                  <a:t>18か月時点の Δ MMSE（点）</a:t>
                </a:r>
              </a:p>
            </c:rich>
          </c:tx>
          <c:layout/>
          <c:overlay val="0"/>
        </c:title>
        <c:numFmt formatCode="General" sourceLinked="1"/>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28940872"/>
        <c:crosses val="autoZero"/>
        <c:crossBetween val="midCat"/>
        <c:majorUnit val="2.0"/>
      </c:valAx>
    </c:plotArea>
    <c:legend>
      <c:legendPos val="b"/>
      <c:legendEntry>
        <c:idx val="5"/>
        <c:delete val="1"/>
      </c:legendEntry>
      <c:legendEntry>
        <c:idx val="4"/>
        <c:delete val="1"/>
      </c:legendEntry>
      <c:layout/>
      <c:overlay val="0"/>
      <c:txPr>
        <a:bodyPr/>
        <a:lstStyle/>
        <a:p>
          <a:pPr>
            <a:defRPr sz="950">
              <a:solidFill>
                <a:srgbClr val="000000"/>
              </a:solidFill>
              <a:latin typeface="Arial"/>
            </a:defRPr>
          </a:pPr>
        </a:p>
      </c:txPr>
    </c:legend>
    <c:plotVisOnly val="1"/>
    <c:dispBlanksAs val="gap"/>
    <c:showDLblsOverMax val="0"/>
  </c:chart>
  <c:txPr>
    <a:bodyPr/>
    <a:lstStyle/>
    <a:p>
      <a:pPr>
        <a:defRPr sz="1200">
          <a:solidFill>
            <a:srgbClr val="000000"/>
          </a:solidFill>
          <a:latin typeface="Aria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改善訴えなし (n=20)</c:v>
                </c:pt>
              </c:strCache>
            </c:strRef>
          </c:tx>
          <c:spPr>
            <a:ln w="47625">
              <a:noFill/>
            </a:ln>
          </c:spPr>
          <c:marker>
            <c:symbol val="circle"/>
            <c:size val="6"/>
            <c:spPr>
              <a:solidFill>
                <a:srgbClr val="2E75B6">
                  <a:alpha val="85000"/>
                </a:srgbClr>
              </a:solidFill>
              <a:ln>
                <a:noFill/>
              </a:ln>
            </c:spPr>
          </c:marker>
          <c:xVal>
            <c:numRef>
              <c:f>Sheet1!$A$2:$A$21</c:f>
              <c:numCache>
                <c:formatCode>General</c:formatCode>
                <c:ptCount val="20"/>
                <c:pt idx="0">
                  <c:v>22.0</c:v>
                </c:pt>
                <c:pt idx="1">
                  <c:v>23.0</c:v>
                </c:pt>
                <c:pt idx="2">
                  <c:v>28.0</c:v>
                </c:pt>
                <c:pt idx="3">
                  <c:v>24.0</c:v>
                </c:pt>
                <c:pt idx="4">
                  <c:v>25.0</c:v>
                </c:pt>
                <c:pt idx="5">
                  <c:v>26.0</c:v>
                </c:pt>
                <c:pt idx="6">
                  <c:v>22.0</c:v>
                </c:pt>
                <c:pt idx="7">
                  <c:v>24.0</c:v>
                </c:pt>
                <c:pt idx="8">
                  <c:v>27.0</c:v>
                </c:pt>
                <c:pt idx="9">
                  <c:v>24.0</c:v>
                </c:pt>
                <c:pt idx="10">
                  <c:v>27.0</c:v>
                </c:pt>
                <c:pt idx="11">
                  <c:v>27.0</c:v>
                </c:pt>
                <c:pt idx="12">
                  <c:v>24.0</c:v>
                </c:pt>
                <c:pt idx="13">
                  <c:v>22.0</c:v>
                </c:pt>
                <c:pt idx="14">
                  <c:v>22.0</c:v>
                </c:pt>
                <c:pt idx="15">
                  <c:v>22.0</c:v>
                </c:pt>
                <c:pt idx="16">
                  <c:v>22.0</c:v>
                </c:pt>
                <c:pt idx="17">
                  <c:v>27.0</c:v>
                </c:pt>
                <c:pt idx="18">
                  <c:v>23.0</c:v>
                </c:pt>
                <c:pt idx="19">
                  <c:v>24.0</c:v>
                </c:pt>
              </c:numCache>
            </c:numRef>
          </c:xVal>
          <c:yVal>
            <c:numRef>
              <c:f>Sheet1!$B$2:$B$21</c:f>
              <c:numCache>
                <c:formatCode>General</c:formatCode>
                <c:ptCount val="20"/>
                <c:pt idx="0">
                  <c:v>4.0</c:v>
                </c:pt>
                <c:pt idx="1">
                  <c:v>2.0</c:v>
                </c:pt>
                <c:pt idx="2">
                  <c:v>-9.0</c:v>
                </c:pt>
                <c:pt idx="3">
                  <c:v>1.0</c:v>
                </c:pt>
                <c:pt idx="4">
                  <c:v>1.0</c:v>
                </c:pt>
                <c:pt idx="5">
                  <c:v>-2.0</c:v>
                </c:pt>
                <c:pt idx="6">
                  <c:v>0.0</c:v>
                </c:pt>
                <c:pt idx="7">
                  <c:v>-1.0</c:v>
                </c:pt>
                <c:pt idx="8">
                  <c:v>-3.0</c:v>
                </c:pt>
                <c:pt idx="9">
                  <c:v>1.0</c:v>
                </c:pt>
                <c:pt idx="10">
                  <c:v>-3.0</c:v>
                </c:pt>
                <c:pt idx="11">
                  <c:v>-1.0</c:v>
                </c:pt>
                <c:pt idx="12">
                  <c:v>-1.0</c:v>
                </c:pt>
                <c:pt idx="13">
                  <c:v>1.0</c:v>
                </c:pt>
                <c:pt idx="14">
                  <c:v>0.0</c:v>
                </c:pt>
                <c:pt idx="15">
                  <c:v>2.0</c:v>
                </c:pt>
                <c:pt idx="16">
                  <c:v>-5.0</c:v>
                </c:pt>
                <c:pt idx="17">
                  <c:v>0.0</c:v>
                </c:pt>
                <c:pt idx="18">
                  <c:v>0.0</c:v>
                </c:pt>
                <c:pt idx="19">
                  <c:v>-2.0</c:v>
                </c:pt>
              </c:numCache>
            </c:numRef>
          </c:yVal>
          <c:smooth val="0"/>
        </c:ser>
        <c:ser>
          <c:idx val="1"/>
          <c:order val="1"/>
          <c:tx>
            <c:strRef>
              <c:f>Sheet1!$B$23</c:f>
              <c:strCache>
                <c:ptCount val="1"/>
                <c:pt idx="0">
                  <c:v>改善訴えあり (n=9)</c:v>
                </c:pt>
              </c:strCache>
            </c:strRef>
          </c:tx>
          <c:spPr>
            <a:ln w="47625">
              <a:noFill/>
            </a:ln>
          </c:spPr>
          <c:marker>
            <c:symbol val="circle"/>
            <c:size val="6"/>
            <c:spPr>
              <a:solidFill>
                <a:srgbClr val="C00000">
                  <a:alpha val="85000"/>
                </a:srgbClr>
              </a:solidFill>
              <a:ln>
                <a:noFill/>
              </a:ln>
            </c:spPr>
          </c:marker>
          <c:xVal>
            <c:numRef>
              <c:f>Sheet1!$A$24:$A$32</c:f>
              <c:numCache>
                <c:formatCode>General</c:formatCode>
                <c:ptCount val="9"/>
                <c:pt idx="0">
                  <c:v>22.0</c:v>
                </c:pt>
                <c:pt idx="1">
                  <c:v>24.0</c:v>
                </c:pt>
                <c:pt idx="2">
                  <c:v>24.0</c:v>
                </c:pt>
                <c:pt idx="3">
                  <c:v>23.0</c:v>
                </c:pt>
                <c:pt idx="4">
                  <c:v>24.0</c:v>
                </c:pt>
                <c:pt idx="5">
                  <c:v>19.0</c:v>
                </c:pt>
                <c:pt idx="6">
                  <c:v>25.0</c:v>
                </c:pt>
                <c:pt idx="7">
                  <c:v>22.0</c:v>
                </c:pt>
                <c:pt idx="8">
                  <c:v>23.0</c:v>
                </c:pt>
              </c:numCache>
            </c:numRef>
          </c:xVal>
          <c:yVal>
            <c:numRef>
              <c:f>Sheet1!$B$24:$B$32</c:f>
              <c:numCache>
                <c:formatCode>General</c:formatCode>
                <c:ptCount val="9"/>
                <c:pt idx="0">
                  <c:v>4.0</c:v>
                </c:pt>
                <c:pt idx="1">
                  <c:v>3.0</c:v>
                </c:pt>
                <c:pt idx="2">
                  <c:v>1.0</c:v>
                </c:pt>
                <c:pt idx="3">
                  <c:v>-1.0</c:v>
                </c:pt>
                <c:pt idx="4">
                  <c:v>-8.0</c:v>
                </c:pt>
                <c:pt idx="5">
                  <c:v>5.0</c:v>
                </c:pt>
                <c:pt idx="6">
                  <c:v>1.0</c:v>
                </c:pt>
                <c:pt idx="7">
                  <c:v>4.0</c:v>
                </c:pt>
                <c:pt idx="8">
                  <c:v>-7.0</c:v>
                </c:pt>
              </c:numCache>
            </c:numRef>
          </c:yVal>
          <c:smooth val="0"/>
        </c:ser>
        <c:ser>
          <c:idx val="2"/>
          <c:order val="2"/>
          <c:tx>
            <c:strRef>
              <c:f>Sheet1!$B$34</c:f>
              <c:strCache>
                <c:ptCount val="1"/>
                <c:pt idx="0">
                  <c:v>回帰直線（全29例, r=-0.50, p=0.006）</c:v>
                </c:pt>
              </c:strCache>
            </c:strRef>
          </c:tx>
          <c:spPr>
            <a:ln w="20320">
              <a:solidFill>
                <a:srgbClr val="404040"/>
              </a:solidFill>
              <a:prstDash val="dash"/>
            </a:ln>
          </c:spPr>
          <c:marker>
            <c:symbol val="none"/>
          </c:marker>
          <c:xVal>
            <c:numRef>
              <c:f>Sheet1!$A$35:$A$36</c:f>
              <c:numCache>
                <c:formatCode>General</c:formatCode>
                <c:ptCount val="2"/>
                <c:pt idx="0">
                  <c:v>18</c:v>
                </c:pt>
                <c:pt idx="1">
                  <c:v>30</c:v>
                </c:pt>
              </c:numCache>
            </c:numRef>
          </c:xVal>
          <c:yVal>
            <c:numRef>
              <c:f>Sheet1!$B$35:$B$36</c:f>
              <c:numCache>
                <c:formatCode>General</c:formatCode>
                <c:ptCount val="2"/>
                <c:pt idx="0">
                  <c:v>4.496</c:v>
                </c:pt>
                <c:pt idx="1">
                  <c:v>-5.686</c:v>
                </c:pt>
              </c:numCache>
            </c:numRef>
          </c:yVal>
          <c:smooth val="0"/>
        </c:ser>
        <c:ser>
          <c:idx val="3"/>
          <c:order val="3"/>
          <c:tx>
            <c:strRef>
              <c:f>Sheet1!$B$38</c:f>
              <c:strCache>
                <c:ptCount val="1"/>
                <c:pt idx="0">
                  <c:v>Δ=0</c:v>
                </c:pt>
              </c:strCache>
            </c:strRef>
          </c:tx>
          <c:spPr>
            <a:ln w="12700">
              <a:solidFill>
                <a:srgbClr val="888888"/>
              </a:solidFill>
              <a:prstDash val="dash"/>
            </a:ln>
          </c:spPr>
          <c:marker>
            <c:symbol val="none"/>
          </c:marker>
          <c:xVal>
            <c:numRef>
              <c:f>Sheet1!$A$39:$A$40</c:f>
              <c:numCache>
                <c:formatCode>General</c:formatCode>
                <c:ptCount val="2"/>
                <c:pt idx="0">
                  <c:v>18</c:v>
                </c:pt>
                <c:pt idx="1">
                  <c:v>30</c:v>
                </c:pt>
              </c:numCache>
            </c:numRef>
          </c:xVal>
          <c:yVal>
            <c:numRef>
              <c:f>Sheet1!$B$39:$B$40</c:f>
              <c:numCache>
                <c:formatCode>General</c:formatCode>
                <c:ptCount val="2"/>
                <c:pt idx="0">
                  <c:v>0</c:v>
                </c:pt>
                <c:pt idx="1">
                  <c:v>0</c:v>
                </c:pt>
              </c:numCache>
            </c:numRef>
          </c:yVal>
          <c:smooth val="0"/>
        </c:ser>
        <c:axId val="-2128940872"/>
        <c:axId val="-2129643912"/>
      </c:scatterChart>
      <c:valAx>
        <c:axId val="-2128940872"/>
        <c:scaling>
          <c:orientation val="minMax"/>
          <c:max val="30.0"/>
          <c:min val="18.0"/>
        </c:scaling>
        <c:delete val="0"/>
        <c:axPos val="b"/>
        <c:majorGridlines>
          <c:spPr>
            <a:ln w="9525">
              <a:solidFill>
                <a:srgbClr val="E1E0D9"/>
              </a:solidFill>
              <a:prstDash val="dash"/>
            </a:ln>
          </c:spPr>
        </c:majorGridlines>
        <c:title>
          <c:tx>
            <c:rich>
              <a:bodyPr/>
              <a:lstStyle/>
              <a:p>
                <a:r>
                  <a:rPr sz="1200">
                    <a:solidFill>
                      <a:srgbClr val="000000"/>
                    </a:solidFill>
                    <a:latin typeface="Arial"/>
                  </a:rPr>
                  <a:t>ベースラインMMSE（点）</a:t>
                </a:r>
              </a:p>
            </c:rich>
          </c:tx>
          <c:layout/>
          <c:overlay val="0"/>
        </c:title>
        <c:numFmt formatCode="General" sourceLinked="1"/>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29643912"/>
        <c:crosses val="autoZero"/>
        <c:crossBetween val="midCat"/>
        <c:majorUnit val="2.0"/>
      </c:valAx>
      <c:valAx>
        <c:axId val="-2129643912"/>
        <c:scaling>
          <c:orientation val="minMax"/>
          <c:max val="10.0"/>
          <c:min val="-10.0"/>
        </c:scaling>
        <c:delete val="0"/>
        <c:axPos val="l"/>
        <c:majorGridlines>
          <c:spPr>
            <a:ln w="9525">
              <a:solidFill>
                <a:srgbClr val="E1E0D9"/>
              </a:solidFill>
              <a:prstDash val="dash"/>
            </a:ln>
          </c:spPr>
        </c:majorGridlines>
        <c:title>
          <c:tx>
            <c:rich>
              <a:bodyPr/>
              <a:lstStyle/>
              <a:p>
                <a:r>
                  <a:rPr sz="1200">
                    <a:solidFill>
                      <a:srgbClr val="000000"/>
                    </a:solidFill>
                    <a:latin typeface="Arial"/>
                  </a:rPr>
                  <a:t>18か月時点の Δ MMSE（点）</a:t>
                </a:r>
              </a:p>
            </c:rich>
          </c:tx>
          <c:layout/>
          <c:overlay val="0"/>
        </c:title>
        <c:numFmt formatCode="General" sourceLinked="1"/>
        <c:majorTickMark val="out"/>
        <c:minorTickMark val="none"/>
        <c:tickLblPos val="nextTo"/>
        <c:spPr>
          <a:ln w="12700">
            <a:solidFill>
              <a:srgbClr val="888888"/>
            </a:solidFill>
          </a:ln>
        </c:spPr>
        <c:txPr>
          <a:bodyPr/>
          <a:lstStyle/>
          <a:p>
            <a:pPr>
              <a:defRPr sz="1050">
                <a:solidFill>
                  <a:srgbClr val="000000"/>
                </a:solidFill>
                <a:latin typeface="Arial"/>
              </a:defRPr>
            </a:pPr>
          </a:p>
        </c:txPr>
        <c:crossAx val="-2128940872"/>
        <c:crosses val="autoZero"/>
        <c:crossBetween val="midCat"/>
        <c:majorUnit val="2.0"/>
      </c:valAx>
    </c:plotArea>
    <c:legend>
      <c:legendPos val="b"/>
      <c:legendEntry>
        <c:idx val="3"/>
        <c:delete val="1"/>
      </c:legendEntry>
      <c:layout/>
      <c:overlay val="0"/>
      <c:txPr>
        <a:bodyPr/>
        <a:lstStyle/>
        <a:p>
          <a:pPr>
            <a:defRPr sz="950">
              <a:solidFill>
                <a:srgbClr val="000000"/>
              </a:solidFill>
              <a:latin typeface="Arial"/>
            </a:defRPr>
          </a:pPr>
        </a:p>
      </c:txPr>
    </c:legend>
    <c:plotVisOnly val="1"/>
    <c:dispBlanksAs val="gap"/>
    <c:showDLblsOverMax val="0"/>
  </c:chart>
  <c:txPr>
    <a:bodyPr/>
    <a:lstStyle/>
    <a:p>
      <a:pPr>
        <a:defRPr sz="1200">
          <a:solidFill>
            <a:srgbClr val="00000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4012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pPr marL="0" indent="0">
              <a:lnSpc>
                <a:spcPct val="105000"/>
              </a:lnSpc>
              <a:buNone/>
            </a:pPr>
            <a:r>
              <a:rPr lang="en-US" altLang="ja-JP" sz="1200" dirty="0">
                <a:solidFill>
                  <a:srgbClr val="1A1A1A"/>
                </a:solidFill>
                <a:latin typeface="Arial" pitchFamily="34" charset="0"/>
                <a:ea typeface="Arial" pitchFamily="34" charset="-122"/>
                <a:cs typeface="Arial" pitchFamily="34" charset="-120"/>
              </a:rPr>
              <a:t>各時点の値は平均MMSE実測値、エラーバーは95% CI。18か月データを有する症例に限定して経時推移を表示した。</a:t>
            </a:r>
            <a:endParaRPr lang="en-US" altLang="ja-JP" sz="1200" dirty="0"/>
          </a:p>
          <a:p>
            <a:pPr marL="0" indent="0">
              <a:lnSpc>
                <a:spcPct val="105000"/>
              </a:lnSpc>
              <a:buNone/>
            </a:pPr>
            <a:r>
              <a:rPr lang="en-US" altLang="ja-JP" sz="1200" dirty="0" err="1">
                <a:solidFill>
                  <a:srgbClr val="1A1A1A"/>
                </a:solidFill>
                <a:latin typeface="Arial" pitchFamily="34" charset="0"/>
                <a:ea typeface="Arial" pitchFamily="34" charset="-122"/>
                <a:cs typeface="Arial" pitchFamily="34" charset="-120"/>
              </a:rPr>
              <a:t>改善訴えあり群</a:t>
            </a:r>
            <a:r>
              <a:rPr lang="en-US" altLang="ja-JP" sz="1200" dirty="0">
                <a:solidFill>
                  <a:srgbClr val="1A1A1A"/>
                </a:solidFill>
                <a:latin typeface="Arial" pitchFamily="34" charset="0"/>
                <a:ea typeface="Arial" pitchFamily="34" charset="-122"/>
                <a:cs typeface="Arial" pitchFamily="34" charset="-120"/>
              </a:rPr>
              <a:t> n=9、改善訴えなし群 n=20（12か月のみ n=19）。</a:t>
            </a:r>
            <a:endParaRPr lang="en-US" altLang="ja-JP" sz="1200" dirty="0"/>
          </a:p>
          <a:p>
            <a:pPr marL="0" indent="0">
              <a:lnSpc>
                <a:spcPct val="105000"/>
              </a:lnSpc>
              <a:buNone/>
            </a:pPr>
            <a:r>
              <a:rPr lang="en-US" altLang="ja-JP" sz="1200" dirty="0">
                <a:solidFill>
                  <a:srgbClr val="1A1A1A"/>
                </a:solidFill>
                <a:latin typeface="Arial" pitchFamily="34" charset="0"/>
                <a:ea typeface="Arial" pitchFamily="34" charset="-122"/>
                <a:cs typeface="Arial" pitchFamily="34" charset="-120"/>
              </a:rPr>
              <a:t>18か月時点の群間比較：Welchのt検定 p=0.804、Mann-Whitney検定 p=0.617、ベースラインMMSE調整 p=0.879。</a:t>
            </a:r>
            <a:endParaRPr lang="en-US" altLang="ja-JP" sz="1200" dirty="0"/>
          </a:p>
          <a:p>
            <a:pPr marL="0" indent="0">
              <a:lnSpc>
                <a:spcPct val="105000"/>
              </a:lnSpc>
              <a:buNone/>
            </a:pPr>
            <a:r>
              <a:rPr lang="en-US" altLang="ja-JP" sz="1200" dirty="0">
                <a:solidFill>
                  <a:srgbClr val="1A1A1A"/>
                </a:solidFill>
                <a:latin typeface="Arial" pitchFamily="34" charset="0"/>
                <a:ea typeface="Arial" pitchFamily="34" charset="-122"/>
                <a:cs typeface="Arial" pitchFamily="34" charset="-120"/>
              </a:rPr>
              <a:t>※「</a:t>
            </a:r>
            <a:r>
              <a:rPr lang="en-US" altLang="ja-JP" sz="1200" dirty="0" err="1">
                <a:solidFill>
                  <a:srgbClr val="1A1A1A"/>
                </a:solidFill>
                <a:latin typeface="Arial" pitchFamily="34" charset="0"/>
                <a:ea typeface="Arial" pitchFamily="34" charset="-122"/>
                <a:cs typeface="Arial" pitchFamily="34" charset="-120"/>
              </a:rPr>
              <a:t>改善訴えなし」群には改善訴えの記載がない症例を含む</a:t>
            </a:r>
            <a:r>
              <a:rPr lang="en-US" altLang="ja-JP" sz="1200" dirty="0">
                <a:solidFill>
                  <a:srgbClr val="1A1A1A"/>
                </a:solidFill>
                <a:latin typeface="Arial" pitchFamily="34" charset="0"/>
                <a:ea typeface="Arial" pitchFamily="34" charset="-122"/>
                <a:cs typeface="Arial" pitchFamily="34" charset="-120"/>
              </a:rPr>
              <a:t>。</a:t>
            </a:r>
            <a:endParaRPr lang="en-US" altLang="ja-JP" sz="1200" dirty="0"/>
          </a:p>
          <a:p>
            <a:endParaRPr kumimoji="1" lang="ja-JP" altLang="en-US" dirty="0"/>
          </a:p>
        </p:txBody>
      </p:sp>
    </p:spTree>
    <p:extLst>
      <p:ext uri="{BB962C8B-B14F-4D97-AF65-F5344CB8AC3E}">
        <p14:creationId xmlns:p14="http://schemas.microsoft.com/office/powerpoint/2010/main" val="318553785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【このスライドの存在理由】</a:t>
            </a:r>
          </a:p>
          <a:p>
            <a:r>
              <a:t>Cano S, et al. J Prev Alzheimers Dis 2022 (doi:10.14283/jpad.2022.102) は、全般的印象（＝臨床医の主観的判断）をアンカー、MMSEをターゲット測度としたアンカーベース解析で、MMSEとアンカーの相関が36週より前のどの時点でも不十分であったと報告している。</a:t>
            </a:r>
          </a:p>
          <a:p>
            <a:r>
              <a:t>本スライドはその枠組みを本研究データに当てはめたもので、アンカーを「レカネマブ投与後の症状改善の訴え（あり／記載なし）」に置き換えた追試にあたる。</a:t>
            </a:r>
          </a:p>
          <a:p>
            <a:r>
              <a:t>主観的な訴えというアンカーは、いずれの時点でもΔMMSEを層別しなかった。2群の95%CIは全時点で重なっている。</a:t>
            </a:r>
          </a:p>
          <a:p>
            <a:r>
              <a:t>→ したがって結果5の「有意差なし」は、検出力不足の産物ではなく、先行研究と整合する既知の現象の再現として提示できる。</a:t>
            </a:r>
          </a:p>
          <a:p/>
          <a:p>
            <a:r>
              <a:t>【想定される質問】</a:t>
            </a:r>
          </a:p>
          <a:p>
            <a:r>
              <a:t>Q: n=9 では検出力がないのでは？</a:t>
            </a:r>
          </a:p>
          <a:p>
            <a:r>
              <a:t>A: そのとおりで、本研究単独では非劣性も同等性も主張できない。ただし主張は「差がないことの証明」ではなく「主観アンカーとMMSEが対応しないという先行知見と矛盾しない」という水準にとどめている。</a:t>
            </a:r>
          </a:p>
          <a:p/>
          <a:p>
            <a:r>
              <a:t>Q: 参照帯の根拠は？</a:t>
            </a:r>
          </a:p>
          <a:p>
            <a:r>
              <a:t>A: Mayo Clinic Study of Aging の集団ベース解析（Aakre 2025, doi:10.1002/trc2.70160）で、MCI発症をアンカーとしたMMSEの年間変化は −1.01（95%CI −1.12 to −0.91）。あくまで目盛りの目安であり、本研究の判定基準ではない。</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【このスライドの存在理由】</a:t>
            </a:r>
          </a:p>
          <a:p>
            <a:r>
              <a:t>結果5では2群の平均MMSEがほぼ重なる。しかしそれは「29例が同じように推移した」ことを意味しない。</a:t>
            </a:r>
          </a:p>
          <a:p>
            <a:r>
              <a:t>個別軌跡を重ねると、訴えあり群（赤）のほうが軌跡のばらつきが大きい。個人内変動幅の平均は 4.67点 対 3.05点、18か月ΔMMSEのSDは 4.76 対 2.83 で、いずれも訴えあり群のほうが大きい。</a:t>
            </a:r>
          </a:p>
          <a:p/>
          <a:p>
            <a:r>
              <a:t>【統計的な判定（2種類あるので混同しないこと）】</a:t>
            </a:r>
          </a:p>
          <a:p>
            <a:r>
              <a:t>① 個人内変動幅（4時点の最大−最小）の中央値の比較：Mann-Whitney検定 p = 0.034 → 名目上は有意。</a:t>
            </a:r>
          </a:p>
          <a:p>
            <a:r>
              <a:t>② Δ18MのSDそのものの均一性：Levene検定 p = 0.146 → 有意差なし。</a:t>
            </a:r>
          </a:p>
          <a:p>
            <a:r>
              <a:t>①と②は近い概念だが同じではない。①は「事後的に定義した指標」であり、多重比較の補正もしていない探索的な検定である。②のほうが分散の差を検定する標準的な方法だが、こちらは有意ではない。</a:t>
            </a:r>
          </a:p>
          <a:p>
            <a:r>
              <a:t>発表では「個人内変動幅ではp=0.034で名目上の有意差があったが、事前登録された仮説ではなく、標準的な分散の検定（Levene）では有意ではなかった」と両方正直に伝えるのが誠実。</a:t>
            </a:r>
          </a:p>
          <a:p/>
          <a:p>
            <a:r>
              <a:t>【この観察の扱い】</a:t>
            </a:r>
          </a:p>
          <a:p>
            <a:r>
              <a:t>探索的所見にとどめる。ばらつきが大きい群では、6か月時点の一時的な上昇（訴えあり群は平均 +1.67点）が「効いている」という実感につながり、それが訴えとして記録された可能性がある——という仮説の提示までが本スライドの射程である。</a:t>
            </a:r>
          </a:p>
          <a:p/>
          <a:p>
            <a:r>
              <a:t>【注意】</a:t>
            </a:r>
          </a:p>
          <a:p>
            <a:r>
              <a:t>6か月時点で訴えあり群のMMSEが上昇して見えるのは、ベースラインが低い症例を含むこと（平均22.89 対 24.25）とも整合し、平均への回帰の影響を否定できない。因果の向きは本データからは決められない。</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【このスライドの存在理由】</a:t>
            </a:r>
          </a:p>
          <a:p>
            <a:r>
              <a:t>「合計点で差が出ないのは、改善した下位項目と悪化した下位項目が打ち消し合っているからではないか」という当然の反論に、あらかじめ答えておくためのスライド。</a:t>
            </a:r>
          </a:p>
          <a:p>
            <a:r>
              <a:t>結論は、11項目のいずれでも訴えの有無は18か月の変化量を層別しなかった、である。補正前の段階ですでに有意な項目はなく、FDR補正で初めて消えたわけではない点は強調してよい。</a:t>
            </a:r>
          </a:p>
          <a:p/>
          <a:p>
            <a:r>
              <a:t>【変化量の群間差が大きかった項目】</a:t>
            </a:r>
          </a:p>
          <a:p>
            <a:r>
              <a:t>1位 時間見当識（+0.71点、5点満点、補正前 p=0.212 / q=0.778）</a:t>
            </a:r>
          </a:p>
          <a:p>
            <a:r>
              <a:t>2位 注意計算（+0.66点、5点満点、補正前 p=0.397 / q=0.792）</a:t>
            </a:r>
          </a:p>
          <a:p>
            <a:r>
              <a:t>いずれも訴えあり群のほうが保たれる方向だが、95%CIは大きく重なる。</a:t>
            </a:r>
          </a:p>
          <a:p/>
          <a:p>
            <a:r>
              <a:t>【既存テーマの「遅延再生」について】</a:t>
            </a:r>
          </a:p>
          <a:p>
            <a:r>
              <a:t>遅延再生の群間差は −0.19点（3点満点）で11項目中4位、補正前 p=0.704。訴えあり群のほうがむしろわずかに低下が大きく、上位2項目には入らない。</a:t>
            </a:r>
          </a:p>
          <a:p>
            <a:r>
              <a:t>つまり本データでは、遅延再生が「訴えあり」を特徴づける項目にはなっていない。</a:t>
            </a:r>
          </a:p>
          <a:p/>
          <a:p>
            <a:r>
              <a:t>【CDR 6領域】</a:t>
            </a:r>
          </a:p>
          <a:p>
            <a:r>
              <a:t>同様に解析したが、補正前・補正後とも有意な領域はなかった（最小 p=0.598）。CDR-SBのΔ18Mも 訴えあり +1.75 対 訴えなし +1.39、p=0.736。</a:t>
            </a:r>
          </a:p>
          <a:p/>
          <a:p>
            <a:r>
              <a:t>【注意】</a:t>
            </a:r>
          </a:p>
          <a:p>
            <a:r>
              <a:t>n=9 対 20 の小標本かつ不均衡であり、この解析で「差がない」ことを結論づけることはできない。あくまで結果5を補強する材料である。</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結果3のスライドに使う図の代替案。指示書タスク②-1(b)に対応。重ね合わせ版(a)と群別2パネル版(b)のどちらをメインにするかは上野先生の判断を仰ぐ。</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【このスライドの存在理由】</a:t>
            </a:r>
          </a:p>
          <a:p>
            <a:r>
              <a:t>文献調査の「応用Ver 図の設計仕様」パネルBに対応。右側の散布図で示すとおり、群分け（訴えの有無）よりもベースライン重症度のほうがΔMMSEを説明していることが見える。</a:t>
            </a:r>
          </a:p>
          <a:p>
            <a:r>
              <a:t>左側は箱ひげ図の代わりに中央値とIQR（四分位範囲）の誤差棒＋個別点で分布を示している（ネイティブPowerPointグラフでは箱ひげ図が作成できないための代替表現）。</a:t>
            </a:r>
          </a:p>
          <a:p/>
          <a:p>
            <a:r>
              <a:t>【重要な留保】</a:t>
            </a:r>
          </a:p>
          <a:p>
            <a:r>
              <a:t>r = −0.50, p = 0.006 は統計的に有意だが、Δ = 18か月値 − ベースライン値 という定義上、ベースラインとΔは数学的に負に相関する（平均への回帰）。この所見を「重症度が予後を決める」と読むことはできない。</a:t>
            </a:r>
          </a:p>
          <a:p>
            <a:r>
              <a:t>発表で言及する場合は、必ずこの留保を添える。触れないという選択もある。</a:t>
            </a:r>
          </a:p>
          <a:p/>
          <a:p>
            <a:r>
              <a:t>【参照帯を超えて低下した症例の割合】</a:t>
            </a:r>
          </a:p>
          <a:p>
            <a:r>
              <a:t>訴えあり 2/9 (22.2%)、訴えなし 6/20 (30.0%)、Fisher正確検定 p=1.00。ここでも両群はほぼ同等である。</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タスク④に対応。文献調査_意欲低下定義.md の考察を反映した。</a:t>
            </a:r>
          </a:p>
          <a:p/>
          <a:p>
            <a:r>
              <a:t>【スライドで述べる1〜2文の要約】</a:t>
            </a:r>
          </a:p>
          <a:p>
            <a:r>
              <a:t>本研究の意欲低下は診療録記載の有無に基づく二値変数であり、情報提供者への構造化聴取・頻度／重症度評価・観察期間の明示という、NPIやAESが備える3要素をいずれも満たさない。</a:t>
            </a:r>
          </a:p>
          <a:p>
            <a:r>
              <a:t>さらにEikelboomら（2023）は診療録記載と介護者評価の一致度が低いことを実データで示しており、本項目をNPI無関心ドメインの代理指標として扱うことはできない。</a:t>
            </a:r>
          </a:p>
          <a:p/>
          <a:p>
            <a:r>
              <a:t>【limitation への転用文案】</a:t>
            </a:r>
          </a:p>
          <a:p>
            <a:r>
              <a:t>1. 意欲低下はNPI-Q等の確立された尺度によらず、診療録記載の有無に基づく二値変数として後方視的に定義した。</a:t>
            </a:r>
          </a:p>
          <a:p>
            <a:r>
              <a:t>2. このため重症度・頻度・持続期間の情報を欠き、Robertら（2018）のアパシー診断基準を満たすか否かは判定できない。</a:t>
            </a:r>
          </a:p>
          <a:p>
            <a:r>
              <a:t>3. 診療録記載は問診の密度や記載者の裁量に依存するため、症状の有無を系統的に反映していない可能性がある。</a:t>
            </a:r>
          </a:p>
          <a:p>
            <a:r>
              <a:t>4. 上記より本項目の結果は探索的であり、先行研究のアパシー有病率（NPIベース）と直接比較することはできない。</a:t>
            </a:r>
          </a:p>
          <a:p/>
          <a:p>
            <a:r>
              <a:t>【重要：本スライドで決めていないこと】</a:t>
            </a:r>
          </a:p>
          <a:p>
            <a:r>
              <a:t>「易怒性／意欲低下のどちらかを解析から減らすべきか」という論点については、指示書の方針に従い削除は実行していない。確認事項リストに論点として記載した。</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【このスライドの存在理由】</a:t>
            </a:r>
          </a:p>
          <a:p>
            <a:r>
              <a:t>各スライドに散らばっている統計結果を1枚に集約し、上野先生が一目で全体像を把握できるようにした。</a:t>
            </a:r>
          </a:p>
          <a:p/>
          <a:p>
            <a:r>
              <a:t>【本研究で唯一「有意」と出た所見について】</a:t>
            </a:r>
          </a:p>
          <a:p>
            <a:r>
              <a:t>参考2のベースラインMMSEとΔMMSEの相関（r=−0.50, p=0.006）が、本一連の解析で唯一 p&lt;0.05 に達した結果である。</a:t>
            </a:r>
          </a:p>
          <a:p>
            <a:r>
              <a:t>ただしこれはΔ = 18か月値−ベースライン値という定義上、平均への回帰を数学的に含むため、「重症度が高いほど悪化する」という因果関係の証拠として提示すべきではない。</a:t>
            </a:r>
          </a:p>
          <a:p/>
          <a:p>
            <a:r>
              <a:t>【結果3の「個人内変動幅」について】</a:t>
            </a:r>
          </a:p>
          <a:p>
            <a:r>
              <a:t>Mann-Whitney p=0.034は名目上0.05を下回るが、①図を見てから事後的に定義した指標である、②多重比較の補正をしていない、③より標準的な分散の検定（Levene, p=0.146）では有意でない、という3点から、確証的な所見としては扱わず「探索的」と明記した。</a:t>
            </a:r>
          </a:p>
          <a:p/>
          <a:p>
            <a:r>
              <a:t>【結論】</a:t>
            </a:r>
          </a:p>
          <a:p>
            <a:r>
              <a:t>主要な解析（結果2・結果4・結果5）はいずれも一貫して有意差なしであり、これは検出力不足ではなく先行研究と整合する頑健な陰性所見として提示できる。</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【このスライドの存在理由】</a:t>
            </a:r>
          </a:p>
          <a:p>
            <a:r>
              <a:t>結果2〜5では「改善訴えあり(n=9)」と「なし(n=20)」を比較する。その解釈の前提として、両群のベースライン背景（年齢・性別・認知機能・精神症状の記載）が大きく偏っていないかを示す必要がある。</a:t>
            </a:r>
          </a:p>
          <a:p/>
          <a:p>
            <a:r>
              <a:t>【結果】</a:t>
            </a:r>
          </a:p>
          <a:p>
            <a:r>
              <a:t>年齢・性別・HDS-R・MoCA-J・CDR-SB・易怒性・意欲低下のいずれも、群間差はp&gt;0.3〜0.9の範囲で有意差はない。</a:t>
            </a:r>
          </a:p>
          <a:p>
            <a:r>
              <a:t>MMSE合計点（0か月）のみp=0.086とやや低く、訴えあり群のほうが平均1.36点低い（22.89 対 24.25）。この差は結果3のスピーカーノートで既に言及している「6か月時点の一時的な上昇が平均への回帰と整合する」という留保の背景でもある。</a:t>
            </a:r>
          </a:p>
          <a:p/>
          <a:p>
            <a:r>
              <a:t>【値の出典についての補足】</a:t>
            </a:r>
          </a:p>
          <a:p>
            <a:r>
              <a:t>年齢・性別・HDS-Rはxlsxに該当列がなく、結果1では長らく照合不能だった項目である。「レカネマブ患者ID一覧」を用いて今回初めて照合し、結果1の記載値と完全一致することを確認済み（詳細は output/患者ID一覧_照合チェック.md）。本スライドの値もこの照合済みの出典に基づく。</a:t>
            </a:r>
          </a:p>
          <a:p/>
          <a:p>
            <a:r>
              <a:t>【注意】</a:t>
            </a:r>
          </a:p>
          <a:p>
            <a:r>
              <a:t>n=9 対 20 の小標本であり、背景に有意差が出ないことは「群が完全に同質である」ことの証明にはならない（検出力の限界）。あくまで結果2〜5を読む上での参考情報として提示する。</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chart" Target="../charts/chart7.xml"/><Relationship Id="rId6" Type="http://schemas.openxmlformats.org/officeDocument/2006/relationships/chart" Target="../charts/chart8.xml"/><Relationship Id="rId7" Type="http://schemas.openxmlformats.org/officeDocument/2006/relationships/chart" Target="../charts/chart9.xml"/><Relationship Id="rId8" Type="http://schemas.openxmlformats.org/officeDocument/2006/relationships/chart" Target="../charts/chart10.xml"/><Relationship Id="rId9" Type="http://schemas.openxmlformats.org/officeDocument/2006/relationships/chart" Target="../charts/chart11.xml"/><Relationship Id="rId10" Type="http://schemas.openxmlformats.org/officeDocument/2006/relationships/chart" Target="../charts/chart12.xml"/><Relationship Id="rId11" Type="http://schemas.openxmlformats.org/officeDocument/2006/relationships/chart" Target="../charts/chart13.xml"/><Relationship Id="rId12" Type="http://schemas.openxmlformats.org/officeDocument/2006/relationships/chart" Target="../charts/chart14.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5.xml"/><Relationship Id="rId3" Type="http://schemas.openxmlformats.org/officeDocument/2006/relationships/chart" Target="../charts/chart1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7.xml"/><Relationship Id="rId3" Type="http://schemas.openxmlformats.org/officeDocument/2006/relationships/chart" Target="../charts/chart1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457200" y="1261872"/>
            <a:ext cx="11277295" cy="0"/>
          </a:xfrm>
          <a:prstGeom prst="line">
            <a:avLst/>
          </a:prstGeom>
          <a:noFill/>
          <a:ln w="22225">
            <a:solidFill>
              <a:srgbClr val="156082"/>
            </a:solidFill>
            <a:prstDash val="solid"/>
          </a:ln>
        </p:spPr>
        <p:txBody>
          <a:bodyPr/>
          <a:lstStyle/>
          <a:p>
            <a:endParaRPr lang="ja-JP" altLang="en-US"/>
          </a:p>
        </p:txBody>
      </p:sp>
      <p:graphicFrame>
        <p:nvGraphicFramePr>
          <p:cNvPr id="5" name="Table 0"/>
          <p:cNvGraphicFramePr>
            <a:graphicFrameLocks noGrp="1"/>
          </p:cNvGraphicFramePr>
          <p:nvPr>
            <p:extLst>
              <p:ext uri="{D42A27DB-BD31-4B8C-83A1-F6EECF244321}">
                <p14:modId xmlns:p14="http://schemas.microsoft.com/office/powerpoint/2010/main" val="1580556224"/>
              </p:ext>
            </p:extLst>
          </p:nvPr>
        </p:nvGraphicFramePr>
        <p:xfrm>
          <a:off x="1371600" y="1417320"/>
          <a:ext cx="9448495" cy="3982212"/>
        </p:xfrm>
        <a:graphic>
          <a:graphicData uri="http://schemas.openxmlformats.org/drawingml/2006/table">
            <a:tbl>
              <a:tblPr/>
              <a:tblGrid>
                <a:gridCol w="5669280">
                  <a:extLst>
                    <a:ext uri="{9D8B030D-6E8A-4147-A177-3AD203B41FA5}">
                      <a16:colId xmlns:a16="http://schemas.microsoft.com/office/drawing/2014/main" val="20000"/>
                    </a:ext>
                  </a:extLst>
                </a:gridCol>
                <a:gridCol w="3779215">
                  <a:extLst>
                    <a:ext uri="{9D8B030D-6E8A-4147-A177-3AD203B41FA5}">
                      <a16:colId xmlns:a16="http://schemas.microsoft.com/office/drawing/2014/main" val="20001"/>
                    </a:ext>
                  </a:extLst>
                </a:gridCol>
              </a:tblGrid>
              <a:tr h="306324">
                <a:tc>
                  <a:txBody>
                    <a:bodyPr/>
                    <a:lstStyle/>
                    <a:p>
                      <a:pPr marL="0" indent="0" algn="ctr">
                        <a:buNone/>
                      </a:pPr>
                      <a:r>
                        <a:rPr lang="en-US" sz="1300" b="1" dirty="0">
                          <a:solidFill>
                            <a:srgbClr val="000000"/>
                          </a:solidFill>
                          <a:latin typeface="Arial" panose="020B0604020202020204" pitchFamily="34" charset="0"/>
                          <a:ea typeface="Cambria" pitchFamily="34" charset="-122"/>
                          <a:cs typeface="Arial" panose="020B0604020202020204" pitchFamily="34" charset="0"/>
                        </a:rPr>
                        <a:t>項目</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altLang="ja-JP" sz="1300" b="1" dirty="0">
                          <a:solidFill>
                            <a:srgbClr val="000000"/>
                          </a:solidFill>
                          <a:latin typeface="Arial" panose="020B0604020202020204" pitchFamily="34" charset="0"/>
                          <a:ea typeface="Cambria" pitchFamily="34" charset="-122"/>
                          <a:cs typeface="Arial" panose="020B0604020202020204" pitchFamily="34" charset="0"/>
                        </a:rPr>
                        <a:t>全体(N=66)</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年齢（歳）</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74.7 ± 6.2</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女性</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49 (74.2%)</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男性</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17 (25.8%)</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MMSE合計点</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24.4 ± 2.1</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HDS-R合計点</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22.0 ± 3.6</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MoCA-J合計点</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20.6 ± 3.0</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Global CDR = 0.5</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56 (84.8%)</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Global CDR = 1.0</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6 (9.1%)</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CDR-SB</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2.1 ± 1.0</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易怒性</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15 (22.7%)</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意欲低下</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22 (33.3%)</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06324">
                <a:tc>
                  <a:txBody>
                    <a:bodyPr/>
                    <a:lstStyle/>
                    <a:p>
                      <a:pPr marL="0" indent="0" algn="l">
                        <a:buNone/>
                      </a:pPr>
                      <a:r>
                        <a:rPr lang="en-US" sz="1300" dirty="0">
                          <a:solidFill>
                            <a:srgbClr val="000000"/>
                          </a:solidFill>
                          <a:latin typeface="Arial" panose="020B0604020202020204" pitchFamily="34" charset="0"/>
                          <a:ea typeface="Cambria" pitchFamily="34" charset="-122"/>
                          <a:cs typeface="Arial" panose="020B0604020202020204" pitchFamily="34" charset="0"/>
                        </a:rPr>
                        <a:t>両方なし</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a:buNone/>
                      </a:pPr>
                      <a:r>
                        <a:rPr lang="en-US" sz="1300" dirty="0">
                          <a:solidFill>
                            <a:srgbClr val="000000"/>
                          </a:solidFill>
                          <a:latin typeface="Arial" panose="020B0604020202020204" pitchFamily="34" charset="0"/>
                          <a:ea typeface="Cambria" pitchFamily="34" charset="-122"/>
                          <a:cs typeface="Arial" panose="020B0604020202020204" pitchFamily="34" charset="0"/>
                        </a:rPr>
                        <a:t>31 (47.0%)</a:t>
                      </a:r>
                      <a:endParaRPr lang="en-US" sz="1300" dirty="0">
                        <a:latin typeface="Arial" panose="020B0604020202020204" pitchFamily="34" charset="0"/>
                        <a:ea typeface="Cambria" charset="0"/>
                        <a:cs typeface="Arial" panose="020B0604020202020204" pitchFamily="34" charset="0"/>
                      </a:endParaRPr>
                    </a:p>
                  </a:txBody>
                  <a:tcPr anchor="ctr">
                    <a:lnL w="0" cap="flat" cmpd="sng" algn="ctr">
                      <a:noFill/>
                    </a:lnL>
                    <a:lnR w="0" cap="flat" cmpd="sng" algn="ct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 name="Shape 3"/>
          <p:cNvSpPr/>
          <p:nvPr/>
        </p:nvSpPr>
        <p:spPr>
          <a:xfrm>
            <a:off x="1371600" y="1417320"/>
            <a:ext cx="9448495" cy="0"/>
          </a:xfrm>
          <a:prstGeom prst="line">
            <a:avLst/>
          </a:prstGeom>
          <a:noFill/>
          <a:ln w="19050">
            <a:solidFill>
              <a:srgbClr val="000000"/>
            </a:solidFill>
            <a:prstDash val="solid"/>
          </a:ln>
        </p:spPr>
        <p:txBody>
          <a:bodyPr/>
          <a:lstStyle/>
          <a:p>
            <a:endParaRPr lang="ja-JP" altLang="en-US"/>
          </a:p>
        </p:txBody>
      </p:sp>
      <p:sp>
        <p:nvSpPr>
          <p:cNvPr id="7" name="Shape 4"/>
          <p:cNvSpPr/>
          <p:nvPr/>
        </p:nvSpPr>
        <p:spPr>
          <a:xfrm>
            <a:off x="1371600" y="1723644"/>
            <a:ext cx="9448495" cy="0"/>
          </a:xfrm>
          <a:prstGeom prst="line">
            <a:avLst/>
          </a:prstGeom>
          <a:noFill/>
          <a:ln w="15875">
            <a:solidFill>
              <a:srgbClr val="000000"/>
            </a:solidFill>
            <a:prstDash val="solid"/>
          </a:ln>
        </p:spPr>
        <p:txBody>
          <a:bodyPr/>
          <a:lstStyle/>
          <a:p>
            <a:endParaRPr lang="ja-JP" altLang="en-US"/>
          </a:p>
        </p:txBody>
      </p:sp>
      <p:sp>
        <p:nvSpPr>
          <p:cNvPr id="8" name="Shape 5"/>
          <p:cNvSpPr/>
          <p:nvPr/>
        </p:nvSpPr>
        <p:spPr>
          <a:xfrm>
            <a:off x="1371600" y="5399532"/>
            <a:ext cx="9448495" cy="0"/>
          </a:xfrm>
          <a:prstGeom prst="line">
            <a:avLst/>
          </a:prstGeom>
          <a:noFill/>
          <a:ln w="19050">
            <a:solidFill>
              <a:srgbClr val="000000"/>
            </a:solidFill>
            <a:prstDash val="solid"/>
          </a:ln>
        </p:spPr>
        <p:txBody>
          <a:bodyPr/>
          <a:lstStyle/>
          <a:p>
            <a:endParaRPr lang="ja-JP" altLang="en-US"/>
          </a:p>
        </p:txBody>
      </p:sp>
      <p:sp>
        <p:nvSpPr>
          <p:cNvPr id="9" name="Text 6"/>
          <p:cNvSpPr/>
          <p:nvPr/>
        </p:nvSpPr>
        <p:spPr>
          <a:xfrm>
            <a:off x="1371600" y="5536692"/>
            <a:ext cx="9448495" cy="640080"/>
          </a:xfrm>
          <a:prstGeom prst="rect">
            <a:avLst/>
          </a:prstGeom>
          <a:noFill/>
          <a:ln/>
        </p:spPr>
        <p:txBody>
          <a:bodyPr wrap="square" lIns="0" tIns="0" rIns="0" bIns="0" rtlCol="0" anchor="ctr"/>
          <a:lstStyle/>
          <a:p>
            <a:pPr marL="0" indent="0" algn="l">
              <a:lnSpc>
                <a:spcPct val="115000"/>
              </a:lnSpc>
              <a:buNone/>
            </a:pPr>
            <a:r>
              <a:rPr lang="en-US" sz="1050" dirty="0">
                <a:solidFill>
                  <a:srgbClr val="000000"/>
                </a:solidFill>
                <a:latin typeface="Arial" panose="020B0604020202020204" pitchFamily="34" charset="0"/>
                <a:ea typeface="Cambria" pitchFamily="34" charset="-122"/>
                <a:cs typeface="Arial" panose="020B0604020202020204" pitchFamily="34" charset="0"/>
              </a:rPr>
              <a:t>数値は平均値±標準偏差または症例数(%)を示す。MMSE：Mini-Mental State Examination、HDS-R：改訂長谷川式簡易知能評価スケール、MoCA-J：Montreal Cognitive Assessment日本語版、CDR：Clinical Dementia Rating、CDR-SB：Clinical Dementia Rating Sum of Boxes。</a:t>
            </a:r>
            <a:endParaRPr lang="en-US" sz="1050" dirty="0">
              <a:latin typeface="Arial" panose="020B0604020202020204" pitchFamily="34" charset="0"/>
              <a:cs typeface="Arial" panose="020B0604020202020204" pitchFamily="34" charset="0"/>
            </a:endParaRPr>
          </a:p>
          <a:p>
            <a:pPr>
              <a:lnSpc>
                <a:spcPct val="105000"/>
              </a:lnSpc>
            </a:pPr>
            <a:r>
              <a:rPr sz="1050">
                <a:solidFill>
                  <a:srgbClr val="000000"/>
                </a:solidFill>
                <a:latin typeface="Arial"/>
              </a:rPr>
              <a:t>MoCA-J（n=58）・CDR-SB／Global CDR（n=63）は原資料でCDR評価が未確認の症例を除いて算出。Global CDR評価済み63例の内訳はCDR=0.5が56例(88.9%)、CDR=1.0が6例(9.5%)、CDR=0.0が1例(1.6%)。年齢・性別・HDS-R合計点は本データ（xlsx）に該当項目がないため今回の照合対象外。</a:t>
            </a:r>
          </a:p>
        </p:txBody>
      </p:sp>
      <p:sp>
        <p:nvSpPr>
          <p:cNvPr id="13" name="コンテンツ プレースホルダ 2">
            <a:extLst>
              <a:ext uri="{FF2B5EF4-FFF2-40B4-BE49-F238E27FC236}">
                <a16:creationId xmlns:a16="http://schemas.microsoft.com/office/drawing/2014/main" id="{8F864FC0-F8AB-B0C1-CA4C-DBE9FF16A205}"/>
              </a:ext>
            </a:extLst>
          </p:cNvPr>
          <p:cNvSpPr txBox="1">
            <a:spLocks/>
          </p:cNvSpPr>
          <p:nvPr/>
        </p:nvSpPr>
        <p:spPr>
          <a:xfrm>
            <a:off x="671805" y="315373"/>
            <a:ext cx="11150082" cy="822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buNone/>
            </a:pPr>
            <a:r>
              <a:rPr lang="ja-JP" altLang="en-US" sz="4000" dirty="0">
                <a:latin typeface="Arial" panose="020B0604020202020204" pitchFamily="34" charset="0"/>
                <a:ea typeface="ＭＳ Ｐゴシック" panose="020B0600070205080204" pitchFamily="50" charset="-128"/>
              </a:rPr>
              <a:t>結果</a:t>
            </a:r>
            <a:r>
              <a:rPr lang="en-US" altLang="ja-JP" sz="4000" dirty="0">
                <a:latin typeface="Arial" panose="020B0604020202020204" pitchFamily="34" charset="0"/>
                <a:ea typeface="ＭＳ Ｐゴシック" panose="020B0600070205080204" pitchFamily="50" charset="-128"/>
              </a:rPr>
              <a:t>1</a:t>
            </a:r>
            <a:r>
              <a:rPr lang="ja-JP" altLang="en-US" sz="4000" dirty="0">
                <a:latin typeface="Arial" panose="020B0604020202020204" pitchFamily="34" charset="0"/>
                <a:ea typeface="ＭＳ Ｐゴシック" panose="020B0600070205080204" pitchFamily="50" charset="-128"/>
              </a:rPr>
              <a:t>　</a:t>
            </a:r>
            <a:r>
              <a:rPr lang="ja-JP" altLang="en-US" sz="3600" dirty="0">
                <a:latin typeface="Arial" panose="020B0604020202020204" pitchFamily="34" charset="0"/>
                <a:ea typeface="ＭＳ Ｐゴシック" panose="020B0600070205080204" pitchFamily="50" charset="-128"/>
              </a:rPr>
              <a:t>患者背景</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92608"/>
            <a:ext cx="11247120" cy="566928"/>
          </a:xfrm>
          <a:prstGeom prst="rect">
            <a:avLst/>
          </a:prstGeom>
          <a:noFill/>
          <a:ln/>
        </p:spPr>
        <p:txBody>
          <a:bodyPr wrap="square" lIns="0" tIns="0" rIns="0" bIns="0" rtlCol="0" anchor="t"/>
          <a:lstStyle/>
          <a:p>
            <a:pPr marL="0" indent="0" algn="l">
              <a:buNone/>
            </a:pPr>
            <a:r>
              <a:rPr lang="en-US" sz="4000" dirty="0">
                <a:solidFill>
                  <a:srgbClr val="000000"/>
                </a:solidFill>
                <a:latin typeface="Arial" pitchFamily="34" charset="0"/>
                <a:ea typeface="Arial" pitchFamily="34" charset="-122"/>
                <a:cs typeface="Arial" pitchFamily="34" charset="-120"/>
              </a:rPr>
              <a:t>結果</a:t>
            </a:r>
            <a:r>
              <a:rPr lang="en-US" altLang="ja-JP" sz="4000" dirty="0">
                <a:solidFill>
                  <a:srgbClr val="000000"/>
                </a:solidFill>
                <a:latin typeface="Arial" pitchFamily="34" charset="0"/>
                <a:ea typeface="Arial" pitchFamily="34" charset="-122"/>
                <a:cs typeface="Arial" pitchFamily="34" charset="-120"/>
              </a:rPr>
              <a:t>5</a:t>
            </a:r>
            <a:r>
              <a:rPr lang="en-US" sz="3200" dirty="0">
                <a:solidFill>
                  <a:srgbClr val="000000"/>
                </a:solidFill>
                <a:latin typeface="Arial" pitchFamily="34" charset="0"/>
                <a:ea typeface="Arial" pitchFamily="34" charset="-122"/>
                <a:cs typeface="Arial" pitchFamily="34" charset="-120"/>
              </a:rPr>
              <a:t>　症状改善の訴え有無によるMMSE実測値の推移</a:t>
            </a:r>
            <a:endParaRPr lang="en-US" sz="4000" dirty="0"/>
          </a:p>
        </p:txBody>
      </p:sp>
      <p:sp>
        <p:nvSpPr>
          <p:cNvPr id="3" name="Shape 1"/>
          <p:cNvSpPr/>
          <p:nvPr/>
        </p:nvSpPr>
        <p:spPr>
          <a:xfrm>
            <a:off x="457200" y="1161288"/>
            <a:ext cx="10817352" cy="0"/>
          </a:xfrm>
          <a:prstGeom prst="line">
            <a:avLst/>
          </a:prstGeom>
          <a:noFill/>
          <a:ln w="22225">
            <a:solidFill>
              <a:srgbClr val="156082"/>
            </a:solidFill>
            <a:prstDash val="solid"/>
          </a:ln>
        </p:spPr>
        <p:txBody>
          <a:bodyPr/>
          <a:lstStyle/>
          <a:p>
            <a:endParaRPr lang="ja-JP" altLang="en-US"/>
          </a:p>
        </p:txBody>
      </p:sp>
      <p:sp>
        <p:nvSpPr>
          <p:cNvPr id="4" name="Text 2"/>
          <p:cNvSpPr/>
          <p:nvPr/>
        </p:nvSpPr>
        <p:spPr>
          <a:xfrm>
            <a:off x="457200" y="1243584"/>
            <a:ext cx="8229600" cy="246888"/>
          </a:xfrm>
          <a:prstGeom prst="rect">
            <a:avLst/>
          </a:prstGeom>
          <a:noFill/>
          <a:ln/>
        </p:spPr>
        <p:txBody>
          <a:bodyPr wrap="square" lIns="0" tIns="0" rIns="0" bIns="0" rtlCol="0" anchor="ctr"/>
          <a:lstStyle/>
          <a:p>
            <a:pPr marL="0" indent="0" algn="l">
              <a:buNone/>
            </a:pPr>
            <a:r>
              <a:rPr lang="en-US" sz="1300" dirty="0">
                <a:solidFill>
                  <a:srgbClr val="666666"/>
                </a:solidFill>
                <a:latin typeface="Arial" pitchFamily="34" charset="0"/>
                <a:ea typeface="Arial" pitchFamily="34" charset="-122"/>
                <a:cs typeface="Arial" pitchFamily="34" charset="-120"/>
              </a:rPr>
              <a:t>18か月評価例に限定した解析</a:t>
            </a:r>
            <a:endParaRPr lang="en-US" sz="1300" dirty="0"/>
          </a:p>
        </p:txBody>
      </p:sp>
      <p:graphicFrame>
        <p:nvGraphicFramePr>
          <p:cNvPr id="5" name="Chart 0"/>
          <p:cNvGraphicFramePr/>
          <p:nvPr>
            <p:extLst>
              <p:ext uri="{D42A27DB-BD31-4B8C-83A1-F6EECF244321}">
                <p14:modId xmlns:p14="http://schemas.microsoft.com/office/powerpoint/2010/main" val="1293140263"/>
              </p:ext>
            </p:extLst>
          </p:nvPr>
        </p:nvGraphicFramePr>
        <p:xfrm>
          <a:off x="457200" y="1600200"/>
          <a:ext cx="1124712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6126480"/>
            <a:ext cx="11247120" cy="685800"/>
          </a:xfrm>
          <a:prstGeom prst="rect">
            <a:avLst/>
          </a:prstGeom>
          <a:noFill/>
          <a:ln/>
        </p:spPr>
        <p:txBody>
          <a:bodyPr wrap="square" lIns="0" tIns="0" rIns="0" bIns="0" rtlCol="0" anchor="ctr"/>
          <a:lstStyle/>
          <a:p>
            <a:pPr marL="0" indent="0">
              <a:lnSpc>
                <a:spcPct val="105000"/>
              </a:lnSpc>
              <a:buNone/>
            </a:pPr>
            <a:r>
              <a:rPr lang="en-US" sz="1100" dirty="0">
                <a:solidFill>
                  <a:srgbClr val="1A1A1A"/>
                </a:solidFill>
                <a:latin typeface="Arial" pitchFamily="34" charset="0"/>
                <a:ea typeface="Arial" pitchFamily="34" charset="-122"/>
                <a:cs typeface="Arial" pitchFamily="34" charset="-120"/>
              </a:rPr>
              <a:t>各時点の値は平均MMSE実測値、エラーバーは95% CI。18か月データを有する症例に限定して経時推移を表示した。</a:t>
            </a:r>
            <a:endParaRPr lang="en-US" sz="1100" dirty="0"/>
          </a:p>
          <a:p>
            <a:pPr marL="0" indent="0">
              <a:lnSpc>
                <a:spcPct val="105000"/>
              </a:lnSpc>
              <a:buNone/>
            </a:pPr>
            <a:r>
              <a:rPr lang="en-US" sz="1100" dirty="0">
                <a:solidFill>
                  <a:srgbClr val="1A1A1A"/>
                </a:solidFill>
                <a:latin typeface="Arial" pitchFamily="34" charset="0"/>
                <a:ea typeface="Arial" pitchFamily="34" charset="-122"/>
                <a:cs typeface="Arial" pitchFamily="34" charset="-120"/>
              </a:rPr>
              <a:t>改善訴えあり群 n=9、改善訴えなし群 n=20（12か月のみ n=19）。</a:t>
            </a:r>
            <a:endParaRPr lang="en-US" sz="1100" dirty="0"/>
          </a:p>
          <a:p>
            <a:pPr marL="0" indent="0">
              <a:lnSpc>
                <a:spcPct val="105000"/>
              </a:lnSpc>
              <a:buNone/>
            </a:pPr>
            <a:r>
              <a:rPr lang="en-US" sz="1100" dirty="0">
                <a:solidFill>
                  <a:srgbClr val="1A1A1A"/>
                </a:solidFill>
                <a:latin typeface="Arial" pitchFamily="34" charset="0"/>
                <a:ea typeface="Arial" pitchFamily="34" charset="-122"/>
                <a:cs typeface="Arial" pitchFamily="34" charset="-120"/>
              </a:rPr>
              <a:t>18か月時点の群間比較：Welchのt検定 p=0.804、Mann-Whitney検定 p=0.617、ベースラインMMSE調整 p=0.879。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4000" b="0">
                <a:solidFill>
                  <a:srgbClr val="000000"/>
                </a:solidFill>
                <a:latin typeface="Arial"/>
                <a:ea typeface="Arial"/>
                <a:cs typeface="Arial"/>
              </a:rPr>
              <a:t>結果2</a:t>
            </a:r>
            <a:r>
              <a:rPr sz="3000" b="0">
                <a:solidFill>
                  <a:srgbClr val="000000"/>
                </a:solidFill>
                <a:latin typeface="Arial"/>
                <a:ea typeface="Arial"/>
                <a:cs typeface="Arial"/>
              </a:rPr>
              <a:t>　改善の訴えをアンカーとしたΔMMSEの推移</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この図の役割：主観的な訴えがMMSEの変化量を層別しないことを、先行研究と同じアンカーベースの枠組みで示す。</a:t>
            </a:r>
          </a:p>
        </p:txBody>
      </p:sp>
      <p:sp>
        <p:nvSpPr>
          <p:cNvPr id="5" name="Rectangle 4"/>
          <p:cNvSpPr/>
          <p:nvPr/>
        </p:nvSpPr>
        <p:spPr>
          <a:xfrm>
            <a:off x="457200" y="1520000"/>
            <a:ext cx="11247120" cy="420000"/>
          </a:xfrm>
          <a:prstGeom prst="rect">
            <a:avLst/>
          </a:prstGeom>
          <a:solidFill>
            <a:srgbClr val="F2F2F2"/>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wrap="square" lIns="130000" rIns="130000" tIns="45000" bIns="45000"/>
          <a:lstStyle/>
          <a:p>
            <a:pPr algn="ctr"/>
            <a:r>
              <a:rPr sz="1500" b="1">
                <a:solidFill>
                  <a:srgbClr val="404040"/>
                </a:solidFill>
                <a:latin typeface="Arial"/>
                <a:ea typeface="Arial"/>
                <a:cs typeface="Arial"/>
              </a:rPr>
              <a:t>判定：有意差なし（各時点とも p &gt; 0.05）</a:t>
            </a:r>
          </a:p>
          <a:p>
            <a:pPr>
              <a:lnSpc>
                <a:spcPct val="100000"/>
              </a:lnSpc>
            </a:pPr>
            <a:r>
              <a:rPr sz="1150" b="0">
                <a:solidFill>
                  <a:srgbClr val="404040"/>
                </a:solidFill>
                <a:latin typeface="Arial"/>
                <a:ea typeface="Arial"/>
                <a:cs typeface="Arial"/>
              </a:rPr>
              <a:t>18か月時点のΔMMSE　Welchのt検定 p = 0.581／Mann-Whitney検定 p = 0.200（訴えあり n=9／なし n=20）</a:t>
            </a:r>
          </a:p>
        </p:txBody>
      </p:sp>
      <p:graphicFrame>
        <p:nvGraphicFramePr>
          <p:cNvPr id="6" name="Chart 5"/>
          <p:cNvGraphicFramePr>
            <a:graphicFrameLocks noGrp="1"/>
          </p:cNvGraphicFramePr>
          <p:nvPr/>
        </p:nvGraphicFramePr>
        <p:xfrm>
          <a:off x="457200" y="2020000"/>
          <a:ext cx="11247120" cy="3740720"/>
        </p:xfrm>
        <a:graphic>
          <a:graphicData uri="http://schemas.openxmlformats.org/drawingml/2006/chart">
            <c:chart xmlns:c="http://schemas.openxmlformats.org/drawingml/2006/chart" r:id="rId2"/>
          </a:graphicData>
        </a:graphic>
      </p:graphicFrame>
      <p:sp>
        <p:nvSpPr>
          <p:cNvPr id="7" name="TextBox 6"/>
          <p:cNvSpPr txBox="1"/>
          <p:nvPr/>
        </p:nvSpPr>
        <p:spPr>
          <a:xfrm>
            <a:off x="457200" y="6126480"/>
            <a:ext cx="11247120" cy="685800"/>
          </a:xfrm>
          <a:prstGeom prst="rect">
            <a:avLst/>
          </a:prstGeom>
          <a:noFill/>
        </p:spPr>
        <p:txBody>
          <a:bodyPr wrap="square" lIns="0" rIns="0" tIns="0" bIns="0">
            <a:spAutoFit/>
          </a:bodyPr>
          <a:lstStyle/>
          <a:p>
            <a:pPr>
              <a:lnSpc>
                <a:spcPct val="105000"/>
              </a:lnSpc>
            </a:pPr>
            <a:r>
              <a:rPr sz="1100" b="0">
                <a:solidFill>
                  <a:srgbClr val="1A1A1A"/>
                </a:solidFill>
                <a:latin typeface="Arial"/>
                <a:ea typeface="Arial"/>
                <a:cs typeface="Arial"/>
              </a:rPr>
              <a:t>バッジの色は判定を表す（以降のスライドも共通）：灰色＝有意差なし／黄色＝有意差あり・探索的で未補正／橙＝有意差あり・交絡に要注意。</a:t>
            </a:r>
          </a:p>
          <a:p>
            <a:pPr>
              <a:lnSpc>
                <a:spcPct val="105000"/>
              </a:lnSpc>
            </a:pPr>
            <a:r>
              <a:rPr sz="1100" b="0">
                <a:solidFill>
                  <a:srgbClr val="1A1A1A"/>
                </a:solidFill>
                <a:latin typeface="Arial"/>
                <a:ea typeface="Arial"/>
                <a:cs typeface="Arial"/>
              </a:rPr>
              <a:t>各時点の値はベースライン（0か月）からのΔMMSEの群平均、エラーバーは95% CI。淡色の点は個別症例（横方向にジッターを付与）。</a:t>
            </a:r>
          </a:p>
          <a:p>
            <a:pPr>
              <a:lnSpc>
                <a:spcPct val="105000"/>
              </a:lnSpc>
            </a:pPr>
            <a:r>
              <a:rPr sz="1100" b="0">
                <a:solidFill>
                  <a:srgbClr val="1A1A1A"/>
                </a:solidFill>
                <a:latin typeface="Arial"/>
                <a:ea typeface="Arial"/>
                <a:cs typeface="Arial"/>
              </a:rPr>
              <a:t>改善訴えあり群 n=9、改善訴えなし群 n=20（12か月のみ n=19）。18か月時点のΔMMSE：Welchのt検定 p=0.581、Mann-Whitney検定 p=0.200。</a:t>
            </a:r>
          </a:p>
          <a:p>
            <a:pPr>
              <a:lnSpc>
                <a:spcPct val="105000"/>
              </a:lnSpc>
            </a:pPr>
            <a:r>
              <a:rPr sz="1100" b="0">
                <a:solidFill>
                  <a:srgbClr val="1A1A1A"/>
                </a:solidFill>
                <a:latin typeface="Arial"/>
                <a:ea typeface="Arial"/>
                <a:cs typeface="Arial"/>
              </a:rPr>
              <a:t>灰色帯は年 −1.01 点の低下（Aakre JA, et al. Alzheimers Dement (N Y). 2025）を目安として示した参照帯であり、本研究で閾値判定に用いたものではない。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4000" b="0">
                <a:solidFill>
                  <a:srgbClr val="000000"/>
                </a:solidFill>
                <a:latin typeface="Arial"/>
                <a:ea typeface="Arial"/>
                <a:cs typeface="Arial"/>
              </a:rPr>
              <a:t>結果3</a:t>
            </a:r>
            <a:r>
              <a:rPr sz="3000" b="0">
                <a:solidFill>
                  <a:srgbClr val="000000"/>
                </a:solidFill>
                <a:latin typeface="Arial"/>
                <a:ea typeface="Arial"/>
                <a:cs typeface="Arial"/>
              </a:rPr>
              <a:t>　個別症例のMMSE推移（29例の重ね合わせ）</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この図の役割：群平均が重なっていても個々の軌跡は同一ではないことを示す（結果5への伏線）。</a:t>
            </a:r>
          </a:p>
        </p:txBody>
      </p:sp>
      <p:sp>
        <p:nvSpPr>
          <p:cNvPr id="5" name="Rectangle 4"/>
          <p:cNvSpPr/>
          <p:nvPr/>
        </p:nvSpPr>
        <p:spPr>
          <a:xfrm>
            <a:off x="457200" y="1520000"/>
            <a:ext cx="11247120" cy="42000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0000" rIns="130000" tIns="45000" bIns="45000"/>
          <a:lstStyle/>
          <a:p>
            <a:pPr algn="ctr"/>
            <a:r>
              <a:rPr sz="1500" b="1">
                <a:solidFill>
                  <a:srgbClr val="7F6000"/>
                </a:solidFill>
                <a:latin typeface="Arial"/>
                <a:ea typeface="Arial"/>
                <a:cs typeface="Arial"/>
              </a:rPr>
              <a:t>判定：個人内変動幅は有意差あり（探索的）／分散(Levene)は有意差なし</a:t>
            </a:r>
          </a:p>
          <a:p>
            <a:pPr>
              <a:lnSpc>
                <a:spcPct val="100000"/>
              </a:lnSpc>
            </a:pPr>
            <a:r>
              <a:rPr sz="1150" b="0">
                <a:solidFill>
                  <a:srgbClr val="7F6000"/>
                </a:solidFill>
                <a:latin typeface="Arial"/>
                <a:ea typeface="Arial"/>
                <a:cs typeface="Arial"/>
              </a:rPr>
              <a:t>変動幅の中央値差　Mann-Whitney検定 p = 0.034　｜　Δ18MのSD比較　Levene検定 p = 0.146（n=9 vs 20、多重比較未補正）</a:t>
            </a:r>
          </a:p>
        </p:txBody>
      </p:sp>
      <p:graphicFrame>
        <p:nvGraphicFramePr>
          <p:cNvPr id="6" name="Chart 5"/>
          <p:cNvGraphicFramePr>
            <a:graphicFrameLocks noGrp="1"/>
          </p:cNvGraphicFramePr>
          <p:nvPr/>
        </p:nvGraphicFramePr>
        <p:xfrm>
          <a:off x="457200" y="2020000"/>
          <a:ext cx="11247120" cy="3740720"/>
        </p:xfrm>
        <a:graphic>
          <a:graphicData uri="http://schemas.openxmlformats.org/drawingml/2006/chart">
            <c:chart xmlns:c="http://schemas.openxmlformats.org/drawingml/2006/chart" r:id="rId2"/>
          </a:graphicData>
        </a:graphic>
      </p:graphicFrame>
      <p:sp>
        <p:nvSpPr>
          <p:cNvPr id="7" name="TextBox 6"/>
          <p:cNvSpPr txBox="1"/>
          <p:nvPr/>
        </p:nvSpPr>
        <p:spPr>
          <a:xfrm>
            <a:off x="457200" y="6126480"/>
            <a:ext cx="11247120" cy="685800"/>
          </a:xfrm>
          <a:prstGeom prst="rect">
            <a:avLst/>
          </a:prstGeom>
          <a:noFill/>
        </p:spPr>
        <p:txBody>
          <a:bodyPr wrap="square" lIns="0" rIns="0" tIns="0" bIns="0">
            <a:spAutoFit/>
          </a:bodyPr>
          <a:lstStyle/>
          <a:p>
            <a:pPr>
              <a:lnSpc>
                <a:spcPct val="105000"/>
              </a:lnSpc>
            </a:pPr>
            <a:r>
              <a:rPr sz="1100" b="0">
                <a:solidFill>
                  <a:srgbClr val="1A1A1A"/>
                </a:solidFill>
                <a:latin typeface="Arial"/>
                <a:ea typeface="Arial"/>
                <a:cs typeface="Arial"/>
              </a:rPr>
              <a:t>細線は個別症例、太線は群平均。赤＝改善訴えあり（n=9）、青＝改善訴えなし（n=20）。色分けはMMSEの増減とは無関係である。</a:t>
            </a:r>
          </a:p>
          <a:p>
            <a:pPr>
              <a:lnSpc>
                <a:spcPct val="105000"/>
              </a:lnSpc>
            </a:pPr>
            <a:r>
              <a:rPr sz="1100" b="0">
                <a:solidFill>
                  <a:srgbClr val="1A1A1A"/>
                </a:solidFill>
                <a:latin typeface="Arial"/>
                <a:ea typeface="Arial"/>
                <a:cs typeface="Arial"/>
              </a:rPr>
              <a:t>個人内の変動幅（4時点の最大−最小）の平均は 訴えあり 4.67点／訴えなし 3.05点（Mann-Whitney p=0.034）。Δ18MのSDは 訴えあり 4.76／訴えなし 2.83（Levene検定 p=0.146）。</a:t>
            </a:r>
          </a:p>
          <a:p>
            <a:pPr>
              <a:lnSpc>
                <a:spcPct val="105000"/>
              </a:lnSpc>
            </a:pPr>
            <a:r>
              <a:rPr sz="1100" b="0">
                <a:solidFill>
                  <a:srgbClr val="1A1A1A"/>
                </a:solidFill>
                <a:latin typeface="Arial"/>
                <a:ea typeface="Arial"/>
                <a:cs typeface="Arial"/>
              </a:rPr>
              <a:t>18か月時点でベースラインより改善／不変／悪化：訴えあり 6／0／3例、訴えなし 7／4／9例。群平均の推移は両群でほぼ重なる（結果5）。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4000" b="0">
                <a:solidFill>
                  <a:srgbClr val="000000"/>
                </a:solidFill>
                <a:latin typeface="Arial"/>
                <a:ea typeface="Arial"/>
                <a:cs typeface="Arial"/>
              </a:rPr>
              <a:t>結果4</a:t>
            </a:r>
            <a:r>
              <a:rPr sz="3000" b="0">
                <a:solidFill>
                  <a:srgbClr val="000000"/>
                </a:solidFill>
                <a:latin typeface="Arial"/>
                <a:ea typeface="Arial"/>
                <a:cs typeface="Arial"/>
              </a:rPr>
              <a:t>　MMSE下位項目別の推移の群間比較</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この図の役割：11の下位項目のいずれでも訴えの有無が推移を層別しないことを確認する（探索的解析）。</a:t>
            </a:r>
          </a:p>
        </p:txBody>
      </p:sp>
      <p:sp>
        <p:nvSpPr>
          <p:cNvPr id="5" name="Rectangle 4"/>
          <p:cNvSpPr/>
          <p:nvPr/>
        </p:nvSpPr>
        <p:spPr>
          <a:xfrm>
            <a:off x="457200" y="1520000"/>
            <a:ext cx="11247120" cy="420000"/>
          </a:xfrm>
          <a:prstGeom prst="rect">
            <a:avLst/>
          </a:prstGeom>
          <a:solidFill>
            <a:srgbClr val="F2F2F2"/>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wrap="square" lIns="130000" rIns="130000" tIns="45000" bIns="45000"/>
          <a:lstStyle/>
          <a:p>
            <a:pPr algn="ctr"/>
            <a:r>
              <a:rPr sz="1500" b="1">
                <a:solidFill>
                  <a:srgbClr val="404040"/>
                </a:solidFill>
                <a:latin typeface="Arial"/>
                <a:ea typeface="Arial"/>
                <a:cs typeface="Arial"/>
              </a:rPr>
              <a:t>判定：MMSE下位項目 11/11・CDR 6/6 いずれも有意差なし</a:t>
            </a:r>
          </a:p>
          <a:p>
            <a:pPr>
              <a:lnSpc>
                <a:spcPct val="100000"/>
              </a:lnSpc>
            </a:pPr>
            <a:r>
              <a:rPr sz="1150" b="0">
                <a:solidFill>
                  <a:srgbClr val="404040"/>
                </a:solidFill>
                <a:latin typeface="Arial"/>
                <a:ea typeface="Arial"/>
                <a:cs typeface="Arial"/>
              </a:rPr>
              <a:t>MMSE下位項目 最小 p = 0.157（FDR補正後 最小 q = 0.778）／CDR6領域 最小 p = 0.598。補正前の段階から有意な項目はゼロ。</a:t>
            </a:r>
          </a:p>
        </p:txBody>
      </p:sp>
      <p:graphicFrame>
        <p:nvGraphicFramePr>
          <p:cNvPr id="6" name="Chart 5"/>
          <p:cNvGraphicFramePr>
            <a:graphicFrameLocks noGrp="1"/>
          </p:cNvGraphicFramePr>
          <p:nvPr/>
        </p:nvGraphicFramePr>
        <p:xfrm>
          <a:off x="487200" y="2050000"/>
          <a:ext cx="2751780" cy="1186906"/>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3298980" y="2050000"/>
          <a:ext cx="2751780" cy="1186906"/>
        </p:xfrm>
        <a:graphic>
          <a:graphicData uri="http://schemas.openxmlformats.org/drawingml/2006/chart">
            <c:chart xmlns:c="http://schemas.openxmlformats.org/drawingml/2006/chart" r:id="rId3"/>
          </a:graphicData>
        </a:graphic>
      </p:graphicFrame>
      <p:graphicFrame>
        <p:nvGraphicFramePr>
          <p:cNvPr id="8" name="Chart 7"/>
          <p:cNvGraphicFramePr>
            <a:graphicFrameLocks noGrp="1"/>
          </p:cNvGraphicFramePr>
          <p:nvPr/>
        </p:nvGraphicFramePr>
        <p:xfrm>
          <a:off x="6110760" y="2050000"/>
          <a:ext cx="2751780" cy="1186906"/>
        </p:xfrm>
        <a:graphic>
          <a:graphicData uri="http://schemas.openxmlformats.org/drawingml/2006/chart">
            <c:chart xmlns:c="http://schemas.openxmlformats.org/drawingml/2006/chart" r:id="rId4"/>
          </a:graphicData>
        </a:graphic>
      </p:graphicFrame>
      <p:graphicFrame>
        <p:nvGraphicFramePr>
          <p:cNvPr id="9" name="Chart 8"/>
          <p:cNvGraphicFramePr>
            <a:graphicFrameLocks noGrp="1"/>
          </p:cNvGraphicFramePr>
          <p:nvPr/>
        </p:nvGraphicFramePr>
        <p:xfrm>
          <a:off x="8922540" y="2050000"/>
          <a:ext cx="2751780" cy="1186906"/>
        </p:xfrm>
        <a:graphic>
          <a:graphicData uri="http://schemas.openxmlformats.org/drawingml/2006/chart">
            <c:chart xmlns:c="http://schemas.openxmlformats.org/drawingml/2006/chart" r:id="rId5"/>
          </a:graphicData>
        </a:graphic>
      </p:graphicFrame>
      <p:graphicFrame>
        <p:nvGraphicFramePr>
          <p:cNvPr id="10" name="Chart 9"/>
          <p:cNvGraphicFramePr>
            <a:graphicFrameLocks noGrp="1"/>
          </p:cNvGraphicFramePr>
          <p:nvPr/>
        </p:nvGraphicFramePr>
        <p:xfrm>
          <a:off x="487200" y="3296906"/>
          <a:ext cx="2751780" cy="1186906"/>
        </p:xfrm>
        <a:graphic>
          <a:graphicData uri="http://schemas.openxmlformats.org/drawingml/2006/chart">
            <c:chart xmlns:c="http://schemas.openxmlformats.org/drawingml/2006/chart" r:id="rId6"/>
          </a:graphicData>
        </a:graphic>
      </p:graphicFrame>
      <p:graphicFrame>
        <p:nvGraphicFramePr>
          <p:cNvPr id="11" name="Chart 10"/>
          <p:cNvGraphicFramePr>
            <a:graphicFrameLocks noGrp="1"/>
          </p:cNvGraphicFramePr>
          <p:nvPr/>
        </p:nvGraphicFramePr>
        <p:xfrm>
          <a:off x="3298980" y="3296906"/>
          <a:ext cx="2751780" cy="1186906"/>
        </p:xfrm>
        <a:graphic>
          <a:graphicData uri="http://schemas.openxmlformats.org/drawingml/2006/chart">
            <c:chart xmlns:c="http://schemas.openxmlformats.org/drawingml/2006/chart" r:id="rId7"/>
          </a:graphicData>
        </a:graphic>
      </p:graphicFrame>
      <p:graphicFrame>
        <p:nvGraphicFramePr>
          <p:cNvPr id="12" name="Chart 11"/>
          <p:cNvGraphicFramePr>
            <a:graphicFrameLocks noGrp="1"/>
          </p:cNvGraphicFramePr>
          <p:nvPr/>
        </p:nvGraphicFramePr>
        <p:xfrm>
          <a:off x="6110760" y="3296906"/>
          <a:ext cx="2751780" cy="1186906"/>
        </p:xfrm>
        <a:graphic>
          <a:graphicData uri="http://schemas.openxmlformats.org/drawingml/2006/chart">
            <c:chart xmlns:c="http://schemas.openxmlformats.org/drawingml/2006/chart" r:id="rId8"/>
          </a:graphicData>
        </a:graphic>
      </p:graphicFrame>
      <p:graphicFrame>
        <p:nvGraphicFramePr>
          <p:cNvPr id="13" name="Chart 12"/>
          <p:cNvGraphicFramePr>
            <a:graphicFrameLocks noGrp="1"/>
          </p:cNvGraphicFramePr>
          <p:nvPr/>
        </p:nvGraphicFramePr>
        <p:xfrm>
          <a:off x="8922540" y="3296906"/>
          <a:ext cx="2751780" cy="1186906"/>
        </p:xfrm>
        <a:graphic>
          <a:graphicData uri="http://schemas.openxmlformats.org/drawingml/2006/chart">
            <c:chart xmlns:c="http://schemas.openxmlformats.org/drawingml/2006/chart" r:id="rId9"/>
          </a:graphicData>
        </a:graphic>
      </p:graphicFrame>
      <p:graphicFrame>
        <p:nvGraphicFramePr>
          <p:cNvPr id="14" name="Chart 13"/>
          <p:cNvGraphicFramePr>
            <a:graphicFrameLocks noGrp="1"/>
          </p:cNvGraphicFramePr>
          <p:nvPr/>
        </p:nvGraphicFramePr>
        <p:xfrm>
          <a:off x="487200" y="4543812"/>
          <a:ext cx="2751780" cy="1186906"/>
        </p:xfrm>
        <a:graphic>
          <a:graphicData uri="http://schemas.openxmlformats.org/drawingml/2006/chart">
            <c:chart xmlns:c="http://schemas.openxmlformats.org/drawingml/2006/chart" r:id="rId10"/>
          </a:graphicData>
        </a:graphic>
      </p:graphicFrame>
      <p:graphicFrame>
        <p:nvGraphicFramePr>
          <p:cNvPr id="15" name="Chart 14"/>
          <p:cNvGraphicFramePr>
            <a:graphicFrameLocks noGrp="1"/>
          </p:cNvGraphicFramePr>
          <p:nvPr/>
        </p:nvGraphicFramePr>
        <p:xfrm>
          <a:off x="3298980" y="4543812"/>
          <a:ext cx="2751780" cy="1186906"/>
        </p:xfrm>
        <a:graphic>
          <a:graphicData uri="http://schemas.openxmlformats.org/drawingml/2006/chart">
            <c:chart xmlns:c="http://schemas.openxmlformats.org/drawingml/2006/chart" r:id="rId11"/>
          </a:graphicData>
        </a:graphic>
      </p:graphicFrame>
      <p:graphicFrame>
        <p:nvGraphicFramePr>
          <p:cNvPr id="16" name="Chart 15"/>
          <p:cNvGraphicFramePr>
            <a:graphicFrameLocks noGrp="1"/>
          </p:cNvGraphicFramePr>
          <p:nvPr/>
        </p:nvGraphicFramePr>
        <p:xfrm>
          <a:off x="6110760" y="4543812"/>
          <a:ext cx="2751780" cy="1186906"/>
        </p:xfrm>
        <a:graphic>
          <a:graphicData uri="http://schemas.openxmlformats.org/drawingml/2006/chart">
            <c:chart xmlns:c="http://schemas.openxmlformats.org/drawingml/2006/chart" r:id="rId12"/>
          </a:graphicData>
        </a:graphic>
      </p:graphicFrame>
      <p:sp>
        <p:nvSpPr>
          <p:cNvPr id="17" name="TextBox 16"/>
          <p:cNvSpPr txBox="1"/>
          <p:nvPr/>
        </p:nvSpPr>
        <p:spPr>
          <a:xfrm>
            <a:off x="457200" y="6126480"/>
            <a:ext cx="11247120" cy="685800"/>
          </a:xfrm>
          <a:prstGeom prst="rect">
            <a:avLst/>
          </a:prstGeom>
          <a:noFill/>
        </p:spPr>
        <p:txBody>
          <a:bodyPr wrap="square" lIns="0" rIns="0" tIns="0" bIns="0">
            <a:spAutoFit/>
          </a:bodyPr>
          <a:lstStyle/>
          <a:p>
            <a:pPr>
              <a:lnSpc>
                <a:spcPct val="105000"/>
              </a:lnSpc>
            </a:pPr>
            <a:r>
              <a:rPr sz="1100" b="0">
                <a:solidFill>
                  <a:srgbClr val="1A1A1A"/>
                </a:solidFill>
                <a:latin typeface="Arial"/>
                <a:ea typeface="Arial"/>
                <a:cs typeface="Arial"/>
              </a:rPr>
              <a:t>各パネルは下位項目ごとの群平均±95% CI。赤＝改善訴えあり（n=9）、青＝改善訴えなし（n=20）。</a:t>
            </a:r>
          </a:p>
          <a:p>
            <a:pPr>
              <a:lnSpc>
                <a:spcPct val="105000"/>
              </a:lnSpc>
            </a:pPr>
            <a:r>
              <a:rPr sz="1100" b="0">
                <a:solidFill>
                  <a:srgbClr val="1A1A1A"/>
                </a:solidFill>
                <a:latin typeface="Arial"/>
                <a:ea typeface="Arial"/>
                <a:cs typeface="Arial"/>
              </a:rPr>
              <a:t>18か月時点の変化量を項目ごとにMann-Whitney検定で比較し、Benjamini-Hochberg法でFDR補正した。補正前 p&lt;0.05 は 0/11、補正後 q&lt;0.05 も 0/11。</a:t>
            </a:r>
          </a:p>
          <a:p>
            <a:pPr>
              <a:lnSpc>
                <a:spcPct val="105000"/>
              </a:lnSpc>
            </a:pPr>
            <a:r>
              <a:rPr sz="1100" b="0">
                <a:solidFill>
                  <a:srgbClr val="1A1A1A"/>
                </a:solidFill>
                <a:latin typeface="Arial"/>
                <a:ea typeface="Arial"/>
                <a:cs typeface="Arial"/>
              </a:rPr>
              <a:t>多重比較を含む探索的（hypothesis-generating）解析であり、確証的解析ではない。1点満点の項目は1例の増減で結果が動くため単独では解釈しない。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4000" b="0">
                <a:solidFill>
                  <a:srgbClr val="000000"/>
                </a:solidFill>
                <a:latin typeface="Arial"/>
                <a:ea typeface="Arial"/>
                <a:cs typeface="Arial"/>
              </a:rPr>
              <a:t>参考1</a:t>
            </a:r>
            <a:r>
              <a:rPr sz="3000" b="0">
                <a:solidFill>
                  <a:srgbClr val="000000"/>
                </a:solidFill>
                <a:latin typeface="Arial"/>
                <a:ea typeface="Arial"/>
                <a:cs typeface="Arial"/>
              </a:rPr>
              <a:t>　個別症例のMMSE推移（群別表示）</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結果3の代替案：群内のばらつきを見やすくした2パネル版。どちらを本番で使うかは要相談。</a:t>
            </a:r>
          </a:p>
        </p:txBody>
      </p:sp>
      <p:sp>
        <p:nvSpPr>
          <p:cNvPr id="5" name="Rectangle 4"/>
          <p:cNvSpPr/>
          <p:nvPr/>
        </p:nvSpPr>
        <p:spPr>
          <a:xfrm>
            <a:off x="457200" y="1520000"/>
            <a:ext cx="11247120" cy="42000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0000" rIns="130000" tIns="45000" bIns="45000"/>
          <a:lstStyle/>
          <a:p>
            <a:pPr algn="ctr"/>
            <a:r>
              <a:rPr sz="1500" b="1">
                <a:solidFill>
                  <a:srgbClr val="7F6000"/>
                </a:solidFill>
                <a:latin typeface="Arial"/>
                <a:ea typeface="Arial"/>
                <a:cs typeface="Arial"/>
              </a:rPr>
              <a:t>判定：結果3と同一データの検定結果（詳細は結果3を参照）</a:t>
            </a:r>
          </a:p>
          <a:p>
            <a:pPr>
              <a:lnSpc>
                <a:spcPct val="100000"/>
              </a:lnSpc>
            </a:pPr>
            <a:r>
              <a:rPr sz="1150" b="0">
                <a:solidFill>
                  <a:srgbClr val="7F6000"/>
                </a:solidFill>
                <a:latin typeface="Arial"/>
                <a:ea typeface="Arial"/>
                <a:cs typeface="Arial"/>
              </a:rPr>
              <a:t>個人内変動幅　Mann-Whitney検定 p = 0.034（探索的）　｜　Δ18MのSD　Levene検定 p = 0.146（有意差なし）</a:t>
            </a:r>
          </a:p>
        </p:txBody>
      </p:sp>
      <p:graphicFrame>
        <p:nvGraphicFramePr>
          <p:cNvPr id="6" name="Chart 5"/>
          <p:cNvGraphicFramePr>
            <a:graphicFrameLocks noGrp="1"/>
          </p:cNvGraphicFramePr>
          <p:nvPr/>
        </p:nvGraphicFramePr>
        <p:xfrm>
          <a:off x="457200" y="2020000"/>
          <a:ext cx="5533560" cy="3740720"/>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6170760" y="2020000"/>
          <a:ext cx="5533560" cy="3740720"/>
        </p:xfrm>
        <a:graphic>
          <a:graphicData uri="http://schemas.openxmlformats.org/drawingml/2006/chart">
            <c:chart xmlns:c="http://schemas.openxmlformats.org/drawingml/2006/chart" r:id="rId3"/>
          </a:graphicData>
        </a:graphic>
      </p:graphicFrame>
      <p:sp>
        <p:nvSpPr>
          <p:cNvPr id="8" name="TextBox 7"/>
          <p:cNvSpPr txBox="1"/>
          <p:nvPr/>
        </p:nvSpPr>
        <p:spPr>
          <a:xfrm>
            <a:off x="457200" y="6126480"/>
            <a:ext cx="11247120" cy="685800"/>
          </a:xfrm>
          <a:prstGeom prst="rect">
            <a:avLst/>
          </a:prstGeom>
          <a:noFill/>
        </p:spPr>
        <p:txBody>
          <a:bodyPr wrap="square" lIns="0" rIns="0" tIns="0" bIns="0">
            <a:spAutoFit/>
          </a:bodyPr>
          <a:lstStyle/>
          <a:p>
            <a:pPr>
              <a:lnSpc>
                <a:spcPct val="105000"/>
              </a:lnSpc>
            </a:pPr>
            <a:r>
              <a:rPr sz="1100" b="0">
                <a:solidFill>
                  <a:srgbClr val="1A1A1A"/>
                </a:solidFill>
                <a:latin typeface="Arial"/>
                <a:ea typeface="Arial"/>
                <a:cs typeface="Arial"/>
              </a:rPr>
              <a:t>細線は個別症例、太線は群平均。左：改善訴えあり（n=9）、右：改善訴えなし（n=20）。縦軸は両パネルで共通。</a:t>
            </a:r>
          </a:p>
          <a:p>
            <a:pPr>
              <a:lnSpc>
                <a:spcPct val="105000"/>
              </a:lnSpc>
            </a:pPr>
            <a:r>
              <a:rPr sz="1100" b="0">
                <a:solidFill>
                  <a:srgbClr val="1A1A1A"/>
                </a:solidFill>
                <a:latin typeface="Arial"/>
                <a:ea typeface="Arial"/>
                <a:cs typeface="Arial"/>
              </a:rPr>
              <a:t>重ね合わせ版（結果3）と同一データ。群内のばらつきを見せたい場合はこちら、2群の比較を見せたい場合は重ね合わせ版が適する。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4000" b="0">
                <a:solidFill>
                  <a:srgbClr val="000000"/>
                </a:solidFill>
                <a:latin typeface="Arial"/>
                <a:ea typeface="Arial"/>
                <a:cs typeface="Arial"/>
              </a:rPr>
              <a:t>参考2</a:t>
            </a:r>
            <a:r>
              <a:rPr sz="3000" b="0">
                <a:solidFill>
                  <a:srgbClr val="000000"/>
                </a:solidFill>
                <a:latin typeface="Arial"/>
                <a:ea typeface="Arial"/>
                <a:cs typeface="Arial"/>
              </a:rPr>
              <a:t>　18か月ΔMMSEの分布とベースライン重症度</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結果2の補足：群分けよりベースライン重症度のほうがMMSEの推移をよく説明する。</a:t>
            </a:r>
          </a:p>
        </p:txBody>
      </p:sp>
      <p:sp>
        <p:nvSpPr>
          <p:cNvPr id="5" name="Rectangle 4"/>
          <p:cNvSpPr/>
          <p:nvPr/>
        </p:nvSpPr>
        <p:spPr>
          <a:xfrm>
            <a:off x="457200" y="1520000"/>
            <a:ext cx="11247120" cy="420000"/>
          </a:xfrm>
          <a:prstGeom prst="rect">
            <a:avLst/>
          </a:prstGeom>
          <a:solidFill>
            <a:srgbClr val="FDE9D9"/>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130000" rIns="130000" tIns="45000" bIns="45000"/>
          <a:lstStyle/>
          <a:p>
            <a:pPr algn="ctr"/>
            <a:r>
              <a:rPr sz="1500" b="1">
                <a:solidFill>
                  <a:srgbClr val="7A3508"/>
                </a:solidFill>
                <a:latin typeface="Arial"/>
                <a:ea typeface="Arial"/>
                <a:cs typeface="Arial"/>
              </a:rPr>
              <a:t>判定：相関は統計的に有意（ただし平均への回帰を含み因果解釈は不可）</a:t>
            </a:r>
          </a:p>
          <a:p>
            <a:pPr>
              <a:lnSpc>
                <a:spcPct val="100000"/>
              </a:lnSpc>
            </a:pPr>
            <a:r>
              <a:rPr sz="1150" b="0">
                <a:solidFill>
                  <a:srgbClr val="7A3508"/>
                </a:solidFill>
                <a:latin typeface="Arial"/>
                <a:ea typeface="Arial"/>
                <a:cs typeface="Arial"/>
              </a:rPr>
              <a:t>ベースラインMMSEと18か月ΔMMSEの相関（29例）　Pearson相関 r = −0.50, p = 0.006</a:t>
            </a:r>
          </a:p>
        </p:txBody>
      </p:sp>
      <p:graphicFrame>
        <p:nvGraphicFramePr>
          <p:cNvPr id="6" name="Chart 5"/>
          <p:cNvGraphicFramePr>
            <a:graphicFrameLocks noGrp="1"/>
          </p:cNvGraphicFramePr>
          <p:nvPr/>
        </p:nvGraphicFramePr>
        <p:xfrm>
          <a:off x="457200" y="2020000"/>
          <a:ext cx="4723790" cy="3740720"/>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5400990" y="2020000"/>
          <a:ext cx="6303330" cy="3740720"/>
        </p:xfrm>
        <a:graphic>
          <a:graphicData uri="http://schemas.openxmlformats.org/drawingml/2006/chart">
            <c:chart xmlns:c="http://schemas.openxmlformats.org/drawingml/2006/chart" r:id="rId3"/>
          </a:graphicData>
        </a:graphic>
      </p:graphicFrame>
      <p:sp>
        <p:nvSpPr>
          <p:cNvPr id="8" name="TextBox 7"/>
          <p:cNvSpPr txBox="1"/>
          <p:nvPr/>
        </p:nvSpPr>
        <p:spPr>
          <a:xfrm>
            <a:off x="457200" y="6126480"/>
            <a:ext cx="11247120" cy="685800"/>
          </a:xfrm>
          <a:prstGeom prst="rect">
            <a:avLst/>
          </a:prstGeom>
          <a:noFill/>
        </p:spPr>
        <p:txBody>
          <a:bodyPr wrap="square" lIns="0" rIns="0" tIns="0" bIns="0">
            <a:spAutoFit/>
          </a:bodyPr>
          <a:lstStyle/>
          <a:p>
            <a:pPr>
              <a:lnSpc>
                <a:spcPct val="105000"/>
              </a:lnSpc>
            </a:pPr>
            <a:r>
              <a:rPr sz="1100" b="0">
                <a:solidFill>
                  <a:srgbClr val="1A1A1A"/>
                </a:solidFill>
                <a:latin typeface="Arial"/>
                <a:ea typeface="Arial"/>
                <a:cs typeface="Arial"/>
              </a:rPr>
              <a:t>左：18か月時点のΔMMSEの分布（中央値とIQRの誤差棒＋ジッター付き個別点）。灰色帯は年 −1.01 点相当の参照帯。</a:t>
            </a:r>
          </a:p>
          <a:p>
            <a:pPr>
              <a:lnSpc>
                <a:spcPct val="105000"/>
              </a:lnSpc>
            </a:pPr>
            <a:r>
              <a:rPr sz="1100" b="0">
                <a:solidFill>
                  <a:srgbClr val="1A1A1A"/>
                </a:solidFill>
                <a:latin typeface="Arial"/>
                <a:ea typeface="Arial"/>
                <a:cs typeface="Arial"/>
              </a:rPr>
              <a:t>右：ベースラインMMSEと18か月ΔMMSEの関係（29例全体で r = −0.50, p = 0.006）。ベースラインが高い症例ほど18か月での低下が大きい。</a:t>
            </a:r>
          </a:p>
          <a:p>
            <a:pPr>
              <a:lnSpc>
                <a:spcPct val="105000"/>
              </a:lnSpc>
            </a:pPr>
            <a:r>
              <a:rPr sz="1100" b="0">
                <a:solidFill>
                  <a:srgbClr val="1A1A1A"/>
                </a:solidFill>
                <a:latin typeface="Arial"/>
                <a:ea typeface="Arial"/>
                <a:cs typeface="Arial"/>
              </a:rPr>
              <a:t>ただしΔMMSEはベースラインを含んで計算されるため、この相関には平均への回帰（regression to the mean）が数学的に含まれる。因果的な解釈はできない。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4000" b="0">
                <a:solidFill>
                  <a:srgbClr val="000000"/>
                </a:solidFill>
                <a:latin typeface="Arial"/>
                <a:ea typeface="Arial"/>
                <a:cs typeface="Arial"/>
              </a:rPr>
              <a:t>参考3</a:t>
            </a:r>
            <a:r>
              <a:rPr sz="3000" b="0">
                <a:solidFill>
                  <a:srgbClr val="000000"/>
                </a:solidFill>
                <a:latin typeface="Arial"/>
                <a:ea typeface="Arial"/>
                <a:cs typeface="Arial"/>
              </a:rPr>
              <a:t>　精神症状項目の測定上の限界（易怒性・意欲低下）</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結果1の補足：精神症状フラグが確立された尺度に基づかないことを質疑応答に備えて明示する。</a:t>
            </a:r>
          </a:p>
        </p:txBody>
      </p:sp>
      <p:sp>
        <p:nvSpPr>
          <p:cNvPr id="5" name="TextBox 4"/>
          <p:cNvSpPr txBox="1"/>
          <p:nvPr/>
        </p:nvSpPr>
        <p:spPr>
          <a:xfrm>
            <a:off x="457200" y="1600200"/>
            <a:ext cx="11247120" cy="4600000"/>
          </a:xfrm>
          <a:prstGeom prst="rect">
            <a:avLst/>
          </a:prstGeom>
          <a:noFill/>
        </p:spPr>
        <p:txBody>
          <a:bodyPr wrap="square" lIns="0" rIns="0" tIns="0" bIns="0">
            <a:spAutoFit/>
          </a:bodyPr>
          <a:lstStyle/>
          <a:p>
            <a:pPr>
              <a:lnSpc>
                <a:spcPct val="125000"/>
              </a:lnSpc>
            </a:pPr>
            <a:r>
              <a:rPr sz="1400" b="1">
                <a:solidFill>
                  <a:srgbClr val="1A1A1A"/>
                </a:solidFill>
                <a:latin typeface="Arial"/>
                <a:ea typeface="Arial"/>
                <a:cs typeface="Arial"/>
              </a:rPr>
              <a:t>本研究の操作的定義</a:t>
            </a:r>
          </a:p>
          <a:p>
            <a:pPr>
              <a:lnSpc>
                <a:spcPct val="125000"/>
              </a:lnSpc>
            </a:pPr>
            <a:r>
              <a:rPr sz="1300" b="0">
                <a:solidFill>
                  <a:srgbClr val="1A1A1A"/>
                </a:solidFill>
                <a:latin typeface="Arial"/>
                <a:ea typeface="Arial"/>
                <a:cs typeface="Arial"/>
              </a:rPr>
              <a:t>　易怒性・意欲低下は、NPI-Q等の確立された尺度によらず、診療録記載の有無に基づく二値変数（0/1）として後方視的に定義した。</a:t>
            </a:r>
          </a:p>
          <a:p>
            <a:pPr>
              <a:lnSpc>
                <a:spcPct val="125000"/>
              </a:lnSpc>
            </a:pPr>
            <a:r>
              <a:rPr sz="700" b="0">
                <a:solidFill>
                  <a:srgbClr val="1A1A1A"/>
                </a:solidFill>
                <a:latin typeface="Arial"/>
                <a:ea typeface="Arial"/>
                <a:cs typeface="Arial"/>
              </a:rPr>
              <a:t/>
            </a:r>
          </a:p>
          <a:p>
            <a:pPr>
              <a:lnSpc>
                <a:spcPct val="125000"/>
              </a:lnSpc>
            </a:pPr>
            <a:r>
              <a:rPr sz="1400" b="1">
                <a:solidFill>
                  <a:srgbClr val="1A1A1A"/>
                </a:solidFill>
                <a:latin typeface="Arial"/>
                <a:ea typeface="Arial"/>
                <a:cs typeface="Arial"/>
              </a:rPr>
              <a:t>先行研究の標準的な定義との差</a:t>
            </a:r>
          </a:p>
          <a:p>
            <a:pPr>
              <a:lnSpc>
                <a:spcPct val="125000"/>
              </a:lnSpc>
            </a:pPr>
            <a:r>
              <a:rPr sz="1300" b="0">
                <a:solidFill>
                  <a:srgbClr val="1A1A1A"/>
                </a:solidFill>
                <a:latin typeface="Arial"/>
                <a:ea typeface="Arial"/>
                <a:cs typeface="Arial"/>
              </a:rPr>
              <a:t>　NPI（Cummings 1994）、NPI-Q（Kaufer 2000）、AES（Marin／Clarke 2007）、Starkstein Apathy Scale はいずれも、</a:t>
            </a:r>
          </a:p>
          <a:p>
            <a:pPr>
              <a:lnSpc>
                <a:spcPct val="125000"/>
              </a:lnSpc>
            </a:pPr>
            <a:r>
              <a:rPr sz="1300" b="0">
                <a:solidFill>
                  <a:srgbClr val="1A1A1A"/>
                </a:solidFill>
                <a:latin typeface="Arial"/>
                <a:ea typeface="Arial"/>
                <a:cs typeface="Arial"/>
              </a:rPr>
              <a:t>　(1) 情報提供者への構造化された聴取、(2) 頻度・重症度の段階評価、(3) 直近1か月などの観察期間の明示、という3要素を備える。</a:t>
            </a:r>
          </a:p>
          <a:p>
            <a:pPr>
              <a:lnSpc>
                <a:spcPct val="125000"/>
              </a:lnSpc>
            </a:pPr>
            <a:r>
              <a:rPr sz="1300" b="0">
                <a:solidFill>
                  <a:srgbClr val="1A1A1A"/>
                </a:solidFill>
                <a:latin typeface="Arial"/>
                <a:ea typeface="Arial"/>
                <a:cs typeface="Arial"/>
              </a:rPr>
              <a:t>　本研究の二値フラグはこの3要素をいずれも満たさず、Robertら（2018）のアパシー国際コンセンサス基準の充足も判定できない。</a:t>
            </a:r>
          </a:p>
          <a:p>
            <a:pPr>
              <a:lnSpc>
                <a:spcPct val="125000"/>
              </a:lnSpc>
            </a:pPr>
            <a:r>
              <a:rPr sz="1300" b="0">
                <a:solidFill>
                  <a:srgbClr val="1A1A1A"/>
                </a:solidFill>
                <a:latin typeface="Arial"/>
                <a:ea typeface="Arial"/>
                <a:cs typeface="Arial"/>
              </a:rPr>
              <a:t>　したがって本項目は「アパシー」ではなく「意欲低下（診療録記載）」と記述するのが正確である。</a:t>
            </a:r>
          </a:p>
          <a:p>
            <a:pPr>
              <a:lnSpc>
                <a:spcPct val="125000"/>
              </a:lnSpc>
            </a:pPr>
            <a:r>
              <a:rPr sz="700" b="0">
                <a:solidFill>
                  <a:srgbClr val="1A1A1A"/>
                </a:solidFill>
                <a:latin typeface="Arial"/>
                <a:ea typeface="Arial"/>
                <a:cs typeface="Arial"/>
              </a:rPr>
              <a:t/>
            </a:r>
          </a:p>
          <a:p>
            <a:pPr>
              <a:lnSpc>
                <a:spcPct val="125000"/>
              </a:lnSpc>
            </a:pPr>
            <a:r>
              <a:rPr sz="1400" b="1">
                <a:solidFill>
                  <a:srgbClr val="1A1A1A"/>
                </a:solidFill>
                <a:latin typeface="Arial"/>
                <a:ea typeface="Arial"/>
                <a:cs typeface="Arial"/>
              </a:rPr>
              <a:t>方法論上の直接的な根拠</a:t>
            </a:r>
          </a:p>
          <a:p>
            <a:pPr>
              <a:lnSpc>
                <a:spcPct val="125000"/>
              </a:lnSpc>
            </a:pPr>
            <a:r>
              <a:rPr sz="1300" b="0">
                <a:solidFill>
                  <a:srgbClr val="1A1A1A"/>
                </a:solidFill>
                <a:latin typeface="Arial"/>
                <a:ea typeface="Arial"/>
                <a:cs typeface="Arial"/>
              </a:rPr>
              <a:t>　Eikelboom WS, et al. Alzheimers Res Ther. 2023;15:94 は、2つのメモリークリニックコホート（n=3001／n=646）で、</a:t>
            </a:r>
          </a:p>
          <a:p>
            <a:pPr>
              <a:lnSpc>
                <a:spcPct val="125000"/>
              </a:lnSpc>
            </a:pPr>
            <a:r>
              <a:rPr sz="1300" b="0">
                <a:solidFill>
                  <a:srgbClr val="1A1A1A"/>
                </a:solidFill>
                <a:latin typeface="Arial"/>
                <a:ea typeface="Arial"/>
                <a:cs typeface="Arial"/>
              </a:rPr>
              <a:t>　臨床医が診療録に記載した精神症状と介護者がNPIで報告した症状の一致度が低いことを示している。</a:t>
            </a:r>
          </a:p>
          <a:p>
            <a:pPr>
              <a:lnSpc>
                <a:spcPct val="125000"/>
              </a:lnSpc>
            </a:pPr>
            <a:r>
              <a:rPr sz="1300" b="0">
                <a:solidFill>
                  <a:srgbClr val="1A1A1A"/>
                </a:solidFill>
                <a:latin typeface="Arial"/>
                <a:ea typeface="Arial"/>
                <a:cs typeface="Arial"/>
              </a:rPr>
              <a:t>　このため、診療録記載の有無をNPI無関心ドメインの代理指標として扱うことはできない。</a:t>
            </a:r>
          </a:p>
          <a:p>
            <a:pPr>
              <a:lnSpc>
                <a:spcPct val="125000"/>
              </a:lnSpc>
            </a:pPr>
            <a:r>
              <a:rPr sz="700" b="0">
                <a:solidFill>
                  <a:srgbClr val="1A1A1A"/>
                </a:solidFill>
                <a:latin typeface="Arial"/>
                <a:ea typeface="Arial"/>
                <a:cs typeface="Arial"/>
              </a:rPr>
              <a:t/>
            </a:r>
          </a:p>
          <a:p>
            <a:pPr>
              <a:lnSpc>
                <a:spcPct val="125000"/>
              </a:lnSpc>
            </a:pPr>
            <a:r>
              <a:rPr sz="1400" b="1">
                <a:solidFill>
                  <a:srgbClr val="1A1A1A"/>
                </a:solidFill>
                <a:latin typeface="Arial"/>
                <a:ea typeface="Arial"/>
                <a:cs typeface="Arial"/>
              </a:rPr>
              <a:t>本研究に固有の留意点</a:t>
            </a:r>
          </a:p>
          <a:p>
            <a:pPr>
              <a:lnSpc>
                <a:spcPct val="125000"/>
              </a:lnSpc>
            </a:pPr>
            <a:r>
              <a:rPr sz="1300" b="0">
                <a:solidFill>
                  <a:srgbClr val="1A1A1A"/>
                </a:solidFill>
                <a:latin typeface="Arial"/>
                <a:ea typeface="Arial"/>
                <a:cs typeface="Arial"/>
              </a:rPr>
              <a:t>　レカネマブ導入後は診察頻度と問診密度が上がるため、記載の有無が「症状の有無」ではなく「聞かれたかどうか」を反映しうる。</a:t>
            </a:r>
          </a:p>
          <a:p>
            <a:pPr>
              <a:lnSpc>
                <a:spcPct val="125000"/>
              </a:lnSpc>
            </a:pPr>
            <a:r>
              <a:rPr sz="1300" b="0">
                <a:solidFill>
                  <a:srgbClr val="1A1A1A"/>
                </a:solidFill>
                <a:latin typeface="Arial"/>
                <a:ea typeface="Arial"/>
                <a:cs typeface="Arial"/>
              </a:rPr>
              <a:t>　群分け変数（症状改善の訴え）も記載依存であり、共通の記載バイアスは見かけの関連を生む方向にも消す方向にも働きうる。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3600" b="1">
                <a:solidFill>
                  <a:srgbClr val="000000"/>
                </a:solidFill>
                <a:latin typeface="Arial"/>
                <a:ea typeface="Arial"/>
                <a:cs typeface="Arial"/>
              </a:rPr>
              <a:t>統計結果まとめ</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結果2〜5・参考2で行った統計検定の一覧。上野先生への一目でのご確認用。</a:t>
            </a:r>
          </a:p>
        </p:txBody>
      </p:sp>
      <p:graphicFrame>
        <p:nvGraphicFramePr>
          <p:cNvPr id="5" name="Table 4"/>
          <p:cNvGraphicFramePr>
            <a:graphicFrameLocks noGrp="1"/>
          </p:cNvGraphicFramePr>
          <p:nvPr/>
        </p:nvGraphicFramePr>
        <p:xfrm>
          <a:off x="457200" y="1560000"/>
          <a:ext cx="11247120" cy="4200000"/>
        </p:xfrm>
        <a:graphic>
          <a:graphicData uri="http://schemas.openxmlformats.org/drawingml/2006/table">
            <a:tbl>
              <a:tblPr>
                <a:tableStyleId>{5C22544A-7EE6-4342-B048-85BDC9FD1C3A}</a:tableStyleId>
              </a:tblPr>
              <a:tblGrid>
                <a:gridCol w="1143000"/>
                <a:gridCol w="3520440"/>
                <a:gridCol w="2331720"/>
                <a:gridCol w="1965960"/>
                <a:gridCol w="2286000"/>
              </a:tblGrid>
              <a:tr h="330000">
                <a:tc>
                  <a:txBody>
                    <a:bodyPr wrap="square"/>
                    <a:lstStyle/>
                    <a:p>
                      <a:pPr algn="ctr"/>
                      <a:r>
                        <a:rPr sz="1200" b="1">
                          <a:solidFill>
                            <a:srgbClr val="000000"/>
                          </a:solidFill>
                          <a:latin typeface="Arial"/>
                          <a:ea typeface="Arial"/>
                          <a:cs typeface="Arial"/>
                        </a:rPr>
                        <a:t>対象スライド</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1">
                          <a:solidFill>
                            <a:srgbClr val="000000"/>
                          </a:solidFill>
                          <a:latin typeface="Arial"/>
                          <a:ea typeface="Arial"/>
                          <a:cs typeface="Arial"/>
                        </a:rPr>
                        <a:t>比較・解析</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1">
                          <a:solidFill>
                            <a:srgbClr val="000000"/>
                          </a:solidFill>
                          <a:latin typeface="Arial"/>
                          <a:ea typeface="Arial"/>
                          <a:cs typeface="Arial"/>
                        </a:rPr>
                        <a:t>検定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1">
                          <a:solidFill>
                            <a:srgbClr val="000000"/>
                          </a:solidFill>
                          <a:latin typeface="Arial"/>
                          <a:ea typeface="Arial"/>
                          <a:cs typeface="Arial"/>
                        </a:rPr>
                        <a:t>統計量／p値</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1">
                          <a:solidFill>
                            <a:srgbClr val="000000"/>
                          </a:solidFill>
                          <a:latin typeface="Arial"/>
                          <a:ea typeface="Arial"/>
                          <a:cs typeface="Arial"/>
                        </a:rPr>
                        <a:t>判定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87000">
                <a:tc>
                  <a:txBody>
                    <a:bodyPr wrap="square"/>
                    <a:lstStyle/>
                    <a:p>
                      <a:pPr algn="ctr"/>
                      <a:r>
                        <a:rPr sz="1100" b="1">
                          <a:solidFill>
                            <a:srgbClr val="1A1A1A"/>
                          </a:solidFill>
                          <a:latin typeface="Arial"/>
                          <a:ea typeface="Arial"/>
                          <a:cs typeface="Arial"/>
                        </a:rPr>
                        <a:t>結果2</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訴えあり vs なし　18か月時点のΔMMSE</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Welchのt検定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p = 0.581</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結果2</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同上</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Mann-Whitney検定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p = 0.200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結果3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個人内変動幅（4時点の最大−最小）</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Mann-Whitney検定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p = 0.034</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7F6000"/>
                          </a:solidFill>
                          <a:latin typeface="Arial"/>
                          <a:ea typeface="Arial"/>
                          <a:cs typeface="Arial"/>
                        </a:rPr>
                        <a:t>有意差あり（探索的・未補正）</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2CC"/>
                    </a:solidFill>
                  </a:tcPr>
                </a:tc>
              </a:tr>
              <a:tr h="387000">
                <a:tc>
                  <a:txBody>
                    <a:bodyPr wrap="square"/>
                    <a:lstStyle/>
                    <a:p>
                      <a:pPr algn="ctr"/>
                      <a:r>
                        <a:rPr sz="1100" b="1">
                          <a:solidFill>
                            <a:srgbClr val="1A1A1A"/>
                          </a:solidFill>
                          <a:latin typeface="Arial"/>
                          <a:ea typeface="Arial"/>
                          <a:cs typeface="Arial"/>
                        </a:rPr>
                        <a:t>結果3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Δ18MのSD（分散の均一性）</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Levene検定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p = 0.146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結果4</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MMSE下位項目11項目（18か月時点のΔ）</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Mann-Whitney×11／BH法でFDR補正</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最小 p=0.157／最小 q=0.778</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全11項目 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結果4</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CDR 6領域（同上）</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同上</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最小 p=0.598</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全6領域 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結果5</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訴えあり vs なし　18か月時点のMMSE実測値</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Welchのt検定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p = 0.804</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結果5</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同上</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Mann-Whitney検定</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p = 0.617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結果5</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同上（ベースラインMMSE調整後）</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ANCOVA相当（線形回帰）</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p = 0.879</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404040"/>
                          </a:solidFill>
                          <a:latin typeface="Arial"/>
                          <a:ea typeface="Arial"/>
                          <a:cs typeface="Arial"/>
                        </a:rPr>
                        <a:t>有意差なし</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2F2F2"/>
                    </a:solidFill>
                  </a:tcPr>
                </a:tc>
              </a:tr>
              <a:tr h="387000">
                <a:tc>
                  <a:txBody>
                    <a:bodyPr wrap="square"/>
                    <a:lstStyle/>
                    <a:p>
                      <a:pPr algn="ctr"/>
                      <a:r>
                        <a:rPr sz="1100" b="1">
                          <a:solidFill>
                            <a:srgbClr val="1A1A1A"/>
                          </a:solidFill>
                          <a:latin typeface="Arial"/>
                          <a:ea typeface="Arial"/>
                          <a:cs typeface="Arial"/>
                        </a:rPr>
                        <a:t>参考2</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ベースラインMMSEと18か月ΔMMSEの相関（29例）</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l"/>
                      <a:r>
                        <a:rPr sz="1050" b="0">
                          <a:solidFill>
                            <a:srgbClr val="1A1A1A"/>
                          </a:solidFill>
                          <a:latin typeface="Arial"/>
                          <a:ea typeface="Arial"/>
                          <a:cs typeface="Arial"/>
                        </a:rPr>
                        <a:t>Pearson相関</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100" b="1">
                          <a:solidFill>
                            <a:srgbClr val="1A1A1A"/>
                          </a:solidFill>
                          <a:latin typeface="Arial"/>
                          <a:ea typeface="Arial"/>
                          <a:cs typeface="Arial"/>
                        </a:rPr>
                        <a:t>r=−0.50, p=0.006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050" b="1">
                          <a:solidFill>
                            <a:srgbClr val="7A3508"/>
                          </a:solidFill>
                          <a:latin typeface="Arial"/>
                          <a:ea typeface="Arial"/>
                          <a:cs typeface="Arial"/>
                        </a:rPr>
                        <a:t>有意（要注意：回帰含む）</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DE9D9"/>
                    </a:solidFill>
                  </a:tcPr>
                </a:tc>
              </a:tr>
            </a:tbl>
          </a:graphicData>
        </a:graphic>
      </p:graphicFrame>
      <p:sp>
        <p:nvSpPr>
          <p:cNvPr id="6" name="TextBox 5"/>
          <p:cNvSpPr txBox="1"/>
          <p:nvPr/>
        </p:nvSpPr>
        <p:spPr>
          <a:xfrm>
            <a:off x="457200" y="6126480"/>
            <a:ext cx="11247120" cy="685800"/>
          </a:xfrm>
          <a:prstGeom prst="rect">
            <a:avLst/>
          </a:prstGeom>
          <a:noFill/>
        </p:spPr>
        <p:txBody>
          <a:bodyPr wrap="square" lIns="0" rIns="0" tIns="0" bIns="0">
            <a:spAutoFit/>
          </a:bodyPr>
          <a:lstStyle/>
          <a:p>
            <a:pPr>
              <a:lnSpc>
                <a:spcPct val="115000"/>
              </a:lnSpc>
            </a:pPr>
            <a:r>
              <a:rPr sz="1050" b="0">
                <a:solidFill>
                  <a:srgbClr val="1A1A1A"/>
                </a:solidFill>
                <a:latin typeface="Arial"/>
                <a:ea typeface="Arial"/>
                <a:cs typeface="Arial"/>
              </a:rPr>
              <a:t>判定列の色：灰色＝有意差なし／黄色＝有意差あり・探索的で未補正／橙＝有意差あり・交絡に要注意（各スライドのバッジと共通の配色）。</a:t>
            </a:r>
          </a:p>
          <a:p>
            <a:pPr>
              <a:lnSpc>
                <a:spcPct val="115000"/>
              </a:lnSpc>
            </a:pPr>
            <a:r>
              <a:rPr sz="1050" b="0">
                <a:solidFill>
                  <a:srgbClr val="1A1A1A"/>
                </a:solidFill>
                <a:latin typeface="Arial"/>
                <a:ea typeface="Arial"/>
                <a:cs typeface="Arial"/>
              </a:rPr>
              <a:t>有意水準はいずれも α=0.05（両側）。結果3の「有意差あり」は事後的に定義した指標で多重比較の補正をしておらず、探索的所見として扱う。</a:t>
            </a:r>
          </a:p>
          <a:p>
            <a:pPr>
              <a:lnSpc>
                <a:spcPct val="115000"/>
              </a:lnSpc>
            </a:pPr>
            <a:r>
              <a:rPr sz="1050" b="0">
                <a:solidFill>
                  <a:srgbClr val="1A1A1A"/>
                </a:solidFill>
                <a:latin typeface="Arial"/>
                <a:ea typeface="Arial"/>
                <a:cs typeface="Arial"/>
              </a:rPr>
              <a:t>参考2の相関はΔMMSEがベースラインを含んで計算される値であるため、平均への回帰（regression to the mean）を数学的に含み、因果的な解釈はできない。</a:t>
            </a:r>
          </a:p>
          <a:p>
            <a:pPr>
              <a:lnSpc>
                <a:spcPct val="115000"/>
              </a:lnSpc>
            </a:pPr>
            <a:r>
              <a:rPr sz="1050" b="0">
                <a:solidFill>
                  <a:srgbClr val="1A1A1A"/>
                </a:solidFill>
                <a:latin typeface="Arial"/>
                <a:ea typeface="Arial"/>
                <a:cs typeface="Arial"/>
              </a:rPr>
              <a:t>上記以外の解析（結果2〜5・参考2）はいずれも有意差なし。データの詳細は各スライドのキャプション・スピーカーノートを参照。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66928"/>
          </a:xfrm>
          <a:prstGeom prst="rect">
            <a:avLst/>
          </a:prstGeom>
          <a:noFill/>
        </p:spPr>
        <p:txBody>
          <a:bodyPr wrap="square" lIns="0" rIns="0" tIns="0" bIns="0">
            <a:spAutoFit/>
          </a:bodyPr>
          <a:lstStyle/>
          <a:p>
            <a:pPr>
              <a:lnSpc>
                <a:spcPct val="105000"/>
              </a:lnSpc>
            </a:pPr>
            <a:r>
              <a:rPr sz="4000" b="0">
                <a:solidFill>
                  <a:srgbClr val="000000"/>
                </a:solidFill>
                <a:latin typeface="Arial"/>
                <a:ea typeface="Arial"/>
                <a:cs typeface="Arial"/>
              </a:rPr>
              <a:t>結果1-2</a:t>
            </a:r>
            <a:r>
              <a:rPr sz="2600" b="0">
                <a:solidFill>
                  <a:srgbClr val="000000"/>
                </a:solidFill>
                <a:latin typeface="Arial"/>
                <a:ea typeface="Arial"/>
                <a:cs typeface="Arial"/>
              </a:rPr>
              <a:t>　患者背景（18か月観察例 N=29）</a:t>
            </a:r>
          </a:p>
        </p:txBody>
      </p:sp>
      <p:cxnSp>
        <p:nvCxnSpPr>
          <p:cNvPr id="3" name="Connector 2"/>
          <p:cNvCxnSpPr/>
          <p:nvPr/>
        </p:nvCxnSpPr>
        <p:spPr>
          <a:xfrm>
            <a:off x="457200" y="1161288"/>
            <a:ext cx="10817352" cy="0"/>
          </a:xfrm>
          <a:prstGeom prst="line">
            <a:avLst/>
          </a:prstGeom>
          <a:ln w="22225">
            <a:solidFill>
              <a:srgbClr val="15608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243584"/>
            <a:ext cx="11247120" cy="246888"/>
          </a:xfrm>
          <a:prstGeom prst="rect">
            <a:avLst/>
          </a:prstGeom>
          <a:noFill/>
        </p:spPr>
        <p:txBody>
          <a:bodyPr wrap="square" lIns="0" rIns="0" tIns="0" bIns="0">
            <a:spAutoFit/>
          </a:bodyPr>
          <a:lstStyle/>
          <a:p>
            <a:pPr>
              <a:lnSpc>
                <a:spcPct val="105000"/>
              </a:lnSpc>
            </a:pPr>
            <a:r>
              <a:rPr sz="1300" b="0">
                <a:solidFill>
                  <a:srgbClr val="666666"/>
                </a:solidFill>
                <a:latin typeface="Arial"/>
                <a:ea typeface="Arial"/>
                <a:cs typeface="Arial"/>
              </a:rPr>
              <a:t>この図の役割：結果2〜5で比較する2群（改善訴えあり n=9／なし n=20）の背景がベースライン時点で均衡していることを示す。</a:t>
            </a:r>
          </a:p>
        </p:txBody>
      </p:sp>
      <p:sp>
        <p:nvSpPr>
          <p:cNvPr id="5" name="Rectangle 4"/>
          <p:cNvSpPr/>
          <p:nvPr/>
        </p:nvSpPr>
        <p:spPr>
          <a:xfrm>
            <a:off x="457200" y="1520000"/>
            <a:ext cx="11247120" cy="420000"/>
          </a:xfrm>
          <a:prstGeom prst="rect">
            <a:avLst/>
          </a:prstGeom>
          <a:solidFill>
            <a:srgbClr val="F2F2F2"/>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wrap="square" lIns="130000" rIns="130000" tIns="45000" bIns="45000"/>
          <a:lstStyle/>
          <a:p>
            <a:pPr algn="ctr"/>
            <a:r>
              <a:rPr sz="1500" b="1">
                <a:solidFill>
                  <a:srgbClr val="404040"/>
                </a:solidFill>
                <a:latin typeface="Arial"/>
                <a:ea typeface="Arial"/>
                <a:cs typeface="Arial"/>
              </a:rPr>
              <a:t>判定：背景特性に有意差なし（全項目 p &gt; 0.05、探索的）</a:t>
            </a:r>
          </a:p>
          <a:p>
            <a:pPr>
              <a:lnSpc>
                <a:spcPct val="100000"/>
              </a:lnSpc>
            </a:pPr>
            <a:r>
              <a:rPr sz="1150" b="0">
                <a:solidFill>
                  <a:srgbClr val="404040"/>
                </a:solidFill>
                <a:latin typeface="Arial"/>
                <a:ea typeface="Arial"/>
                <a:cs typeface="Arial"/>
              </a:rPr>
              <a:t>MMSE合計点のみ p = 0.086 とやや低いが有意水準には達しない（訴えあり群のほうがベースラインが低い傾向。結果3の留保点と同一）。</a:t>
            </a:r>
          </a:p>
        </p:txBody>
      </p:sp>
      <p:graphicFrame>
        <p:nvGraphicFramePr>
          <p:cNvPr id="6" name="Table 5"/>
          <p:cNvGraphicFramePr>
            <a:graphicFrameLocks noGrp="1"/>
          </p:cNvGraphicFramePr>
          <p:nvPr/>
        </p:nvGraphicFramePr>
        <p:xfrm>
          <a:off x="457200" y="2020000"/>
          <a:ext cx="11247120" cy="3740712"/>
        </p:xfrm>
        <a:graphic>
          <a:graphicData uri="http://schemas.openxmlformats.org/drawingml/2006/table">
            <a:tbl>
              <a:tblPr>
                <a:tableStyleId>{5C22544A-7EE6-4342-B048-85BDC9FD1C3A}</a:tableStyleId>
              </a:tblPr>
              <a:tblGrid>
                <a:gridCol w="2788920"/>
                <a:gridCol w="2331720"/>
                <a:gridCol w="2331720"/>
                <a:gridCol w="2331720"/>
                <a:gridCol w="1463040"/>
              </a:tblGrid>
              <a:tr h="311726">
                <a:tc>
                  <a:txBody>
                    <a:bodyPr wrap="square"/>
                    <a:lstStyle/>
                    <a:p>
                      <a:pPr algn="ctr"/>
                      <a:r>
                        <a:rPr sz="1300" b="1">
                          <a:solidFill>
                            <a:srgbClr val="000000"/>
                          </a:solidFill>
                          <a:latin typeface="Arial"/>
                          <a:ea typeface="Arial"/>
                          <a:cs typeface="Arial"/>
                        </a:rPr>
                        <a:t>項目</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300" b="1">
                          <a:solidFill>
                            <a:srgbClr val="000000"/>
                          </a:solidFill>
                          <a:latin typeface="Arial"/>
                          <a:ea typeface="Arial"/>
                          <a:cs typeface="Arial"/>
                        </a:rPr>
                        <a:t>全体 (N=29)</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300" b="1">
                          <a:solidFill>
                            <a:srgbClr val="000000"/>
                          </a:solidFill>
                          <a:latin typeface="Arial"/>
                          <a:ea typeface="Arial"/>
                          <a:cs typeface="Arial"/>
                        </a:rPr>
                        <a:t>訴えあり (n=9)</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300" b="1">
                          <a:solidFill>
                            <a:srgbClr val="000000"/>
                          </a:solidFill>
                          <a:latin typeface="Arial"/>
                          <a:ea typeface="Arial"/>
                          <a:cs typeface="Arial"/>
                        </a:rPr>
                        <a:t>訴えなし (n=20)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300" b="1">
                          <a:solidFill>
                            <a:srgbClr val="000000"/>
                          </a:solidFill>
                          <a:latin typeface="Arial"/>
                          <a:ea typeface="Arial"/>
                          <a:cs typeface="Arial"/>
                        </a:rPr>
                        <a:t>p値（参考）</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年齢（歳）</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75.4 ± 5.2</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75.2 ± 4.1</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75.5 ± 5.7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0.883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女性</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21 (72.4%)</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5 (55.6%)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16 (80.0%)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0.209</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男性</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8 (27.6%)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4 (44.4%)</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4 (20.0%)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MMSE合計点（0か月）</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23.83 ± 2.05</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22.89 ± 1.76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24.25 ± 2.07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0.086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HDS-R合計点（初回）</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21.52 ± 3.46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21.22 ± 3.93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21.65 ± 3.33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0.781</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MoCA-J合計点（0か月）</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20.07 ± 3.47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19.00 ± 4.47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20.58 ± 2.89</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0.354</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Global CDR = 0.5（0か月）</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26 (96.3%)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8 (100%)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18 (94.7%)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Global CDR = 1.0（0か月）</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1 (3.7%)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0 (0%)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1 (5.3%)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CDR-SB（0か月）</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2.11 ± 1.02</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2.31 ± 1.07</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2.03 ± 1.02</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0.531</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易怒性</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4 (13.8%)</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 (22.2%)</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2 (10.0%)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0.568</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r h="311726">
                <a:tc>
                  <a:txBody>
                    <a:bodyPr wrap="square"/>
                    <a:lstStyle/>
                    <a:p>
                      <a:pPr algn="l"/>
                      <a:r>
                        <a:rPr sz="1200" b="0">
                          <a:solidFill>
                            <a:srgbClr val="000000"/>
                          </a:solidFill>
                          <a:latin typeface="Arial"/>
                          <a:ea typeface="Arial"/>
                          <a:cs typeface="Arial"/>
                        </a:rPr>
                        <a:t>意欲低下</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8 (27.6%)</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3 (33.3%)</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5 (25.0%)</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c>
                  <a:txBody>
                    <a:bodyPr wrap="square"/>
                    <a:lstStyle/>
                    <a:p>
                      <a:pPr algn="ctr"/>
                      <a:r>
                        <a:rPr sz="1200" b="0">
                          <a:solidFill>
                            <a:srgbClr val="000000"/>
                          </a:solidFill>
                          <a:latin typeface="Arial"/>
                          <a:ea typeface="Arial"/>
                          <a:cs typeface="Arial"/>
                        </a:rPr>
                        <a:t>p = 0.675</a:t>
                      </a:r>
                    </a:p>
                  </a:txBody>
                  <a:tcPr marL="91440" marR="91440" marT="36576" marB="36576">
                    <a:lnL cap="flat" cmpd="sng" algn="ctr" w="0">
                      <a:noFill/>
                    </a:lnL>
                    <a:lnR cap="flat" cmpd="sng" algn="ctr" w="0">
                      <a:noFill/>
                    </a:lnR>
                    <a:lnT cap="flat" cmpd="sng" algn="ctr" w="0">
                      <a:noFill/>
                    </a:lnT>
                    <a:lnB cap="flat" cmpd="sng" algn="ctr" w="9525">
                      <a:solidFill>
                        <a:srgbClr val="999999"/>
                      </a:solidFill>
                      <a:prstDash val="solid"/>
                    </a:lnB>
                    <a:solidFill>
                      <a:srgbClr val="FFFFFF"/>
                    </a:solidFill>
                  </a:tcPr>
                </a:tc>
              </a:tr>
            </a:tbl>
          </a:graphicData>
        </a:graphic>
      </p:graphicFrame>
      <p:sp>
        <p:nvSpPr>
          <p:cNvPr id="7" name="TextBox 6"/>
          <p:cNvSpPr txBox="1"/>
          <p:nvPr/>
        </p:nvSpPr>
        <p:spPr>
          <a:xfrm>
            <a:off x="457200" y="6126480"/>
            <a:ext cx="11247120" cy="685800"/>
          </a:xfrm>
          <a:prstGeom prst="rect">
            <a:avLst/>
          </a:prstGeom>
          <a:noFill/>
        </p:spPr>
        <p:txBody>
          <a:bodyPr wrap="square" lIns="0" rIns="0" tIns="0" bIns="0">
            <a:spAutoFit/>
          </a:bodyPr>
          <a:lstStyle/>
          <a:p>
            <a:pPr>
              <a:lnSpc>
                <a:spcPct val="115000"/>
              </a:lnSpc>
            </a:pPr>
            <a:r>
              <a:rPr sz="1050" b="0">
                <a:solidFill>
                  <a:srgbClr val="1A1A1A"/>
                </a:solidFill>
                <a:latin typeface="Arial"/>
                <a:ea typeface="Arial"/>
                <a:cs typeface="Arial"/>
              </a:rPr>
              <a:t>数値は平均値±標準偏差または症例数(%)を示す。年齢・性別・HDS-R合計点はレカネマブ患者ID一覧より、他はxlsx（0か月＝ベースライン値）より算出。</a:t>
            </a:r>
          </a:p>
          <a:p>
            <a:pPr>
              <a:lnSpc>
                <a:spcPct val="115000"/>
              </a:lnSpc>
            </a:pPr>
            <a:r>
              <a:rPr sz="1050" b="0">
                <a:solidFill>
                  <a:srgbClr val="1A1A1A"/>
                </a:solidFill>
                <a:latin typeface="Arial"/>
                <a:ea typeface="Arial"/>
                <a:cs typeface="Arial"/>
              </a:rPr>
              <a:t>群間のp値は探索的な参考値（多重比較未補正）。連続変数はWelchのt検定、二値変数はFisher正確検定。Global CDRは該当例数が少なく検定していない。</a:t>
            </a:r>
          </a:p>
          <a:p>
            <a:pPr>
              <a:lnSpc>
                <a:spcPct val="115000"/>
              </a:lnSpc>
            </a:pPr>
            <a:r>
              <a:rPr sz="1050" b="0">
                <a:solidFill>
                  <a:srgbClr val="1A1A1A"/>
                </a:solidFill>
                <a:latin typeface="Arial"/>
                <a:ea typeface="Arial"/>
                <a:cs typeface="Arial"/>
              </a:rPr>
              <a:t>MoCA-J（n=28、1例欠測：L9）、Global CDR／CDR-SB（評価済みn=27、2例欠測：L8・L19、いずれも原資料でCDR用紙が未確認）。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282</Words>
  <Application>Microsoft Office PowerPoint</Application>
  <PresentationFormat>ワイド画面</PresentationFormat>
  <Paragraphs>55</Paragraphs>
  <Slides>2</Slides>
  <Notes>2</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2</vt:i4>
      </vt:variant>
    </vt:vector>
  </HeadingPairs>
  <TitlesOfParts>
    <vt:vector size="4" baseType="lpstr">
      <vt:lpstr>Arial</vt:lpstr>
      <vt:lpstr>Office Theme</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Lecanemab Retrospective Analysis</dc:creator>
  <cp:lastModifiedBy>Fukusai</cp:lastModifiedBy>
  <cp:revision>10</cp:revision>
  <dcterms:created xsi:type="dcterms:W3CDTF">2026-07-22T04:13:09Z</dcterms:created>
  <dcterms:modified xsi:type="dcterms:W3CDTF">2026-08-03T03:59:03Z</dcterms:modified>
</cp:coreProperties>
</file>