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57" r:id="rId2"/>
    <p:sldId id="262" r:id="rId9"/>
    <p:sldId id="263" r:id="rId10"/>
    <p:sldId id="264" r:id="rId11"/>
    <p:sldId id="261" r:id="rId3"/>
    <p:sldId id="268" r:id="rId15"/>
    <p:sldId id="265" r:id="rId12"/>
    <p:sldId id="266" r:id="rId13"/>
    <p:sldId id="267"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9324" autoAdjust="0"/>
  </p:normalViewPr>
  <p:slideViewPr>
    <p:cSldViewPr snapToGrid="0" snapToObjects="1">
      <p:cViewPr varScale="1">
        <p:scale>
          <a:sx n="101" d="100"/>
          <a:sy n="101" d="100"/>
        </p:scale>
        <p:origin x="144" y="204"/>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lineChart>
        <c:grouping val="standard"/>
        <c:varyColors val="0"/>
        <c:ser>
          <c:idx val="0"/>
          <c:order val="0"/>
          <c:tx>
            <c:strRef>
              <c:f>Sheet1!$B$1</c:f>
              <c:strCache>
                <c:ptCount val="1"/>
                <c:pt idx="0">
                  <c:v>改善訴えあり</c:v>
                </c:pt>
              </c:strCache>
            </c:strRef>
          </c:tx>
          <c:spPr>
            <a:ln w="28575" cap="flat">
              <a:solidFill>
                <a:srgbClr val="156082"/>
              </a:solidFill>
              <a:prstDash val="solid"/>
              <a:round/>
            </a:ln>
            <a:effectLst/>
          </c:spPr>
          <c:marker>
            <c:symbol val="circle"/>
            <c:size val="7"/>
            <c:spPr>
              <a:solidFill>
                <a:srgbClr val="156082"/>
              </a:solidFill>
              <a:ln w="9525" cap="flat">
                <a:solidFill>
                  <a:srgbClr val="156082"/>
                </a:solidFill>
                <a:prstDash val="solid"/>
                <a:round/>
              </a:ln>
              <a:effectLst/>
            </c:spPr>
          </c:marker>
          <c:dLbls>
            <c:dLbl>
              <c:idx val="0"/>
              <c:tx>
                <c:rich>
                  <a:bodyPr/>
                  <a:lstStyle/>
                  <a:p>
                    <a:r>
                      <a:rPr lang="en-US" altLang="ja-JP" sz="1300" b="1">
                        <a:solidFill>
                          <a:srgbClr val="156082"/>
                        </a:solidFill>
                        <a:latin typeface="Arial"/>
                        <a:ea typeface="ＭＳ Ｐゴシック"/>
                      </a:rPr>
                      <a:t>22.89</a:t>
                    </a:r>
                  </a:p>
                  <a:p>
                    <a:r>
                      <a:rPr lang="en-US" altLang="ja-JP" sz="1000" b="0">
                        <a:solidFill>
                          <a:srgbClr val="156082"/>
                        </a:solidFill>
                        <a:latin typeface="Arial"/>
                        <a:ea typeface="ＭＳ Ｐゴシック"/>
                      </a:rPr>
                      <a:t>(n=9)</a:t>
                    </a:r>
                  </a:p>
                </c:rich>
              </c:tx>
              <c:dLblPos val="t"/>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1DC9-4E81-886E-03E65A384508}"/>
                </c:ext>
              </c:extLst>
            </c:dLbl>
            <c:dLbl>
              <c:idx val="1"/>
              <c:layout>
                <c:manualLayout>
                  <c:x val="-3.0222492513639131E-2"/>
                  <c:y val="-8.9209281532116172E-2"/>
                </c:manualLayout>
              </c:layout>
              <c:tx>
                <c:rich>
                  <a:bodyPr/>
                  <a:lstStyle/>
                  <a:p>
                    <a:r>
                      <a:rPr lang="en-US" altLang="ja-JP" sz="1300" b="1">
                        <a:solidFill>
                          <a:srgbClr val="156082"/>
                        </a:solidFill>
                        <a:latin typeface="Arial"/>
                        <a:ea typeface="ＭＳ Ｐゴシック"/>
                      </a:rPr>
                      <a:t>24.56</a:t>
                    </a:r>
                  </a:p>
                  <a:p>
                    <a:r>
                      <a:rPr lang="en-US" altLang="ja-JP" sz="1000" b="0">
                        <a:solidFill>
                          <a:srgbClr val="156082"/>
                        </a:solidFill>
                        <a:latin typeface="Arial"/>
                        <a:ea typeface="ＭＳ Ｐゴシック"/>
                      </a:rPr>
                      <a:t>(n=9)</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1DC9-4E81-886E-03E65A384508}"/>
                </c:ext>
              </c:extLst>
            </c:dLbl>
            <c:dLbl>
              <c:idx val="2"/>
              <c:layout>
                <c:manualLayout>
                  <c:x val="-2.9818833621407081E-2"/>
                  <c:y val="6.0363368040533397E-2"/>
                </c:manualLayout>
              </c:layout>
              <c:tx>
                <c:rich>
                  <a:bodyPr/>
                  <a:lstStyle/>
                  <a:p>
                    <a:r>
                      <a:rPr lang="en-US" altLang="ja-JP" sz="1300" b="1">
                        <a:solidFill>
                          <a:srgbClr val="156082"/>
                        </a:solidFill>
                        <a:latin typeface="Arial"/>
                        <a:ea typeface="ＭＳ Ｐゴシック"/>
                      </a:rPr>
                      <a:t>23.11</a:t>
                    </a:r>
                  </a:p>
                  <a:p>
                    <a:r>
                      <a:rPr lang="en-US" altLang="ja-JP" sz="1000" b="0">
                        <a:solidFill>
                          <a:srgbClr val="156082"/>
                        </a:solidFill>
                        <a:latin typeface="Arial"/>
                        <a:ea typeface="ＭＳ Ｐゴシック"/>
                      </a:rPr>
                      <a:t>(n=9)</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1DC9-4E81-886E-03E65A384508}"/>
                </c:ext>
              </c:extLst>
            </c:dLbl>
            <c:dLbl>
              <c:idx val="3"/>
              <c:layout>
                <c:manualLayout>
                  <c:x val="-2.7560477704514579E-2"/>
                  <c:y val="6.0363368040533397E-2"/>
                </c:manualLayout>
              </c:layout>
              <c:tx>
                <c:rich>
                  <a:bodyPr/>
                  <a:lstStyle/>
                  <a:p>
                    <a:r>
                      <a:rPr lang="en-US" altLang="ja-JP" sz="1300" b="1">
                        <a:solidFill>
                          <a:srgbClr val="156082"/>
                        </a:solidFill>
                        <a:latin typeface="Arial"/>
                        <a:ea typeface="ＭＳ Ｐゴシック"/>
                      </a:rPr>
                      <a:t>23.11</a:t>
                    </a:r>
                  </a:p>
                  <a:p>
                    <a:r>
                      <a:rPr lang="en-US" altLang="ja-JP" sz="1000" b="0">
                        <a:solidFill>
                          <a:srgbClr val="156082"/>
                        </a:solidFill>
                        <a:latin typeface="Arial"/>
                        <a:ea typeface="ＭＳ Ｐゴシック"/>
                      </a:rPr>
                      <a:t>(n=9)</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1DC9-4E81-886E-03E65A384508}"/>
                </c:ext>
              </c:extLst>
            </c:dLbl>
            <c:numFmt formatCode="#,##0" sourceLinked="0"/>
            <c:spPr>
              <a:noFill/>
              <a:ln>
                <a:noFill/>
              </a:ln>
              <a:effectLst/>
            </c:spPr>
            <c:txPr>
              <a:bodyPr/>
              <a:lstStyle/>
              <a:p>
                <a:pPr>
                  <a:defRPr sz="1200" b="0" i="0" u="none" strike="noStrike">
                    <a:solidFill>
                      <a:srgbClr val="000000"/>
                    </a:solidFill>
                    <a:latin typeface="Arial"/>
                  </a:defRPr>
                </a:pPr>
                <a:endParaRPr lang="ja-JP"/>
              </a:p>
            </c:txPr>
            <c:showLegendKey val="0"/>
            <c:showVal val="0"/>
            <c:showCatName val="0"/>
            <c:showSerName val="0"/>
            <c:showPercent val="0"/>
            <c:showBubbleSize val="0"/>
            <c:extLst>
              <c:ext xmlns:c15="http://schemas.microsoft.com/office/drawing/2012/chart" uri="{CE6537A1-D6FC-4f65-9D91-7224C49458BB}">
                <c15:showLeaderLines val="0"/>
              </c:ext>
            </c:extLst>
          </c:dLbls>
          <c:errBars>
            <c:errDir val="y"/>
            <c:errBarType val="both"/>
            <c:errValType val="cust"/>
            <c:noEndCap val="0"/>
            <c:plus>
              <c:numLit>
                <c:formatCode>General</c:formatCode>
                <c:ptCount val="4"/>
                <c:pt idx="0">
                  <c:v>1.36</c:v>
                </c:pt>
                <c:pt idx="1">
                  <c:v>2.34</c:v>
                </c:pt>
                <c:pt idx="2">
                  <c:v>2.35</c:v>
                </c:pt>
                <c:pt idx="3">
                  <c:v>3.29</c:v>
                </c:pt>
              </c:numLit>
            </c:plus>
            <c:minus>
              <c:numLit>
                <c:formatCode>General</c:formatCode>
                <c:ptCount val="4"/>
                <c:pt idx="0">
                  <c:v>1.36</c:v>
                </c:pt>
                <c:pt idx="1">
                  <c:v>2.34</c:v>
                </c:pt>
                <c:pt idx="2">
                  <c:v>2.35</c:v>
                </c:pt>
                <c:pt idx="3">
                  <c:v>3.29</c:v>
                </c:pt>
              </c:numLit>
            </c:minus>
            <c:spPr>
              <a:ln w="9525">
                <a:solidFill>
                  <a:srgbClr val="595959"/>
                </a:solidFill>
              </a:ln>
            </c:spPr>
          </c:errBars>
          <c:cat>
            <c:strRef>
              <c:f>Sheet1!$A$2:$A$5</c:f>
              <c:strCache>
                <c:ptCount val="4"/>
                <c:pt idx="0">
                  <c:v>0か月</c:v>
                </c:pt>
                <c:pt idx="1">
                  <c:v>6か月</c:v>
                </c:pt>
                <c:pt idx="2">
                  <c:v>12か月</c:v>
                </c:pt>
                <c:pt idx="3">
                  <c:v>18か月</c:v>
                </c:pt>
              </c:strCache>
            </c:strRef>
          </c:cat>
          <c:val>
            <c:numRef>
              <c:f>Sheet1!$B$2:$B$5</c:f>
              <c:numCache>
                <c:formatCode>General</c:formatCode>
                <c:ptCount val="4"/>
                <c:pt idx="0">
                  <c:v>22.89</c:v>
                </c:pt>
                <c:pt idx="1">
                  <c:v>24.56</c:v>
                </c:pt>
                <c:pt idx="2">
                  <c:v>23.11</c:v>
                </c:pt>
                <c:pt idx="3">
                  <c:v>23.11</c:v>
                </c:pt>
              </c:numCache>
            </c:numRef>
          </c:val>
          <c:smooth val="0"/>
          <c:extLst>
            <c:ext xmlns:c16="http://schemas.microsoft.com/office/drawing/2014/chart" uri="{C3380CC4-5D6E-409C-BE32-E72D297353CC}">
              <c16:uniqueId val="{00000004-1DC9-4E81-886E-03E65A384508}"/>
            </c:ext>
          </c:extLst>
        </c:ser>
        <c:ser>
          <c:idx val="1"/>
          <c:order val="1"/>
          <c:tx>
            <c:strRef>
              <c:f>Sheet1!$C$1</c:f>
              <c:strCache>
                <c:ptCount val="1"/>
                <c:pt idx="0">
                  <c:v>改善訴えなし</c:v>
                </c:pt>
              </c:strCache>
            </c:strRef>
          </c:tx>
          <c:spPr>
            <a:ln w="28575" cap="flat">
              <a:solidFill>
                <a:srgbClr val="E97132"/>
              </a:solidFill>
              <a:prstDash val="solid"/>
              <a:round/>
            </a:ln>
            <a:effectLst/>
          </c:spPr>
          <c:marker>
            <c:symbol val="circle"/>
            <c:size val="7"/>
            <c:spPr>
              <a:solidFill>
                <a:srgbClr val="E97132"/>
              </a:solidFill>
              <a:ln w="9525" cap="flat">
                <a:solidFill>
                  <a:srgbClr val="E97132"/>
                </a:solidFill>
                <a:prstDash val="solid"/>
                <a:round/>
              </a:ln>
              <a:effectLst/>
            </c:spPr>
          </c:marker>
          <c:dLbls>
            <c:dLbl>
              <c:idx val="0"/>
              <c:tx>
                <c:rich>
                  <a:bodyPr/>
                  <a:lstStyle/>
                  <a:p>
                    <a:r>
                      <a:rPr lang="en-US" altLang="ja-JP" sz="1300" b="1">
                        <a:solidFill>
                          <a:srgbClr val="C55A11"/>
                        </a:solidFill>
                        <a:latin typeface="Arial"/>
                        <a:ea typeface="ＭＳ Ｐゴシック"/>
                      </a:rPr>
                      <a:t>24.25</a:t>
                    </a:r>
                  </a:p>
                  <a:p>
                    <a:r>
                      <a:rPr lang="en-US" altLang="ja-JP" sz="1000" b="0">
                        <a:solidFill>
                          <a:srgbClr val="C55A11"/>
                        </a:solidFill>
                        <a:latin typeface="Arial"/>
                        <a:ea typeface="ＭＳ Ｐゴシック"/>
                      </a:rPr>
                      <a:t>(n=20)</a:t>
                    </a:r>
                  </a:p>
                </c:rich>
              </c:tx>
              <c:dLblPos val="t"/>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1DC9-4E81-886E-03E65A384508}"/>
                </c:ext>
              </c:extLst>
            </c:dLbl>
            <c:dLbl>
              <c:idx val="1"/>
              <c:layout>
                <c:manualLayout>
                  <c:x val="-2.7964136596746545E-2"/>
                  <c:y val="8.7835895513060869E-2"/>
                </c:manualLayout>
              </c:layout>
              <c:tx>
                <c:rich>
                  <a:bodyPr/>
                  <a:lstStyle/>
                  <a:p>
                    <a:r>
                      <a:rPr lang="en-US" altLang="ja-JP" sz="1300" b="1">
                        <a:solidFill>
                          <a:srgbClr val="C55A11"/>
                        </a:solidFill>
                        <a:latin typeface="Arial"/>
                        <a:ea typeface="ＭＳ Ｐゴシック"/>
                      </a:rPr>
                      <a:t>24.15</a:t>
                    </a:r>
                  </a:p>
                  <a:p>
                    <a:r>
                      <a:rPr lang="en-US" altLang="ja-JP" sz="1000" b="0">
                        <a:solidFill>
                          <a:srgbClr val="C55A11"/>
                        </a:solidFill>
                        <a:latin typeface="Arial"/>
                        <a:ea typeface="ＭＳ Ｐゴシック"/>
                      </a:rPr>
                      <a:t>(n=20)</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1DC9-4E81-886E-03E65A384508}"/>
                </c:ext>
              </c:extLst>
            </c:dLbl>
            <c:dLbl>
              <c:idx val="2"/>
              <c:layout>
                <c:manualLayout>
                  <c:x val="-2.909331455519288E-2"/>
                  <c:y val="-9.5314287637122283E-2"/>
                </c:manualLayout>
              </c:layout>
              <c:tx>
                <c:rich>
                  <a:bodyPr/>
                  <a:lstStyle/>
                  <a:p>
                    <a:r>
                      <a:rPr lang="en-US" altLang="ja-JP" sz="1300" b="1">
                        <a:solidFill>
                          <a:srgbClr val="C55A11"/>
                        </a:solidFill>
                        <a:latin typeface="Arial"/>
                        <a:ea typeface="ＭＳ Ｐゴシック"/>
                      </a:rPr>
                      <a:t>23.84</a:t>
                    </a:r>
                  </a:p>
                  <a:p>
                    <a:r>
                      <a:rPr lang="en-US" altLang="ja-JP" sz="1000" b="0">
                        <a:solidFill>
                          <a:srgbClr val="C55A11"/>
                        </a:solidFill>
                        <a:latin typeface="Arial"/>
                        <a:ea typeface="ＭＳ Ｐゴシック"/>
                      </a:rPr>
                      <a:t>(n=19)</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1DC9-4E81-886E-03E65A384508}"/>
                </c:ext>
              </c:extLst>
            </c:dLbl>
            <c:dLbl>
              <c:idx val="3"/>
              <c:tx>
                <c:rich>
                  <a:bodyPr/>
                  <a:lstStyle/>
                  <a:p>
                    <a:r>
                      <a:rPr lang="en-US" altLang="ja-JP" sz="1300" b="1">
                        <a:solidFill>
                          <a:srgbClr val="C55A11"/>
                        </a:solidFill>
                        <a:latin typeface="Arial"/>
                        <a:ea typeface="ＭＳ Ｐゴシック"/>
                      </a:rPr>
                      <a:t>23.50</a:t>
                    </a:r>
                  </a:p>
                  <a:p>
                    <a:r>
                      <a:rPr lang="en-US" altLang="ja-JP" sz="1000" b="0">
                        <a:solidFill>
                          <a:srgbClr val="C55A11"/>
                        </a:solidFill>
                        <a:latin typeface="Arial"/>
                        <a:ea typeface="ＭＳ Ｐゴシック"/>
                      </a:rPr>
                      <a:t>(n=20)</a:t>
                    </a:r>
                  </a:p>
                </c:rich>
              </c:tx>
              <c:dLblPos val="t"/>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1DC9-4E81-886E-03E65A384508}"/>
                </c:ext>
              </c:extLst>
            </c:dLbl>
            <c:numFmt formatCode="#,##0" sourceLinked="0"/>
            <c:spPr>
              <a:noFill/>
              <a:ln>
                <a:noFill/>
              </a:ln>
              <a:effectLst/>
            </c:spPr>
            <c:txPr>
              <a:bodyPr/>
              <a:lstStyle/>
              <a:p>
                <a:pPr>
                  <a:defRPr sz="1200" b="0" i="0" u="none" strike="noStrike">
                    <a:solidFill>
                      <a:srgbClr val="000000"/>
                    </a:solidFill>
                    <a:latin typeface="Arial"/>
                  </a:defRPr>
                </a:pPr>
                <a:endParaRPr lang="ja-JP"/>
              </a:p>
            </c:txPr>
            <c:showLegendKey val="0"/>
            <c:showVal val="0"/>
            <c:showCatName val="0"/>
            <c:showSerName val="0"/>
            <c:showPercent val="0"/>
            <c:showBubbleSize val="0"/>
            <c:extLst>
              <c:ext xmlns:c15="http://schemas.microsoft.com/office/drawing/2012/chart" uri="{CE6537A1-D6FC-4f65-9D91-7224C49458BB}">
                <c15:showLeaderLines val="0"/>
              </c:ext>
            </c:extLst>
          </c:dLbls>
          <c:errBars>
            <c:errDir val="y"/>
            <c:errBarType val="both"/>
            <c:errValType val="cust"/>
            <c:noEndCap val="0"/>
            <c:plus>
              <c:numLit>
                <c:formatCode>General</c:formatCode>
                <c:ptCount val="4"/>
                <c:pt idx="0">
                  <c:v>0.95</c:v>
                </c:pt>
                <c:pt idx="1">
                  <c:v>1.06</c:v>
                </c:pt>
                <c:pt idx="2">
                  <c:v>1.18</c:v>
                </c:pt>
                <c:pt idx="3">
                  <c:v>1.59</c:v>
                </c:pt>
              </c:numLit>
            </c:plus>
            <c:minus>
              <c:numLit>
                <c:formatCode>General</c:formatCode>
                <c:ptCount val="4"/>
                <c:pt idx="0">
                  <c:v>0.95</c:v>
                </c:pt>
                <c:pt idx="1">
                  <c:v>1.06</c:v>
                </c:pt>
                <c:pt idx="2">
                  <c:v>1.18</c:v>
                </c:pt>
                <c:pt idx="3">
                  <c:v>1.59</c:v>
                </c:pt>
              </c:numLit>
            </c:minus>
            <c:spPr>
              <a:ln w="9525">
                <a:solidFill>
                  <a:srgbClr val="595959"/>
                </a:solidFill>
              </a:ln>
            </c:spPr>
          </c:errBars>
          <c:cat>
            <c:strRef>
              <c:f>Sheet1!$A$2:$A$5</c:f>
              <c:strCache>
                <c:ptCount val="4"/>
                <c:pt idx="0">
                  <c:v>0か月</c:v>
                </c:pt>
                <c:pt idx="1">
                  <c:v>6か月</c:v>
                </c:pt>
                <c:pt idx="2">
                  <c:v>12か月</c:v>
                </c:pt>
                <c:pt idx="3">
                  <c:v>18か月</c:v>
                </c:pt>
              </c:strCache>
            </c:strRef>
          </c:cat>
          <c:val>
            <c:numRef>
              <c:f>Sheet1!$C$2:$C$5</c:f>
              <c:numCache>
                <c:formatCode>General</c:formatCode>
                <c:ptCount val="4"/>
                <c:pt idx="0">
                  <c:v>24.25</c:v>
                </c:pt>
                <c:pt idx="1">
                  <c:v>24.15</c:v>
                </c:pt>
                <c:pt idx="2">
                  <c:v>23.84</c:v>
                </c:pt>
                <c:pt idx="3">
                  <c:v>23.5</c:v>
                </c:pt>
              </c:numCache>
            </c:numRef>
          </c:val>
          <c:smooth val="0"/>
          <c:extLst>
            <c:ext xmlns:c16="http://schemas.microsoft.com/office/drawing/2014/chart" uri="{C3380CC4-5D6E-409C-BE32-E72D297353CC}">
              <c16:uniqueId val="{00000009-1DC9-4E81-886E-03E65A384508}"/>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Arial"/>
              </a:defRPr>
            </a:pPr>
            <a:endParaRPr lang="en-US"/>
          </a:p>
        </c:txPr>
        <c:crossAx val="2094734552"/>
        <c:crosses val="autoZero"/>
        <c:auto val="1"/>
        <c:lblAlgn val="ctr"/>
        <c:lblOffset val="100"/>
        <c:noMultiLvlLbl val="1"/>
      </c:catAx>
      <c:valAx>
        <c:axId val="2094734552"/>
        <c:scaling>
          <c:orientation val="minMax"/>
          <c:max val="27"/>
          <c:min val="20"/>
        </c:scaling>
        <c:delete val="0"/>
        <c:axPos val="l"/>
        <c:majorGridlines>
          <c:spPr>
            <a:ln w="9525" cap="flat">
              <a:solidFill>
                <a:srgbClr val="E1E0D9"/>
              </a:solidFill>
              <a:prstDash val="dash"/>
              <a:round/>
            </a:ln>
          </c:spPr>
        </c:majorGridlines>
        <c:title>
          <c:tx>
            <c:rich>
              <a:bodyPr/>
              <a:lstStyle/>
              <a:p>
                <a:pPr>
                  <a:defRPr sz="1300" b="0" i="0" u="none" strike="noStrike">
                    <a:solidFill>
                      <a:srgbClr val="000000"/>
                    </a:solidFill>
                    <a:latin typeface="Arial"/>
                  </a:defRPr>
                </a:pPr>
                <a:r>
                  <a:rPr lang="en-US" sz="1300" b="0" i="0" u="none" strike="noStrike">
                    <a:solidFill>
                      <a:srgbClr val="000000"/>
                    </a:solidFill>
                    <a:latin typeface="Arial"/>
                  </a:rPr>
                  <a:t>MMSE</a:t>
                </a:r>
                <a:r>
                  <a:rPr lang="ja-JP" altLang="en-US" sz="1300" b="0" i="0" u="none" strike="noStrike">
                    <a:solidFill>
                      <a:srgbClr val="000000"/>
                    </a:solidFill>
                    <a:latin typeface="Arial"/>
                  </a:rPr>
                  <a:t>実測値（点）</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1"/>
      </c:valAx>
      <c:spPr>
        <a:noFill/>
        <a:ln>
          <a:noFill/>
        </a:ln>
        <a:effectLst/>
      </c:spPr>
    </c:plotArea>
    <c:legend>
      <c:legendPos val="b"/>
      <c:overlay val="0"/>
      <c:txPr>
        <a:bodyPr/>
        <a:lstStyle/>
        <a:p>
          <a:pPr>
            <a:defRPr sz="1200">
              <a:solidFill>
                <a:srgbClr val="000000"/>
              </a:solidFill>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040120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ノート プレースホルダー 2"/>
          <p:cNvSpPr>
            <a:spLocks noGrp="1"/>
          </p:cNvSpPr>
          <p:nvPr>
            <p:ph type="body" idx="1"/>
          </p:nvPr>
        </p:nvSpPr>
        <p:spPr>
          <a:xfrm>
            <a:off x="685800" y="5867400"/>
            <a:ext cx="5486400" cy="4800600"/>
          </a:xfrm>
          <a:prstGeom prst="rect">
            <a:avLst/>
          </a:prstGeom>
        </p:spPr>
        <p:txBody>
          <a:bodyPr/>
          <a:lstStyle/>
          <a:p>
            <a:pPr marL="0" indent="0">
              <a:lnSpc>
                <a:spcPct val="105000"/>
              </a:lnSpc>
              <a:buNone/>
            </a:pPr>
            <a:r>
              <a:rPr lang="en-US" altLang="ja-JP" sz="1200" dirty="0">
                <a:solidFill>
                  <a:srgbClr val="1A1A1A"/>
                </a:solidFill>
                <a:latin typeface="Arial" pitchFamily="34" charset="0"/>
                <a:ea typeface="Arial" pitchFamily="34" charset="-122"/>
                <a:cs typeface="Arial" pitchFamily="34" charset="-120"/>
              </a:rPr>
              <a:t>各時点の値は平均MMSE実測値、エラーバーは95% CI。18か月データを有する症例に限定して経時推移を表示した。</a:t>
            </a:r>
            <a:endParaRPr lang="en-US" altLang="ja-JP" sz="1200" dirty="0"/>
          </a:p>
          <a:p>
            <a:pPr marL="0" indent="0">
              <a:lnSpc>
                <a:spcPct val="105000"/>
              </a:lnSpc>
              <a:buNone/>
            </a:pPr>
            <a:r>
              <a:rPr lang="en-US" altLang="ja-JP" sz="1200" dirty="0" err="1">
                <a:solidFill>
                  <a:srgbClr val="1A1A1A"/>
                </a:solidFill>
                <a:latin typeface="Arial" pitchFamily="34" charset="0"/>
                <a:ea typeface="Arial" pitchFamily="34" charset="-122"/>
                <a:cs typeface="Arial" pitchFamily="34" charset="-120"/>
              </a:rPr>
              <a:t>改善訴えあり群</a:t>
            </a:r>
            <a:r>
              <a:rPr lang="en-US" altLang="ja-JP" sz="1200" dirty="0">
                <a:solidFill>
                  <a:srgbClr val="1A1A1A"/>
                </a:solidFill>
                <a:latin typeface="Arial" pitchFamily="34" charset="0"/>
                <a:ea typeface="Arial" pitchFamily="34" charset="-122"/>
                <a:cs typeface="Arial" pitchFamily="34" charset="-120"/>
              </a:rPr>
              <a:t> n=9、改善訴えなし群 n=20（12か月のみ n=19）。</a:t>
            </a:r>
            <a:endParaRPr lang="en-US" altLang="ja-JP" sz="1200" dirty="0"/>
          </a:p>
          <a:p>
            <a:pPr marL="0" indent="0">
              <a:lnSpc>
                <a:spcPct val="105000"/>
              </a:lnSpc>
              <a:buNone/>
            </a:pPr>
            <a:r>
              <a:rPr lang="en-US" altLang="ja-JP" sz="1200" dirty="0">
                <a:solidFill>
                  <a:srgbClr val="1A1A1A"/>
                </a:solidFill>
                <a:latin typeface="Arial" pitchFamily="34" charset="0"/>
                <a:ea typeface="Arial" pitchFamily="34" charset="-122"/>
                <a:cs typeface="Arial" pitchFamily="34" charset="-120"/>
              </a:rPr>
              <a:t>18か月時点の群間比較：Welchのt検定 p=0.804、Mann-Whitney検定 p=0.617、ベースラインMMSE調整 p=0.879。</a:t>
            </a:r>
            <a:endParaRPr lang="en-US" altLang="ja-JP" sz="1200" dirty="0"/>
          </a:p>
          <a:p>
            <a:pPr marL="0" indent="0">
              <a:lnSpc>
                <a:spcPct val="105000"/>
              </a:lnSpc>
              <a:buNone/>
            </a:pPr>
            <a:r>
              <a:rPr lang="en-US" altLang="ja-JP" sz="1200" dirty="0">
                <a:solidFill>
                  <a:srgbClr val="1A1A1A"/>
                </a:solidFill>
                <a:latin typeface="Arial" pitchFamily="34" charset="0"/>
                <a:ea typeface="Arial" pitchFamily="34" charset="-122"/>
                <a:cs typeface="Arial" pitchFamily="34" charset="-120"/>
              </a:rPr>
              <a:t>※「</a:t>
            </a:r>
            <a:r>
              <a:rPr lang="en-US" altLang="ja-JP" sz="1200" dirty="0" err="1">
                <a:solidFill>
                  <a:srgbClr val="1A1A1A"/>
                </a:solidFill>
                <a:latin typeface="Arial" pitchFamily="34" charset="0"/>
                <a:ea typeface="Arial" pitchFamily="34" charset="-122"/>
                <a:cs typeface="Arial" pitchFamily="34" charset="-120"/>
              </a:rPr>
              <a:t>改善訴えなし」群には改善訴えの記載がない症例を含む</a:t>
            </a:r>
            <a:r>
              <a:rPr lang="en-US" altLang="ja-JP" sz="1200" dirty="0">
                <a:solidFill>
                  <a:srgbClr val="1A1A1A"/>
                </a:solidFill>
                <a:latin typeface="Arial" pitchFamily="34" charset="0"/>
                <a:ea typeface="Arial" pitchFamily="34" charset="-122"/>
                <a:cs typeface="Arial" pitchFamily="34" charset="-120"/>
              </a:rPr>
              <a:t>。</a:t>
            </a:r>
            <a:endParaRPr lang="en-US" altLang="ja-JP" sz="1200" dirty="0"/>
          </a:p>
          <a:p>
            <a:endParaRPr kumimoji="1" lang="ja-JP" altLang="en-US" dirty="0"/>
          </a:p>
        </p:txBody>
      </p:sp>
    </p:spTree>
    <p:extLst>
      <p:ext uri="{BB962C8B-B14F-4D97-AF65-F5344CB8AC3E}">
        <p14:creationId xmlns:p14="http://schemas.microsoft.com/office/powerpoint/2010/main" val="318553785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Cano S, et al. J Prev Alzheimers Dis 2022 (doi:10.14283/jpad.2022.102) は、全般的印象（＝臨床医の主観的判断）をアンカー、MMSEをターゲット測度としたアンカーベース解析で、MMSEとアンカーの相関が36週より前のどの時点でも不十分であったと報告している。</a:t>
            </a:r>
          </a:p>
          <a:p>
            <a:r>
              <a:t>本スライドはその枠組みを本研究データに当てはめたもので、アンカーを「レカネマブ投与後の症状改善の訴え（あり／記載なし）」に置き換えた追試にあたる。</a:t>
            </a:r>
          </a:p>
          <a:p>
            <a:r>
              <a:t>主観的な訴えというアンカーは、いずれの時点でもΔMMSEを層別しなかった。2群の95%CIは全時点で重なっている。</a:t>
            </a:r>
          </a:p>
          <a:p>
            <a:r>
              <a:t>→ したがって結果5の「有意差なし」は、検出力不足の産物ではなく、先行研究と整合する既知の現象の再現として提示できる。</a:t>
            </a:r>
          </a:p>
          <a:p/>
          <a:p>
            <a:r>
              <a:t>【想定される質問】</a:t>
            </a:r>
          </a:p>
          <a:p>
            <a:r>
              <a:t>Q: n=9 では検出力がないのでは？</a:t>
            </a:r>
          </a:p>
          <a:p>
            <a:r>
              <a:t>A: そのとおりで、本研究単独では非劣性も同等性も主張できない。ただし主張は「差がないことの証明」ではなく「主観アンカーとMMSEが対応しないという先行知見と矛盾しない」という水準にとどめている。</a:t>
            </a:r>
          </a:p>
          <a:p/>
          <a:p>
            <a:r>
              <a:t>Q: 参照帯の根拠は？</a:t>
            </a:r>
          </a:p>
          <a:p>
            <a:r>
              <a:t>A: Mayo Clinic Study of Aging の集団ベース解析（Aakre 2025, doi:10.1002/trc2.70160）で、MCI発症をアンカーとしたMMSEの年間変化は −1.01（95%CI −1.12 to −0.91）。あくまで目盛りの目安であり、本研究の判定基準ではない。</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結果5では2群の平均MMSEがほぼ重なる。しかしそれは「29例が同じように推移した」ことを意味しない。</a:t>
            </a:r>
          </a:p>
          <a:p>
            <a:r>
              <a:t>個別軌跡を重ねると、訴えあり群（赤）のほうが軌跡のばらつきが大きい。個人内変動幅の平均は 4.67点 対 3.05点、18か月ΔMMSEのSDは 4.76 対 2.83 で、いずれも訴えあり群のほうが大きい。</a:t>
            </a:r>
          </a:p>
          <a:p/>
          <a:p>
            <a:r>
              <a:t>【統計的な判定（2種類あるので混同しないこと）】</a:t>
            </a:r>
          </a:p>
          <a:p>
            <a:r>
              <a:t>① 個人内変動幅（4時点の最大−最小）の中央値の比較：Mann-Whitney検定 p = 0.034 → 名目上は有意。</a:t>
            </a:r>
          </a:p>
          <a:p>
            <a:r>
              <a:t>② Δ18MのSDそのものの均一性：Levene検定 p = 0.146 → 有意差なし。</a:t>
            </a:r>
          </a:p>
          <a:p>
            <a:r>
              <a:t>①と②は近い概念だが同じではない。①は「事後的に定義した指標」であり、多重比較の補正もしていない探索的な検定である。②のほうが分散の差を検定する標準的な方法だが、こちらは有意ではない。</a:t>
            </a:r>
          </a:p>
          <a:p>
            <a:r>
              <a:t>発表では「個人内変動幅ではp=0.034で名目上の有意差があったが、事前登録された仮説ではなく、標準的な分散の検定（Levene）では有意ではなかった」と両方正直に伝えるのが誠実。</a:t>
            </a:r>
          </a:p>
          <a:p/>
          <a:p>
            <a:r>
              <a:t>【この観察の扱い】</a:t>
            </a:r>
          </a:p>
          <a:p>
            <a:r>
              <a:t>探索的所見にとどめる。ばらつきが大きい群では、6か月時点の一時的な上昇（訴えあり群は平均 +1.67点）が「効いている」という実感につながり、それが訴えとして記録された可能性がある——という仮説の提示までが本スライドの射程である。</a:t>
            </a:r>
          </a:p>
          <a:p/>
          <a:p>
            <a:r>
              <a:t>【注意】</a:t>
            </a:r>
          </a:p>
          <a:p>
            <a:r>
              <a:t>6か月時点で訴えあり群のMMSEが上昇して見えるのは、ベースラインが低い症例を含むこと（平均22.89 対 24.25）とも整合し、平均への回帰の影響を否定できない。因果の向きは本データからは決められない。</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「合計点で差が出ないのは、改善した下位項目と悪化した下位項目が打ち消し合っているからではないか」という当然の反論に、あらかじめ答えておくためのスライド。</a:t>
            </a:r>
          </a:p>
          <a:p>
            <a:r>
              <a:t>結論は、11項目のいずれでも訴えの有無は18か月の変化量を層別しなかった、である。補正前の段階ですでに有意な項目はなく、FDR補正で初めて消えたわけではない点は強調してよい。</a:t>
            </a:r>
          </a:p>
          <a:p/>
          <a:p>
            <a:r>
              <a:t>【変化量の群間差が大きかった項目】</a:t>
            </a:r>
          </a:p>
          <a:p>
            <a:r>
              <a:t>1位 時間見当識（+0.71点、5点満点、補正前 p=0.212 / q=0.778）</a:t>
            </a:r>
          </a:p>
          <a:p>
            <a:r>
              <a:t>2位 注意計算（+0.66点、5点満点、補正前 p=0.397 / q=0.792）</a:t>
            </a:r>
          </a:p>
          <a:p>
            <a:r>
              <a:t>いずれも訴えあり群のほうが保たれる方向だが、95%CIは大きく重なる。</a:t>
            </a:r>
          </a:p>
          <a:p/>
          <a:p>
            <a:r>
              <a:t>【既存テーマの「遅延再生」について】</a:t>
            </a:r>
          </a:p>
          <a:p>
            <a:r>
              <a:t>遅延再生の群間差は −0.19点（3点満点）で11項目中4位、補正前 p=0.704。訴えあり群のほうがむしろわずかに低下が大きく、上位2項目には入らない。</a:t>
            </a:r>
          </a:p>
          <a:p>
            <a:r>
              <a:t>つまり本データでは、遅延再生が「訴えあり」を特徴づける項目にはなっていない。</a:t>
            </a:r>
          </a:p>
          <a:p/>
          <a:p>
            <a:r>
              <a:t>【CDR 6領域】</a:t>
            </a:r>
          </a:p>
          <a:p>
            <a:r>
              <a:t>同様に解析したが、補正前・補正後とも有意な領域はなかった（最小 p=0.598）。CDR-SBのΔ18Mも 訴えあり +1.75 対 訴えなし +1.39、p=0.736。</a:t>
            </a:r>
          </a:p>
          <a:p/>
          <a:p>
            <a:r>
              <a:t>【注意】</a:t>
            </a:r>
          </a:p>
          <a:p>
            <a:r>
              <a:t>n=9 対 20 の小標本かつ不均衡であり、この解析で「差がない」ことを結論づけることはできない。あくまで結果5を補強する材料である。</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結果3のスライドに使う図の代替案。指示書タスク②-1(b)に対応。重ね合わせ版(a)と群別2パネル版(b)のどちらをメインにするかは上野先生の判断を仰ぐ。</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文献調査の「応用Ver 図の設計仕様」パネルBに対応。個々の点をベースラインMMSEで着色すると、群分け（訴えの有無）よりもベースライン重症度のほうがΔMMSEを説明していることが見える。</a:t>
            </a:r>
          </a:p>
          <a:p/>
          <a:p>
            <a:r>
              <a:t>【重要な留保】</a:t>
            </a:r>
          </a:p>
          <a:p>
            <a:r>
              <a:t>r = −0.50, p = 0.006 は統計的に有意だが、Δ = 18か月値 − ベースライン値 という定義上、ベースラインとΔは数学的に負に相関する（平均への回帰）。この所見を「重症度が予後を決める」と読むことはできない。</a:t>
            </a:r>
          </a:p>
          <a:p>
            <a:r>
              <a:t>発表で言及する場合は、必ずこの留保を添える。触れないという選択もある。</a:t>
            </a:r>
          </a:p>
          <a:p/>
          <a:p>
            <a:r>
              <a:t>【参照帯を超えて低下した症例の割合】</a:t>
            </a:r>
          </a:p>
          <a:p>
            <a:r>
              <a:t>訴えあり 2/9 (22.2%)、訴えなし 6/20 (30.0%)、Fisher正確検定 p=1.00。ここでも両群はほぼ同等である。</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タスク④に対応。文献調査_意欲低下定義.md の考察を反映した。</a:t>
            </a:r>
          </a:p>
          <a:p/>
          <a:p>
            <a:r>
              <a:t>【スライドで述べる1〜2文の要約】</a:t>
            </a:r>
          </a:p>
          <a:p>
            <a:r>
              <a:t>本研究の意欲低下は診療録記載の有無に基づく二値変数であり、情報提供者への構造化聴取・頻度／重症度評価・観察期間の明示という、NPIやAESが備える3要素をいずれも満たさない。</a:t>
            </a:r>
          </a:p>
          <a:p>
            <a:r>
              <a:t>さらにEikelboomら（2023）は診療録記載と介護者評価の一致度が低いことを実データで示しており、本項目をNPI無関心ドメインの代理指標として扱うことはできない。</a:t>
            </a:r>
          </a:p>
          <a:p/>
          <a:p>
            <a:r>
              <a:t>【limitation への転用文案】</a:t>
            </a:r>
          </a:p>
          <a:p>
            <a:r>
              <a:t>1. 意欲低下はNPI-Q等の確立された尺度によらず、診療録記載の有無に基づく二値変数として後方視的に定義した。</a:t>
            </a:r>
          </a:p>
          <a:p>
            <a:r>
              <a:t>2. このため重症度・頻度・持続期間の情報を欠き、Robertら（2018）のアパシー診断基準を満たすか否かは判定できない。</a:t>
            </a:r>
          </a:p>
          <a:p>
            <a:r>
              <a:t>3. 診療録記載は問診の密度や記載者の裁量に依存するため、症状の有無を系統的に反映していない可能性がある。</a:t>
            </a:r>
          </a:p>
          <a:p>
            <a:r>
              <a:t>4. 上記より本項目の結果は探索的であり、先行研究のアパシー有病率（NPIベース）と直接比較することはできない。</a:t>
            </a:r>
          </a:p>
          <a:p/>
          <a:p>
            <a:r>
              <a:t>【重要：本スライドで決めていないこと】</a:t>
            </a:r>
          </a:p>
          <a:p>
            <a:r>
              <a:t>「易怒性／意欲低下のどちらかを解析から減らすべきか」という論点については、指示書の方針に従い削除は実行していない。確認事項リストに論点として記載した。</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各スライドに散らばっている統計結果を1枚に集約し、上野先生が一目で全体像を把握できるようにした。</a:t>
            </a:r>
          </a:p>
          <a:p/>
          <a:p>
            <a:r>
              <a:t>【本研究で唯一「有意」と出た所見について】</a:t>
            </a:r>
          </a:p>
          <a:p>
            <a:r>
              <a:t>参考2のベースラインMMSEとΔMMSEの相関（r=−0.50, p=0.006）が、本一連の解析で唯一 p&lt;0.05 に達した結果である。</a:t>
            </a:r>
          </a:p>
          <a:p>
            <a:r>
              <a:t>ただしこれはΔ = 18か月値−ベースライン値という定義上、平均への回帰を数学的に含むため、「重症度が高いほど悪化する」という因果関係の証拠として提示すべきではない。</a:t>
            </a:r>
          </a:p>
          <a:p/>
          <a:p>
            <a:r>
              <a:t>【結果3の「個人内変動幅」について】</a:t>
            </a:r>
          </a:p>
          <a:p>
            <a:r>
              <a:t>Mann-Whitney p=0.034は名目上0.05を下回るが、①図を見てから事後的に定義した指標である、②多重比較の補正をしていない、③より標準的な分散の検定（Levene, p=0.146）では有意でない、という3点から、確証的な所見としては扱わず「探索的」と明記した。</a:t>
            </a:r>
          </a:p>
          <a:p/>
          <a:p>
            <a:r>
              <a:t>【結論】</a:t>
            </a:r>
          </a:p>
          <a:p>
            <a:r>
              <a:t>主要な解析（結果2・結果4・結果5）はいずれも一貫して有意差なしであり、これは検出力不足ではなく先行研究と整合する頑健な陰性所見として提示できる。</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4" name="Shape 2"/>
          <p:cNvSpPr/>
          <p:nvPr/>
        </p:nvSpPr>
        <p:spPr>
          <a:xfrm>
            <a:off x="457200" y="1261872"/>
            <a:ext cx="11277295" cy="0"/>
          </a:xfrm>
          <a:prstGeom prst="line">
            <a:avLst/>
          </a:prstGeom>
          <a:noFill/>
          <a:ln w="22225">
            <a:solidFill>
              <a:srgbClr val="156082"/>
            </a:solidFill>
            <a:prstDash val="solid"/>
          </a:ln>
        </p:spPr>
        <p:txBody>
          <a:bodyPr/>
          <a:lstStyle/>
          <a:p>
            <a:endParaRPr lang="ja-JP" altLang="en-US"/>
          </a:p>
        </p:txBody>
      </p:sp>
      <p:graphicFrame>
        <p:nvGraphicFramePr>
          <p:cNvPr id="5" name="Table 0"/>
          <p:cNvGraphicFramePr>
            <a:graphicFrameLocks noGrp="1"/>
          </p:cNvGraphicFramePr>
          <p:nvPr>
            <p:extLst>
              <p:ext uri="{D42A27DB-BD31-4B8C-83A1-F6EECF244321}">
                <p14:modId xmlns:p14="http://schemas.microsoft.com/office/powerpoint/2010/main" val="1580556224"/>
              </p:ext>
            </p:extLst>
          </p:nvPr>
        </p:nvGraphicFramePr>
        <p:xfrm>
          <a:off x="1371600" y="1417320"/>
          <a:ext cx="9448495" cy="3982212"/>
        </p:xfrm>
        <a:graphic>
          <a:graphicData uri="http://schemas.openxmlformats.org/drawingml/2006/table">
            <a:tbl>
              <a:tblPr/>
              <a:tblGrid>
                <a:gridCol w="5669280">
                  <a:extLst>
                    <a:ext uri="{9D8B030D-6E8A-4147-A177-3AD203B41FA5}">
                      <a16:colId xmlns:a16="http://schemas.microsoft.com/office/drawing/2014/main" val="20000"/>
                    </a:ext>
                  </a:extLst>
                </a:gridCol>
                <a:gridCol w="3779215">
                  <a:extLst>
                    <a:ext uri="{9D8B030D-6E8A-4147-A177-3AD203B41FA5}">
                      <a16:colId xmlns:a16="http://schemas.microsoft.com/office/drawing/2014/main" val="20001"/>
                    </a:ext>
                  </a:extLst>
                </a:gridCol>
              </a:tblGrid>
              <a:tr h="306324">
                <a:tc>
                  <a:txBody>
                    <a:bodyPr/>
                    <a:lstStyle/>
                    <a:p>
                      <a:pPr marL="0" indent="0" algn="ctr">
                        <a:buNone/>
                      </a:pPr>
                      <a:r>
                        <a:rPr lang="en-US" sz="1300" b="1" dirty="0">
                          <a:solidFill>
                            <a:srgbClr val="000000"/>
                          </a:solidFill>
                          <a:latin typeface="Arial" panose="020B0604020202020204" pitchFamily="34" charset="0"/>
                          <a:ea typeface="Cambria" pitchFamily="34" charset="-122"/>
                          <a:cs typeface="Arial" panose="020B0604020202020204" pitchFamily="34" charset="0"/>
                        </a:rPr>
                        <a:t>項目</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solidFill>
                      <a:srgbClr val="FFFFFF"/>
                    </a:solidFill>
                  </a:tcPr>
                </a:tc>
                <a:tc>
                  <a:txBody>
                    <a:bodyPr/>
                    <a:lstStyle/>
                    <a:p>
                      <a:pPr marL="0" indent="0" algn="ctr">
                        <a:buNone/>
                      </a:pPr>
                      <a:r>
                        <a:rPr lang="en-US" altLang="ja-JP" sz="1300" b="1" dirty="0">
                          <a:solidFill>
                            <a:srgbClr val="000000"/>
                          </a:solidFill>
                          <a:latin typeface="Arial" panose="020B0604020202020204" pitchFamily="34" charset="0"/>
                          <a:ea typeface="Cambria" pitchFamily="34" charset="-122"/>
                          <a:cs typeface="Arial" panose="020B0604020202020204" pitchFamily="34" charset="0"/>
                        </a:rPr>
                        <a:t>全体(N=66)</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年齢（歳）</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74.7 ± 6.2</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女性</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49 (74.2%)</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男性</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17 (25.8%)</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MMSE合計点</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24.4 ± 2.2</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HDS-R合計点</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22.0 ± 3.6</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MoCA-J合計点</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20.7 ± 3.0</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Global CDR = 0.5</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60 (90.9%)</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Global CDR = 1.0</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6 (9.1%)</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8"/>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CDR-SB</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2.0 ± 1.1</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9"/>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易怒性</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15 (22.7%)</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0"/>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意欲低下</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22 (33.3%)</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1"/>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両方なし</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31 (47.0%)</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2"/>
                  </a:ext>
                </a:extLst>
              </a:tr>
            </a:tbl>
          </a:graphicData>
        </a:graphic>
      </p:graphicFrame>
      <p:sp>
        <p:nvSpPr>
          <p:cNvPr id="6" name="Shape 3"/>
          <p:cNvSpPr/>
          <p:nvPr/>
        </p:nvSpPr>
        <p:spPr>
          <a:xfrm>
            <a:off x="1371600" y="1417320"/>
            <a:ext cx="9448495" cy="0"/>
          </a:xfrm>
          <a:prstGeom prst="line">
            <a:avLst/>
          </a:prstGeom>
          <a:noFill/>
          <a:ln w="19050">
            <a:solidFill>
              <a:srgbClr val="000000"/>
            </a:solidFill>
            <a:prstDash val="solid"/>
          </a:ln>
        </p:spPr>
        <p:txBody>
          <a:bodyPr/>
          <a:lstStyle/>
          <a:p>
            <a:endParaRPr lang="ja-JP" altLang="en-US"/>
          </a:p>
        </p:txBody>
      </p:sp>
      <p:sp>
        <p:nvSpPr>
          <p:cNvPr id="7" name="Shape 4"/>
          <p:cNvSpPr/>
          <p:nvPr/>
        </p:nvSpPr>
        <p:spPr>
          <a:xfrm>
            <a:off x="1371600" y="1723644"/>
            <a:ext cx="9448495" cy="0"/>
          </a:xfrm>
          <a:prstGeom prst="line">
            <a:avLst/>
          </a:prstGeom>
          <a:noFill/>
          <a:ln w="15875">
            <a:solidFill>
              <a:srgbClr val="000000"/>
            </a:solidFill>
            <a:prstDash val="solid"/>
          </a:ln>
        </p:spPr>
        <p:txBody>
          <a:bodyPr/>
          <a:lstStyle/>
          <a:p>
            <a:endParaRPr lang="ja-JP" altLang="en-US"/>
          </a:p>
        </p:txBody>
      </p:sp>
      <p:sp>
        <p:nvSpPr>
          <p:cNvPr id="8" name="Shape 5"/>
          <p:cNvSpPr/>
          <p:nvPr/>
        </p:nvSpPr>
        <p:spPr>
          <a:xfrm>
            <a:off x="1371600" y="5399532"/>
            <a:ext cx="9448495" cy="0"/>
          </a:xfrm>
          <a:prstGeom prst="line">
            <a:avLst/>
          </a:prstGeom>
          <a:noFill/>
          <a:ln w="19050">
            <a:solidFill>
              <a:srgbClr val="000000"/>
            </a:solidFill>
            <a:prstDash val="solid"/>
          </a:ln>
        </p:spPr>
        <p:txBody>
          <a:bodyPr/>
          <a:lstStyle/>
          <a:p>
            <a:endParaRPr lang="ja-JP" altLang="en-US"/>
          </a:p>
        </p:txBody>
      </p:sp>
      <p:sp>
        <p:nvSpPr>
          <p:cNvPr id="9" name="Text 6"/>
          <p:cNvSpPr/>
          <p:nvPr/>
        </p:nvSpPr>
        <p:spPr>
          <a:xfrm>
            <a:off x="1371600" y="5536692"/>
            <a:ext cx="9448495" cy="640080"/>
          </a:xfrm>
          <a:prstGeom prst="rect">
            <a:avLst/>
          </a:prstGeom>
          <a:noFill/>
          <a:ln/>
        </p:spPr>
        <p:txBody>
          <a:bodyPr wrap="square" lIns="0" tIns="0" rIns="0" bIns="0" rtlCol="0" anchor="ctr"/>
          <a:lstStyle/>
          <a:p>
            <a:pPr marL="0" indent="0" algn="l">
              <a:lnSpc>
                <a:spcPct val="115000"/>
              </a:lnSpc>
              <a:buNone/>
            </a:pPr>
            <a:r>
              <a:rPr lang="en-US" sz="1050" dirty="0">
                <a:solidFill>
                  <a:srgbClr val="000000"/>
                </a:solidFill>
                <a:latin typeface="Arial" panose="020B0604020202020204" pitchFamily="34" charset="0"/>
                <a:ea typeface="Cambria" pitchFamily="34" charset="-122"/>
                <a:cs typeface="Arial" panose="020B0604020202020204" pitchFamily="34" charset="0"/>
              </a:rPr>
              <a:t>数値は平均値±標準偏差または症例数(%)を示す。MMSE：Mini-Mental State Examination、HDS-R：改訂長谷川式簡易知能評価スケール、MoCA-J：Montreal Cognitive Assessment日本語版、CDR：Clinical Dementia Rating、CDR-SB：Clinical Dementia Rating Sum of Boxes。</a:t>
            </a:r>
            <a:endParaRPr lang="en-US" sz="1050" dirty="0">
              <a:latin typeface="Arial" panose="020B0604020202020204" pitchFamily="34" charset="0"/>
              <a:cs typeface="Arial" panose="020B0604020202020204" pitchFamily="34" charset="0"/>
            </a:endParaRPr>
          </a:p>
        </p:txBody>
      </p:sp>
      <p:sp>
        <p:nvSpPr>
          <p:cNvPr id="13" name="コンテンツ プレースホルダ 2">
            <a:extLst>
              <a:ext uri="{FF2B5EF4-FFF2-40B4-BE49-F238E27FC236}">
                <a16:creationId xmlns:a16="http://schemas.microsoft.com/office/drawing/2014/main" id="{8F864FC0-F8AB-B0C1-CA4C-DBE9FF16A205}"/>
              </a:ext>
            </a:extLst>
          </p:cNvPr>
          <p:cNvSpPr txBox="1">
            <a:spLocks/>
          </p:cNvSpPr>
          <p:nvPr/>
        </p:nvSpPr>
        <p:spPr>
          <a:xfrm>
            <a:off x="671805" y="315373"/>
            <a:ext cx="11150082" cy="82292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ctr">
              <a:buNone/>
            </a:pPr>
            <a:r>
              <a:rPr lang="ja-JP" altLang="en-US" sz="4000" dirty="0">
                <a:latin typeface="Arial" panose="020B0604020202020204" pitchFamily="34" charset="0"/>
                <a:ea typeface="ＭＳ Ｐゴシック" panose="020B0600070205080204" pitchFamily="50" charset="-128"/>
              </a:rPr>
              <a:t>結果</a:t>
            </a:r>
            <a:r>
              <a:rPr lang="en-US" altLang="ja-JP" sz="4000" dirty="0">
                <a:latin typeface="Arial" panose="020B0604020202020204" pitchFamily="34" charset="0"/>
                <a:ea typeface="ＭＳ Ｐゴシック" panose="020B0600070205080204" pitchFamily="50" charset="-128"/>
              </a:rPr>
              <a:t>1</a:t>
            </a:r>
            <a:r>
              <a:rPr lang="ja-JP" altLang="en-US" sz="4000" dirty="0">
                <a:latin typeface="Arial" panose="020B0604020202020204" pitchFamily="34" charset="0"/>
                <a:ea typeface="ＭＳ Ｐゴシック" panose="020B0600070205080204" pitchFamily="50" charset="-128"/>
              </a:rPr>
              <a:t>　</a:t>
            </a:r>
            <a:r>
              <a:rPr lang="ja-JP" altLang="en-US" sz="3600" dirty="0">
                <a:latin typeface="Arial" panose="020B0604020202020204" pitchFamily="34" charset="0"/>
                <a:ea typeface="ＭＳ Ｐゴシック" panose="020B0600070205080204" pitchFamily="50" charset="-128"/>
              </a:rPr>
              <a:t>患者背景</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92608"/>
            <a:ext cx="11247120" cy="566928"/>
          </a:xfrm>
          <a:prstGeom prst="rect">
            <a:avLst/>
          </a:prstGeom>
          <a:noFill/>
          <a:ln/>
        </p:spPr>
        <p:txBody>
          <a:bodyPr wrap="square" lIns="0" tIns="0" rIns="0" bIns="0" rtlCol="0" anchor="t"/>
          <a:lstStyle/>
          <a:p>
            <a:pPr marL="0" indent="0" algn="l">
              <a:buNone/>
            </a:pPr>
            <a:r>
              <a:rPr lang="en-US" sz="4000" dirty="0">
                <a:solidFill>
                  <a:srgbClr val="000000"/>
                </a:solidFill>
                <a:latin typeface="Arial" pitchFamily="34" charset="0"/>
                <a:ea typeface="Arial" pitchFamily="34" charset="-122"/>
                <a:cs typeface="Arial" pitchFamily="34" charset="-120"/>
              </a:rPr>
              <a:t>結果</a:t>
            </a:r>
            <a:r>
              <a:rPr lang="en-US" altLang="ja-JP" sz="4000" dirty="0">
                <a:solidFill>
                  <a:srgbClr val="000000"/>
                </a:solidFill>
                <a:latin typeface="Arial" pitchFamily="34" charset="0"/>
                <a:ea typeface="Arial" pitchFamily="34" charset="-122"/>
                <a:cs typeface="Arial" pitchFamily="34" charset="-120"/>
              </a:rPr>
              <a:t>5</a:t>
            </a:r>
            <a:r>
              <a:rPr lang="en-US" sz="3200" dirty="0">
                <a:solidFill>
                  <a:srgbClr val="000000"/>
                </a:solidFill>
                <a:latin typeface="Arial" pitchFamily="34" charset="0"/>
                <a:ea typeface="Arial" pitchFamily="34" charset="-122"/>
                <a:cs typeface="Arial" pitchFamily="34" charset="-120"/>
              </a:rPr>
              <a:t>　症状改善の訴え有無によるMMSE実測値の推移</a:t>
            </a:r>
            <a:endParaRPr lang="en-US" sz="4000" dirty="0"/>
          </a:p>
        </p:txBody>
      </p:sp>
      <p:sp>
        <p:nvSpPr>
          <p:cNvPr id="3" name="Shape 1"/>
          <p:cNvSpPr/>
          <p:nvPr/>
        </p:nvSpPr>
        <p:spPr>
          <a:xfrm>
            <a:off x="457200" y="1161288"/>
            <a:ext cx="10817352" cy="0"/>
          </a:xfrm>
          <a:prstGeom prst="line">
            <a:avLst/>
          </a:prstGeom>
          <a:noFill/>
          <a:ln w="22225">
            <a:solidFill>
              <a:srgbClr val="156082"/>
            </a:solidFill>
            <a:prstDash val="solid"/>
          </a:ln>
        </p:spPr>
        <p:txBody>
          <a:bodyPr/>
          <a:lstStyle/>
          <a:p>
            <a:endParaRPr lang="ja-JP" altLang="en-US"/>
          </a:p>
        </p:txBody>
      </p:sp>
      <p:sp>
        <p:nvSpPr>
          <p:cNvPr id="4" name="Text 2"/>
          <p:cNvSpPr/>
          <p:nvPr/>
        </p:nvSpPr>
        <p:spPr>
          <a:xfrm>
            <a:off x="457200" y="1243584"/>
            <a:ext cx="8229600" cy="246888"/>
          </a:xfrm>
          <a:prstGeom prst="rect">
            <a:avLst/>
          </a:prstGeom>
          <a:noFill/>
          <a:ln/>
        </p:spPr>
        <p:txBody>
          <a:bodyPr wrap="square" lIns="0" tIns="0" rIns="0" bIns="0" rtlCol="0" anchor="ctr"/>
          <a:lstStyle/>
          <a:p>
            <a:pPr marL="0" indent="0" algn="l">
              <a:buNone/>
            </a:pPr>
            <a:r>
              <a:rPr lang="en-US" sz="1300" dirty="0">
                <a:solidFill>
                  <a:srgbClr val="666666"/>
                </a:solidFill>
                <a:latin typeface="Arial" pitchFamily="34" charset="0"/>
                <a:ea typeface="Arial" pitchFamily="34" charset="-122"/>
                <a:cs typeface="Arial" pitchFamily="34" charset="-120"/>
              </a:rPr>
              <a:t>18か月評価例に限定した解析</a:t>
            </a:r>
            <a:endParaRPr lang="en-US" sz="1300" dirty="0"/>
          </a:p>
        </p:txBody>
      </p:sp>
      <p:graphicFrame>
        <p:nvGraphicFramePr>
          <p:cNvPr id="5" name="Chart 0"/>
          <p:cNvGraphicFramePr/>
          <p:nvPr>
            <p:extLst>
              <p:ext uri="{D42A27DB-BD31-4B8C-83A1-F6EECF244321}">
                <p14:modId xmlns:p14="http://schemas.microsoft.com/office/powerpoint/2010/main" val="1293140263"/>
              </p:ext>
            </p:extLst>
          </p:nvPr>
        </p:nvGraphicFramePr>
        <p:xfrm>
          <a:off x="457200" y="1600200"/>
          <a:ext cx="11247120" cy="416052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p:nvPr/>
        </p:nvSpPr>
        <p:spPr>
          <a:xfrm>
            <a:off x="457200" y="6126480"/>
            <a:ext cx="11247120" cy="685800"/>
          </a:xfrm>
          <a:prstGeom prst="rect">
            <a:avLst/>
          </a:prstGeom>
          <a:noFill/>
          <a:ln/>
        </p:spPr>
        <p:txBody>
          <a:bodyPr wrap="square" lIns="0" tIns="0" rIns="0" bIns="0" rtlCol="0" anchor="ctr"/>
          <a:lstStyle/>
          <a:p>
            <a:pPr marL="0" indent="0">
              <a:lnSpc>
                <a:spcPct val="105000"/>
              </a:lnSpc>
              <a:buNone/>
            </a:pPr>
            <a:r>
              <a:rPr lang="en-US" sz="1100" dirty="0">
                <a:solidFill>
                  <a:srgbClr val="1A1A1A"/>
                </a:solidFill>
                <a:latin typeface="Arial" pitchFamily="34" charset="0"/>
                <a:ea typeface="Arial" pitchFamily="34" charset="-122"/>
                <a:cs typeface="Arial" pitchFamily="34" charset="-120"/>
              </a:rPr>
              <a:t>各時点の値は平均MMSE実測値、エラーバーは95% CI。18か月データを有する症例に限定して経時推移を表示した。</a:t>
            </a:r>
            <a:endParaRPr lang="en-US" sz="1100" dirty="0"/>
          </a:p>
          <a:p>
            <a:pPr marL="0" indent="0">
              <a:lnSpc>
                <a:spcPct val="105000"/>
              </a:lnSpc>
              <a:buNone/>
            </a:pPr>
            <a:r>
              <a:rPr lang="en-US" sz="1100" dirty="0">
                <a:solidFill>
                  <a:srgbClr val="1A1A1A"/>
                </a:solidFill>
                <a:latin typeface="Arial" pitchFamily="34" charset="0"/>
                <a:ea typeface="Arial" pitchFamily="34" charset="-122"/>
                <a:cs typeface="Arial" pitchFamily="34" charset="-120"/>
              </a:rPr>
              <a:t>改善訴えあり群 n=9、改善訴えなし群 n=20（12か月のみ n=19）。</a:t>
            </a:r>
            <a:endParaRPr lang="en-US" sz="1100" dirty="0"/>
          </a:p>
          <a:p>
            <a:pPr marL="0" indent="0">
              <a:lnSpc>
                <a:spcPct val="105000"/>
              </a:lnSpc>
              <a:buNone/>
            </a:pPr>
            <a:r>
              <a:rPr lang="en-US" sz="1100" dirty="0">
                <a:solidFill>
                  <a:srgbClr val="1A1A1A"/>
                </a:solidFill>
                <a:latin typeface="Arial" pitchFamily="34" charset="0"/>
                <a:ea typeface="Arial" pitchFamily="34" charset="-122"/>
                <a:cs typeface="Arial" pitchFamily="34" charset="-120"/>
              </a:rPr>
              <a:t>18か月時点の群間比較：Welchのt検定 p=0.804、Mann-Whitney検定 p=0.617、ベースラインMMSE調整 p=0.879。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結果2</a:t>
            </a:r>
            <a:r>
              <a:rPr sz="3000" b="0">
                <a:solidFill>
                  <a:srgbClr val="000000"/>
                </a:solidFill>
                <a:latin typeface="Arial"/>
                <a:ea typeface="Arial"/>
                <a:cs typeface="Arial"/>
              </a:rPr>
              <a:t>　改善の訴えをアンカーとしたΔMMSEの推移</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この図の役割：主観的な訴えがMMSEの変化量を層別しないことを、先行研究と同じアンカーベースの枠組みで示す。</a:t>
            </a:r>
          </a:p>
        </p:txBody>
      </p:sp>
      <p:sp>
        <p:nvSpPr>
          <p:cNvPr id="5" name="Rectangle 4"/>
          <p:cNvSpPr/>
          <p:nvPr/>
        </p:nvSpPr>
        <p:spPr>
          <a:xfrm>
            <a:off x="457200" y="1520000"/>
            <a:ext cx="11247120" cy="420000"/>
          </a:xfrm>
          <a:prstGeom prst="rect">
            <a:avLst/>
          </a:prstGeom>
          <a:solidFill>
            <a:srgbClr val="F2F2F2"/>
          </a:solidFill>
          <a:ln w="12700">
            <a:solidFill>
              <a:srgbClr val="888888"/>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404040"/>
                </a:solidFill>
                <a:latin typeface="Arial"/>
                <a:ea typeface="Arial"/>
                <a:cs typeface="Arial"/>
              </a:rPr>
              <a:t>判定：有意差なし（各時点とも p &gt; 0.05）</a:t>
            </a:r>
          </a:p>
          <a:p>
            <a:pPr>
              <a:lnSpc>
                <a:spcPct val="100000"/>
              </a:lnSpc>
            </a:pPr>
            <a:r>
              <a:rPr sz="1150" b="0">
                <a:solidFill>
                  <a:srgbClr val="404040"/>
                </a:solidFill>
                <a:latin typeface="Arial"/>
                <a:ea typeface="Arial"/>
                <a:cs typeface="Arial"/>
              </a:rPr>
              <a:t>18か月時点のΔMMSE　Welchのt検定 p = 0.581／Mann-Whitney検定 p = 0.200（訴えあり n=9／なし n=20）</a:t>
            </a:r>
          </a:p>
        </p:txBody>
      </p:sp>
      <p:pic>
        <p:nvPicPr>
          <p:cNvPr id="6" name="Picture 5" descr="slide_ΔMMSE_アンカー別推移.png"/>
          <p:cNvPicPr>
            <a:picLocks noChangeAspect="1"/>
          </p:cNvPicPr>
          <p:nvPr/>
        </p:nvPicPr>
        <p:blipFill>
          <a:blip r:embed="rId2"/>
          <a:stretch>
            <a:fillRect/>
          </a:stretch>
        </p:blipFill>
        <p:spPr>
          <a:xfrm>
            <a:off x="908512" y="2020000"/>
            <a:ext cx="10344496" cy="3740720"/>
          </a:xfrm>
          <a:prstGeom prst="rect">
            <a:avLst/>
          </a:prstGeom>
        </p:spPr>
      </p:pic>
      <p:sp>
        <p:nvSpPr>
          <p:cNvPr id="7" name="TextBox 6"/>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バッジの色は判定を表す（以降のスライドも共通）：灰色＝有意差なし／黄色＝有意差あり・探索的で未補正／橙＝有意差あり・交絡に要注意。</a:t>
            </a:r>
          </a:p>
          <a:p>
            <a:pPr>
              <a:lnSpc>
                <a:spcPct val="105000"/>
              </a:lnSpc>
            </a:pPr>
            <a:r>
              <a:rPr sz="1100" b="0">
                <a:solidFill>
                  <a:srgbClr val="1A1A1A"/>
                </a:solidFill>
                <a:latin typeface="Arial"/>
                <a:ea typeface="Arial"/>
                <a:cs typeface="Arial"/>
              </a:rPr>
              <a:t>各時点の値はベースライン（0か月）からのΔMMSEの群平均、エラーバーは95% CI。淡色の点は個別症例（横方向にジッターを付与）。</a:t>
            </a:r>
          </a:p>
          <a:p>
            <a:pPr>
              <a:lnSpc>
                <a:spcPct val="105000"/>
              </a:lnSpc>
            </a:pPr>
            <a:r>
              <a:rPr sz="1100" b="0">
                <a:solidFill>
                  <a:srgbClr val="1A1A1A"/>
                </a:solidFill>
                <a:latin typeface="Arial"/>
                <a:ea typeface="Arial"/>
                <a:cs typeface="Arial"/>
              </a:rPr>
              <a:t>改善訴えあり群 n=9、改善訴えなし群 n=20（12か月のみ n=19）。18か月時点のΔMMSE：Welchのt検定 p=0.581、Mann-Whitney検定 p=0.200。</a:t>
            </a:r>
          </a:p>
          <a:p>
            <a:pPr>
              <a:lnSpc>
                <a:spcPct val="105000"/>
              </a:lnSpc>
            </a:pPr>
            <a:r>
              <a:rPr sz="1100" b="0">
                <a:solidFill>
                  <a:srgbClr val="1A1A1A"/>
                </a:solidFill>
                <a:latin typeface="Arial"/>
                <a:ea typeface="Arial"/>
                <a:cs typeface="Arial"/>
              </a:rPr>
              <a:t>灰色帯は年 −1.01 点の低下（Aakre JA, et al. Alzheimers Dement (N Y). 2025）を目安として示した参照帯であり、本研究で閾値判定に用いたものではない。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結果3</a:t>
            </a:r>
            <a:r>
              <a:rPr sz="3000" b="0">
                <a:solidFill>
                  <a:srgbClr val="000000"/>
                </a:solidFill>
                <a:latin typeface="Arial"/>
                <a:ea typeface="Arial"/>
                <a:cs typeface="Arial"/>
              </a:rPr>
              <a:t>　個別症例のMMSE推移（29例の重ね合わせ）</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この図の役割：群平均が重なっていても個々の軌跡は同一ではないことを示す（結果5への伏線）。</a:t>
            </a:r>
          </a:p>
        </p:txBody>
      </p:sp>
      <p:sp>
        <p:nvSpPr>
          <p:cNvPr id="5" name="Rectangle 4"/>
          <p:cNvSpPr/>
          <p:nvPr/>
        </p:nvSpPr>
        <p:spPr>
          <a:xfrm>
            <a:off x="457200" y="1520000"/>
            <a:ext cx="11247120" cy="42000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7F6000"/>
                </a:solidFill>
                <a:latin typeface="Arial"/>
                <a:ea typeface="Arial"/>
                <a:cs typeface="Arial"/>
              </a:rPr>
              <a:t>判定：個人内変動幅は有意差あり（探索的）／分散(Levene)は有意差なし</a:t>
            </a:r>
          </a:p>
          <a:p>
            <a:pPr>
              <a:lnSpc>
                <a:spcPct val="100000"/>
              </a:lnSpc>
            </a:pPr>
            <a:r>
              <a:rPr sz="1150" b="0">
                <a:solidFill>
                  <a:srgbClr val="7F6000"/>
                </a:solidFill>
                <a:latin typeface="Arial"/>
                <a:ea typeface="Arial"/>
                <a:cs typeface="Arial"/>
              </a:rPr>
              <a:t>変動幅の中央値差　Mann-Whitney検定 p = 0.034　｜　Δ18MのSD比較　Levene検定 p = 0.146（n=9 vs 20、多重比較未補正）</a:t>
            </a:r>
          </a:p>
        </p:txBody>
      </p:sp>
      <p:pic>
        <p:nvPicPr>
          <p:cNvPr id="6" name="Picture 5" descr="slide_個別症例MMSE推移_重ね合わせ.png"/>
          <p:cNvPicPr>
            <a:picLocks noChangeAspect="1"/>
          </p:cNvPicPr>
          <p:nvPr/>
        </p:nvPicPr>
        <p:blipFill>
          <a:blip r:embed="rId2"/>
          <a:stretch>
            <a:fillRect/>
          </a:stretch>
        </p:blipFill>
        <p:spPr>
          <a:xfrm>
            <a:off x="908512" y="2020000"/>
            <a:ext cx="10344496" cy="3740720"/>
          </a:xfrm>
          <a:prstGeom prst="rect">
            <a:avLst/>
          </a:prstGeom>
        </p:spPr>
      </p:pic>
      <p:sp>
        <p:nvSpPr>
          <p:cNvPr id="7" name="TextBox 6"/>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細線は個別症例、太線は群平均。赤＝改善訴えあり（n=9）、青＝改善訴えなし（n=20）。色分けはMMSEの増減とは無関係である。</a:t>
            </a:r>
          </a:p>
          <a:p>
            <a:pPr>
              <a:lnSpc>
                <a:spcPct val="105000"/>
              </a:lnSpc>
            </a:pPr>
            <a:r>
              <a:rPr sz="1100" b="0">
                <a:solidFill>
                  <a:srgbClr val="1A1A1A"/>
                </a:solidFill>
                <a:latin typeface="Arial"/>
                <a:ea typeface="Arial"/>
                <a:cs typeface="Arial"/>
              </a:rPr>
              <a:t>個人内の変動幅（4時点の最大−最小）の平均は 訴えあり 4.67点／訴えなし 3.05点（Mann-Whitney p=0.034）。Δ18MのSDは 訴えあり 4.76／訴えなし 2.83（Levene検定 p=0.146）。</a:t>
            </a:r>
          </a:p>
          <a:p>
            <a:pPr>
              <a:lnSpc>
                <a:spcPct val="105000"/>
              </a:lnSpc>
            </a:pPr>
            <a:r>
              <a:rPr sz="1100" b="0">
                <a:solidFill>
                  <a:srgbClr val="1A1A1A"/>
                </a:solidFill>
                <a:latin typeface="Arial"/>
                <a:ea typeface="Arial"/>
                <a:cs typeface="Arial"/>
              </a:rPr>
              <a:t>18か月時点でベースラインより改善／不変／悪化：訴えあり 6／0／3例、訴えなし 7／4／9例。群平均の推移は両群でほぼ重なる（結果5）。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結果4</a:t>
            </a:r>
            <a:r>
              <a:rPr sz="3000" b="0">
                <a:solidFill>
                  <a:srgbClr val="000000"/>
                </a:solidFill>
                <a:latin typeface="Arial"/>
                <a:ea typeface="Arial"/>
                <a:cs typeface="Arial"/>
              </a:rPr>
              <a:t>　MMSE下位項目別の推移の群間比較</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この図の役割：11の下位項目のいずれでも訴えの有無が推移を層別しないことを確認する（探索的解析）。</a:t>
            </a:r>
          </a:p>
        </p:txBody>
      </p:sp>
      <p:sp>
        <p:nvSpPr>
          <p:cNvPr id="5" name="Rectangle 4"/>
          <p:cNvSpPr/>
          <p:nvPr/>
        </p:nvSpPr>
        <p:spPr>
          <a:xfrm>
            <a:off x="457200" y="1520000"/>
            <a:ext cx="11247120" cy="420000"/>
          </a:xfrm>
          <a:prstGeom prst="rect">
            <a:avLst/>
          </a:prstGeom>
          <a:solidFill>
            <a:srgbClr val="F2F2F2"/>
          </a:solidFill>
          <a:ln w="12700">
            <a:solidFill>
              <a:srgbClr val="888888"/>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404040"/>
                </a:solidFill>
                <a:latin typeface="Arial"/>
                <a:ea typeface="Arial"/>
                <a:cs typeface="Arial"/>
              </a:rPr>
              <a:t>判定：MMSE下位項目 11/11・CDR 6/6 いずれも有意差なし</a:t>
            </a:r>
          </a:p>
          <a:p>
            <a:pPr>
              <a:lnSpc>
                <a:spcPct val="100000"/>
              </a:lnSpc>
            </a:pPr>
            <a:r>
              <a:rPr sz="1150" b="0">
                <a:solidFill>
                  <a:srgbClr val="404040"/>
                </a:solidFill>
                <a:latin typeface="Arial"/>
                <a:ea typeface="Arial"/>
                <a:cs typeface="Arial"/>
              </a:rPr>
              <a:t>MMSE下位項目 最小 p = 0.157（FDR補正後 最小 q = 0.778）／CDR6領域 最小 p = 0.598。補正前の段階から有意な項目はゼロ。</a:t>
            </a:r>
          </a:p>
        </p:txBody>
      </p:sp>
      <p:pic>
        <p:nvPicPr>
          <p:cNvPr id="6" name="Picture 5" descr="slide_MMSE下位項目パネル.png"/>
          <p:cNvPicPr>
            <a:picLocks noChangeAspect="1"/>
          </p:cNvPicPr>
          <p:nvPr/>
        </p:nvPicPr>
        <p:blipFill>
          <a:blip r:embed="rId2"/>
          <a:stretch>
            <a:fillRect/>
          </a:stretch>
        </p:blipFill>
        <p:spPr>
          <a:xfrm>
            <a:off x="1008211" y="2020000"/>
            <a:ext cx="10145097" cy="3740720"/>
          </a:xfrm>
          <a:prstGeom prst="rect">
            <a:avLst/>
          </a:prstGeom>
        </p:spPr>
      </p:pic>
      <p:sp>
        <p:nvSpPr>
          <p:cNvPr id="7" name="TextBox 6"/>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各パネルは下位項目ごとの群平均±95% CI。赤＝改善訴えあり（n=9）、青＝改善訴えなし（n=20）。</a:t>
            </a:r>
          </a:p>
          <a:p>
            <a:pPr>
              <a:lnSpc>
                <a:spcPct val="105000"/>
              </a:lnSpc>
            </a:pPr>
            <a:r>
              <a:rPr sz="1100" b="0">
                <a:solidFill>
                  <a:srgbClr val="1A1A1A"/>
                </a:solidFill>
                <a:latin typeface="Arial"/>
                <a:ea typeface="Arial"/>
                <a:cs typeface="Arial"/>
              </a:rPr>
              <a:t>18か月時点の変化量を項目ごとにMann-Whitney検定で比較し、Benjamini-Hochberg法でFDR補正した。補正前 p&lt;0.05 は 0/11、補正後 q&lt;0.05 も 0/11。</a:t>
            </a:r>
          </a:p>
          <a:p>
            <a:pPr>
              <a:lnSpc>
                <a:spcPct val="105000"/>
              </a:lnSpc>
            </a:pPr>
            <a:r>
              <a:rPr sz="1100" b="0">
                <a:solidFill>
                  <a:srgbClr val="1A1A1A"/>
                </a:solidFill>
                <a:latin typeface="Arial"/>
                <a:ea typeface="Arial"/>
                <a:cs typeface="Arial"/>
              </a:rPr>
              <a:t>多重比較を含む探索的（hypothesis-generating）解析であり、確証的解析ではない。1点満点の項目は1例の増減で結果が動くため単独では解釈しない。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参考1</a:t>
            </a:r>
            <a:r>
              <a:rPr sz="3000" b="0">
                <a:solidFill>
                  <a:srgbClr val="000000"/>
                </a:solidFill>
                <a:latin typeface="Arial"/>
                <a:ea typeface="Arial"/>
                <a:cs typeface="Arial"/>
              </a:rPr>
              <a:t>　個別症例のMMSE推移（群別表示）</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結果3の代替案：群内のばらつきを見やすくした2パネル版。どちらを本番で使うかは要相談。</a:t>
            </a:r>
          </a:p>
        </p:txBody>
      </p:sp>
      <p:sp>
        <p:nvSpPr>
          <p:cNvPr id="5" name="Rectangle 4"/>
          <p:cNvSpPr/>
          <p:nvPr/>
        </p:nvSpPr>
        <p:spPr>
          <a:xfrm>
            <a:off x="457200" y="1520000"/>
            <a:ext cx="11247120" cy="42000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7F6000"/>
                </a:solidFill>
                <a:latin typeface="Arial"/>
                <a:ea typeface="Arial"/>
                <a:cs typeface="Arial"/>
              </a:rPr>
              <a:t>判定：結果3と同一データの検定結果（詳細は結果3を参照）</a:t>
            </a:r>
          </a:p>
          <a:p>
            <a:pPr>
              <a:lnSpc>
                <a:spcPct val="100000"/>
              </a:lnSpc>
            </a:pPr>
            <a:r>
              <a:rPr sz="1150" b="0">
                <a:solidFill>
                  <a:srgbClr val="7F6000"/>
                </a:solidFill>
                <a:latin typeface="Arial"/>
                <a:ea typeface="Arial"/>
                <a:cs typeface="Arial"/>
              </a:rPr>
              <a:t>個人内変動幅　Mann-Whitney検定 p = 0.034（探索的）　｜　Δ18MのSD　Levene検定 p = 0.146（有意差なし）</a:t>
            </a:r>
          </a:p>
        </p:txBody>
      </p:sp>
      <p:pic>
        <p:nvPicPr>
          <p:cNvPr id="6" name="Picture 5" descr="slide_個別症例MMSE推移_群別2パネル.png"/>
          <p:cNvPicPr>
            <a:picLocks noChangeAspect="1"/>
          </p:cNvPicPr>
          <p:nvPr/>
        </p:nvPicPr>
        <p:blipFill>
          <a:blip r:embed="rId2"/>
          <a:stretch>
            <a:fillRect/>
          </a:stretch>
        </p:blipFill>
        <p:spPr>
          <a:xfrm>
            <a:off x="908512" y="2020000"/>
            <a:ext cx="10344496" cy="3740720"/>
          </a:xfrm>
          <a:prstGeom prst="rect">
            <a:avLst/>
          </a:prstGeom>
        </p:spPr>
      </p:pic>
      <p:sp>
        <p:nvSpPr>
          <p:cNvPr id="7" name="TextBox 6"/>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細線は個別症例、太線は群平均。左：改善訴えあり（n=9）、右：改善訴えなし（n=20）。縦軸は両パネルで共通。</a:t>
            </a:r>
          </a:p>
          <a:p>
            <a:pPr>
              <a:lnSpc>
                <a:spcPct val="105000"/>
              </a:lnSpc>
            </a:pPr>
            <a:r>
              <a:rPr sz="1100" b="0">
                <a:solidFill>
                  <a:srgbClr val="1A1A1A"/>
                </a:solidFill>
                <a:latin typeface="Arial"/>
                <a:ea typeface="Arial"/>
                <a:cs typeface="Arial"/>
              </a:rPr>
              <a:t>重ね合わせ版（結果3）と同一データ。群内のばらつきを見せたい場合はこちら、2群の比較を見せたい場合は重ね合わせ版が適する。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参考2</a:t>
            </a:r>
            <a:r>
              <a:rPr sz="3000" b="0">
                <a:solidFill>
                  <a:srgbClr val="000000"/>
                </a:solidFill>
                <a:latin typeface="Arial"/>
                <a:ea typeface="Arial"/>
                <a:cs typeface="Arial"/>
              </a:rPr>
              <a:t>　18か月ΔMMSEの分布とベースライン重症度</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結果2の補足：群分けよりベースライン重症度のほうがMMSEの推移をよく説明する。</a:t>
            </a:r>
          </a:p>
        </p:txBody>
      </p:sp>
      <p:sp>
        <p:nvSpPr>
          <p:cNvPr id="5" name="Rectangle 4"/>
          <p:cNvSpPr/>
          <p:nvPr/>
        </p:nvSpPr>
        <p:spPr>
          <a:xfrm>
            <a:off x="457200" y="1520000"/>
            <a:ext cx="11247120" cy="420000"/>
          </a:xfrm>
          <a:prstGeom prst="rect">
            <a:avLst/>
          </a:prstGeom>
          <a:solidFill>
            <a:srgbClr val="FDE9D9"/>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7A3508"/>
                </a:solidFill>
                <a:latin typeface="Arial"/>
                <a:ea typeface="Arial"/>
                <a:cs typeface="Arial"/>
              </a:rPr>
              <a:t>判定：相関は統計的に有意（ただし平均への回帰を含み因果解釈は不可）</a:t>
            </a:r>
          </a:p>
          <a:p>
            <a:pPr>
              <a:lnSpc>
                <a:spcPct val="100000"/>
              </a:lnSpc>
            </a:pPr>
            <a:r>
              <a:rPr sz="1150" b="0">
                <a:solidFill>
                  <a:srgbClr val="7A3508"/>
                </a:solidFill>
                <a:latin typeface="Arial"/>
                <a:ea typeface="Arial"/>
                <a:cs typeface="Arial"/>
              </a:rPr>
              <a:t>ベースラインMMSEと18か月ΔMMSEの相関（29例）　Pearson相関 r = −0.50, p = 0.006</a:t>
            </a:r>
          </a:p>
        </p:txBody>
      </p:sp>
      <p:pic>
        <p:nvPicPr>
          <p:cNvPr id="6" name="Picture 5" descr="slide_18か月ΔMMSE_ドットプロット.png"/>
          <p:cNvPicPr>
            <a:picLocks noChangeAspect="1"/>
          </p:cNvPicPr>
          <p:nvPr/>
        </p:nvPicPr>
        <p:blipFill>
          <a:blip r:embed="rId2"/>
          <a:stretch>
            <a:fillRect/>
          </a:stretch>
        </p:blipFill>
        <p:spPr>
          <a:xfrm>
            <a:off x="908512" y="2020000"/>
            <a:ext cx="10344496" cy="3740720"/>
          </a:xfrm>
          <a:prstGeom prst="rect">
            <a:avLst/>
          </a:prstGeom>
        </p:spPr>
      </p:pic>
      <p:sp>
        <p:nvSpPr>
          <p:cNvPr id="7" name="TextBox 6"/>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左：18か月時点のΔMMSEの分布（箱ひげ＋個別点、点の色はベースラインMMSE）。灰色帯は年 −1.01 点相当の参照帯。</a:t>
            </a:r>
          </a:p>
          <a:p>
            <a:pPr>
              <a:lnSpc>
                <a:spcPct val="105000"/>
              </a:lnSpc>
            </a:pPr>
            <a:r>
              <a:rPr sz="1100" b="0">
                <a:solidFill>
                  <a:srgbClr val="1A1A1A"/>
                </a:solidFill>
                <a:latin typeface="Arial"/>
                <a:ea typeface="Arial"/>
                <a:cs typeface="Arial"/>
              </a:rPr>
              <a:t>右：ベースラインMMSEと18か月ΔMMSEの関係（29例全体で r = −0.50, p = 0.006）。ベースラインが高い症例ほど18か月での低下が大きい。</a:t>
            </a:r>
          </a:p>
          <a:p>
            <a:pPr>
              <a:lnSpc>
                <a:spcPct val="105000"/>
              </a:lnSpc>
            </a:pPr>
            <a:r>
              <a:rPr sz="1100" b="0">
                <a:solidFill>
                  <a:srgbClr val="1A1A1A"/>
                </a:solidFill>
                <a:latin typeface="Arial"/>
                <a:ea typeface="Arial"/>
                <a:cs typeface="Arial"/>
              </a:rPr>
              <a:t>ただしΔMMSEはベースラインを含んで計算されるため、この相関には平均への回帰（regression to the mean）が数学的に含まれる。因果的な解釈はできない。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参考3</a:t>
            </a:r>
            <a:r>
              <a:rPr sz="3000" b="0">
                <a:solidFill>
                  <a:srgbClr val="000000"/>
                </a:solidFill>
                <a:latin typeface="Arial"/>
                <a:ea typeface="Arial"/>
                <a:cs typeface="Arial"/>
              </a:rPr>
              <a:t>　精神症状項目の測定上の限界（易怒性・意欲低下）</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結果1の補足：精神症状フラグが確立された尺度に基づかないことを質疑応答に備えて明示する。</a:t>
            </a:r>
          </a:p>
        </p:txBody>
      </p:sp>
      <p:sp>
        <p:nvSpPr>
          <p:cNvPr id="5" name="TextBox 4"/>
          <p:cNvSpPr txBox="1"/>
          <p:nvPr/>
        </p:nvSpPr>
        <p:spPr>
          <a:xfrm>
            <a:off x="457200" y="1600200"/>
            <a:ext cx="11247120" cy="4600000"/>
          </a:xfrm>
          <a:prstGeom prst="rect">
            <a:avLst/>
          </a:prstGeom>
          <a:noFill/>
        </p:spPr>
        <p:txBody>
          <a:bodyPr wrap="square" lIns="0" rIns="0" tIns="0" bIns="0">
            <a:spAutoFit/>
          </a:bodyPr>
          <a:lstStyle/>
          <a:p>
            <a:pPr>
              <a:lnSpc>
                <a:spcPct val="125000"/>
              </a:lnSpc>
            </a:pPr>
            <a:r>
              <a:rPr sz="1400" b="1">
                <a:solidFill>
                  <a:srgbClr val="1A1A1A"/>
                </a:solidFill>
                <a:latin typeface="Arial"/>
                <a:ea typeface="Arial"/>
                <a:cs typeface="Arial"/>
              </a:rPr>
              <a:t>本研究の操作的定義</a:t>
            </a:r>
          </a:p>
          <a:p>
            <a:pPr>
              <a:lnSpc>
                <a:spcPct val="125000"/>
              </a:lnSpc>
            </a:pPr>
            <a:r>
              <a:rPr sz="1300" b="0">
                <a:solidFill>
                  <a:srgbClr val="1A1A1A"/>
                </a:solidFill>
                <a:latin typeface="Arial"/>
                <a:ea typeface="Arial"/>
                <a:cs typeface="Arial"/>
              </a:rPr>
              <a:t>　易怒性・意欲低下は、NPI-Q等の確立された尺度によらず、診療録記載の有無に基づく二値変数（0/1）として後方視的に定義した。</a:t>
            </a:r>
          </a:p>
          <a:p>
            <a:pPr>
              <a:lnSpc>
                <a:spcPct val="125000"/>
              </a:lnSpc>
            </a:pPr>
            <a:r>
              <a:rPr sz="700" b="0">
                <a:solidFill>
                  <a:srgbClr val="1A1A1A"/>
                </a:solidFill>
                <a:latin typeface="Arial"/>
                <a:ea typeface="Arial"/>
                <a:cs typeface="Arial"/>
              </a:rPr>
              <a:t/>
            </a:r>
          </a:p>
          <a:p>
            <a:pPr>
              <a:lnSpc>
                <a:spcPct val="125000"/>
              </a:lnSpc>
            </a:pPr>
            <a:r>
              <a:rPr sz="1400" b="1">
                <a:solidFill>
                  <a:srgbClr val="1A1A1A"/>
                </a:solidFill>
                <a:latin typeface="Arial"/>
                <a:ea typeface="Arial"/>
                <a:cs typeface="Arial"/>
              </a:rPr>
              <a:t>先行研究の標準的な定義との差</a:t>
            </a:r>
          </a:p>
          <a:p>
            <a:pPr>
              <a:lnSpc>
                <a:spcPct val="125000"/>
              </a:lnSpc>
            </a:pPr>
            <a:r>
              <a:rPr sz="1300" b="0">
                <a:solidFill>
                  <a:srgbClr val="1A1A1A"/>
                </a:solidFill>
                <a:latin typeface="Arial"/>
                <a:ea typeface="Arial"/>
                <a:cs typeface="Arial"/>
              </a:rPr>
              <a:t>　NPI（Cummings 1994）、NPI-Q（Kaufer 2000）、AES（Marin／Clarke 2007）、Starkstein Apathy Scale はいずれも、</a:t>
            </a:r>
          </a:p>
          <a:p>
            <a:pPr>
              <a:lnSpc>
                <a:spcPct val="125000"/>
              </a:lnSpc>
            </a:pPr>
            <a:r>
              <a:rPr sz="1300" b="0">
                <a:solidFill>
                  <a:srgbClr val="1A1A1A"/>
                </a:solidFill>
                <a:latin typeface="Arial"/>
                <a:ea typeface="Arial"/>
                <a:cs typeface="Arial"/>
              </a:rPr>
              <a:t>　(1) 情報提供者への構造化された聴取、(2) 頻度・重症度の段階評価、(3) 直近1か月などの観察期間の明示、という3要素を備える。</a:t>
            </a:r>
          </a:p>
          <a:p>
            <a:pPr>
              <a:lnSpc>
                <a:spcPct val="125000"/>
              </a:lnSpc>
            </a:pPr>
            <a:r>
              <a:rPr sz="1300" b="0">
                <a:solidFill>
                  <a:srgbClr val="1A1A1A"/>
                </a:solidFill>
                <a:latin typeface="Arial"/>
                <a:ea typeface="Arial"/>
                <a:cs typeface="Arial"/>
              </a:rPr>
              <a:t>　本研究の二値フラグはこの3要素をいずれも満たさず、Robertら（2018）のアパシー国際コンセンサス基準の充足も判定できない。</a:t>
            </a:r>
          </a:p>
          <a:p>
            <a:pPr>
              <a:lnSpc>
                <a:spcPct val="125000"/>
              </a:lnSpc>
            </a:pPr>
            <a:r>
              <a:rPr sz="1300" b="0">
                <a:solidFill>
                  <a:srgbClr val="1A1A1A"/>
                </a:solidFill>
                <a:latin typeface="Arial"/>
                <a:ea typeface="Arial"/>
                <a:cs typeface="Arial"/>
              </a:rPr>
              <a:t>　したがって本項目は「アパシー」ではなく「意欲低下（診療録記載）」と記述するのが正確である。</a:t>
            </a:r>
          </a:p>
          <a:p>
            <a:pPr>
              <a:lnSpc>
                <a:spcPct val="125000"/>
              </a:lnSpc>
            </a:pPr>
            <a:r>
              <a:rPr sz="700" b="0">
                <a:solidFill>
                  <a:srgbClr val="1A1A1A"/>
                </a:solidFill>
                <a:latin typeface="Arial"/>
                <a:ea typeface="Arial"/>
                <a:cs typeface="Arial"/>
              </a:rPr>
              <a:t/>
            </a:r>
          </a:p>
          <a:p>
            <a:pPr>
              <a:lnSpc>
                <a:spcPct val="125000"/>
              </a:lnSpc>
            </a:pPr>
            <a:r>
              <a:rPr sz="1400" b="1">
                <a:solidFill>
                  <a:srgbClr val="1A1A1A"/>
                </a:solidFill>
                <a:latin typeface="Arial"/>
                <a:ea typeface="Arial"/>
                <a:cs typeface="Arial"/>
              </a:rPr>
              <a:t>方法論上の直接的な根拠</a:t>
            </a:r>
          </a:p>
          <a:p>
            <a:pPr>
              <a:lnSpc>
                <a:spcPct val="125000"/>
              </a:lnSpc>
            </a:pPr>
            <a:r>
              <a:rPr sz="1300" b="0">
                <a:solidFill>
                  <a:srgbClr val="1A1A1A"/>
                </a:solidFill>
                <a:latin typeface="Arial"/>
                <a:ea typeface="Arial"/>
                <a:cs typeface="Arial"/>
              </a:rPr>
              <a:t>　Eikelboom WS, et al. Alzheimers Res Ther. 2023;15:94 は、2つのメモリークリニックコホート（n=3001／n=646）で、</a:t>
            </a:r>
          </a:p>
          <a:p>
            <a:pPr>
              <a:lnSpc>
                <a:spcPct val="125000"/>
              </a:lnSpc>
            </a:pPr>
            <a:r>
              <a:rPr sz="1300" b="0">
                <a:solidFill>
                  <a:srgbClr val="1A1A1A"/>
                </a:solidFill>
                <a:latin typeface="Arial"/>
                <a:ea typeface="Arial"/>
                <a:cs typeface="Arial"/>
              </a:rPr>
              <a:t>　臨床医が診療録に記載した精神症状と介護者がNPIで報告した症状の一致度が低いことを示している。</a:t>
            </a:r>
          </a:p>
          <a:p>
            <a:pPr>
              <a:lnSpc>
                <a:spcPct val="125000"/>
              </a:lnSpc>
            </a:pPr>
            <a:r>
              <a:rPr sz="1300" b="0">
                <a:solidFill>
                  <a:srgbClr val="1A1A1A"/>
                </a:solidFill>
                <a:latin typeface="Arial"/>
                <a:ea typeface="Arial"/>
                <a:cs typeface="Arial"/>
              </a:rPr>
              <a:t>　このため、診療録記載の有無をNPI無関心ドメインの代理指標として扱うことはできない。</a:t>
            </a:r>
          </a:p>
          <a:p>
            <a:pPr>
              <a:lnSpc>
                <a:spcPct val="125000"/>
              </a:lnSpc>
            </a:pPr>
            <a:r>
              <a:rPr sz="700" b="0">
                <a:solidFill>
                  <a:srgbClr val="1A1A1A"/>
                </a:solidFill>
                <a:latin typeface="Arial"/>
                <a:ea typeface="Arial"/>
                <a:cs typeface="Arial"/>
              </a:rPr>
              <a:t/>
            </a:r>
          </a:p>
          <a:p>
            <a:pPr>
              <a:lnSpc>
                <a:spcPct val="125000"/>
              </a:lnSpc>
            </a:pPr>
            <a:r>
              <a:rPr sz="1400" b="1">
                <a:solidFill>
                  <a:srgbClr val="1A1A1A"/>
                </a:solidFill>
                <a:latin typeface="Arial"/>
                <a:ea typeface="Arial"/>
                <a:cs typeface="Arial"/>
              </a:rPr>
              <a:t>本研究に固有の留意点</a:t>
            </a:r>
          </a:p>
          <a:p>
            <a:pPr>
              <a:lnSpc>
                <a:spcPct val="125000"/>
              </a:lnSpc>
            </a:pPr>
            <a:r>
              <a:rPr sz="1300" b="0">
                <a:solidFill>
                  <a:srgbClr val="1A1A1A"/>
                </a:solidFill>
                <a:latin typeface="Arial"/>
                <a:ea typeface="Arial"/>
                <a:cs typeface="Arial"/>
              </a:rPr>
              <a:t>　レカネマブ導入後は診察頻度と問診密度が上がるため、記載の有無が「症状の有無」ではなく「聞かれたかどうか」を反映しうる。</a:t>
            </a:r>
          </a:p>
          <a:p>
            <a:pPr>
              <a:lnSpc>
                <a:spcPct val="125000"/>
              </a:lnSpc>
            </a:pPr>
            <a:r>
              <a:rPr sz="1300" b="0">
                <a:solidFill>
                  <a:srgbClr val="1A1A1A"/>
                </a:solidFill>
                <a:latin typeface="Arial"/>
                <a:ea typeface="Arial"/>
                <a:cs typeface="Arial"/>
              </a:rPr>
              <a:t>　群分け変数（症状改善の訴え）も記載依存であり、共通の記載バイアスは見かけの関連を生む方向にも消す方向にも働きうる。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3600" b="1">
                <a:solidFill>
                  <a:srgbClr val="000000"/>
                </a:solidFill>
                <a:latin typeface="Arial"/>
                <a:ea typeface="Arial"/>
                <a:cs typeface="Arial"/>
              </a:rPr>
              <a:t>統計結果まとめ</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結果2〜5・参考2で行った統計検定の一覧。上野先生への一目でのご確認用。</a:t>
            </a:r>
          </a:p>
        </p:txBody>
      </p:sp>
      <p:graphicFrame>
        <p:nvGraphicFramePr>
          <p:cNvPr id="5" name="Table 4"/>
          <p:cNvGraphicFramePr>
            <a:graphicFrameLocks noGrp="1"/>
          </p:cNvGraphicFramePr>
          <p:nvPr/>
        </p:nvGraphicFramePr>
        <p:xfrm>
          <a:off x="457200" y="1560000"/>
          <a:ext cx="11247120" cy="4200000"/>
        </p:xfrm>
        <a:graphic>
          <a:graphicData uri="http://schemas.openxmlformats.org/drawingml/2006/table">
            <a:tbl>
              <a:tblPr>
                <a:tableStyleId>{5C22544A-7EE6-4342-B048-85BDC9FD1C3A}</a:tableStyleId>
              </a:tblPr>
              <a:tblGrid>
                <a:gridCol w="1143000"/>
                <a:gridCol w="3520440"/>
                <a:gridCol w="2331720"/>
                <a:gridCol w="1965960"/>
                <a:gridCol w="2286000"/>
              </a:tblGrid>
              <a:tr h="330000">
                <a:tc>
                  <a:txBody>
                    <a:bodyPr wrap="square"/>
                    <a:lstStyle/>
                    <a:p>
                      <a:pPr algn="ctr"/>
                      <a:r>
                        <a:rPr sz="1200" b="1">
                          <a:solidFill>
                            <a:srgbClr val="000000"/>
                          </a:solidFill>
                          <a:latin typeface="Arial"/>
                          <a:ea typeface="Arial"/>
                          <a:cs typeface="Arial"/>
                        </a:rPr>
                        <a:t>対象スライド</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200" b="1">
                          <a:solidFill>
                            <a:srgbClr val="000000"/>
                          </a:solidFill>
                          <a:latin typeface="Arial"/>
                          <a:ea typeface="Arial"/>
                          <a:cs typeface="Arial"/>
                        </a:rPr>
                        <a:t>比較・解析</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200" b="1">
                          <a:solidFill>
                            <a:srgbClr val="000000"/>
                          </a:solidFill>
                          <a:latin typeface="Arial"/>
                          <a:ea typeface="Arial"/>
                          <a:cs typeface="Arial"/>
                        </a:rPr>
                        <a:t>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200" b="1">
                          <a:solidFill>
                            <a:srgbClr val="000000"/>
                          </a:solidFill>
                          <a:latin typeface="Arial"/>
                          <a:ea typeface="Arial"/>
                          <a:cs typeface="Arial"/>
                        </a:rPr>
                        <a:t>統計量／p値</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200" b="1">
                          <a:solidFill>
                            <a:srgbClr val="000000"/>
                          </a:solidFill>
                          <a:latin typeface="Arial"/>
                          <a:ea typeface="Arial"/>
                          <a:cs typeface="Arial"/>
                        </a:rPr>
                        <a:t>判定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r>
              <a:tr h="387000">
                <a:tc>
                  <a:txBody>
                    <a:bodyPr wrap="square"/>
                    <a:lstStyle/>
                    <a:p>
                      <a:pPr algn="ctr"/>
                      <a:r>
                        <a:rPr sz="1100" b="1">
                          <a:solidFill>
                            <a:srgbClr val="1A1A1A"/>
                          </a:solidFill>
                          <a:latin typeface="Arial"/>
                          <a:ea typeface="Arial"/>
                          <a:cs typeface="Arial"/>
                        </a:rPr>
                        <a:t>結果2</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訴えあり vs なし　18か月時点のΔMMSE</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Welchのt検定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0.581</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結果2</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同上</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Mann-Whitney検定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0.200</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結果3</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個人内変動幅（4時点の最大−最小）</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Mann-Whitney検定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0.034</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7F6000"/>
                          </a:solidFill>
                          <a:latin typeface="Arial"/>
                          <a:ea typeface="Arial"/>
                          <a:cs typeface="Arial"/>
                        </a:rPr>
                        <a:t>有意差あり（探索的・未補正）</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2CC"/>
                    </a:solidFill>
                  </a:tcPr>
                </a:tc>
              </a:tr>
              <a:tr h="387000">
                <a:tc>
                  <a:txBody>
                    <a:bodyPr wrap="square"/>
                    <a:lstStyle/>
                    <a:p>
                      <a:pPr algn="ctr"/>
                      <a:r>
                        <a:rPr sz="1100" b="1">
                          <a:solidFill>
                            <a:srgbClr val="1A1A1A"/>
                          </a:solidFill>
                          <a:latin typeface="Arial"/>
                          <a:ea typeface="Arial"/>
                          <a:cs typeface="Arial"/>
                        </a:rPr>
                        <a:t>結果3</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Δ18MのSD（分散の均一性）</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Levene検定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0.146</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結果4</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MMSE下位項目11項目（18か月時点のΔ）</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Mann-Whitney×11／BH法でFDR補正</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最小 p=0.157／最小 q=0.778</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全11項目 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結果4</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CDR 6領域（同上）</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同上</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最小 p=0.598</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全6領域 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結果5</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訴えあり vs なし　18か月時点のMMSE実測値</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Welchのt検定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0.804</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結果5</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同上</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Mann-Whitney検定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0.617</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結果5</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同上（ベースラインMMSE調整後）</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ANCOVA相当（線形回帰）</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0.879</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参考2</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ベースラインMMSEと18か月ΔMMSEの相関（29例）</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Pearson相関</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r=−0.50, p=0.006</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7A3508"/>
                          </a:solidFill>
                          <a:latin typeface="Arial"/>
                          <a:ea typeface="Arial"/>
                          <a:cs typeface="Arial"/>
                        </a:rPr>
                        <a:t>有意（要注意：回帰含む）</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DE9D9"/>
                    </a:solidFill>
                  </a:tcPr>
                </a:tc>
              </a:tr>
            </a:tbl>
          </a:graphicData>
        </a:graphic>
      </p:graphicFrame>
      <p:sp>
        <p:nvSpPr>
          <p:cNvPr id="6" name="TextBox 5"/>
          <p:cNvSpPr txBox="1"/>
          <p:nvPr/>
        </p:nvSpPr>
        <p:spPr>
          <a:xfrm>
            <a:off x="457200" y="6126480"/>
            <a:ext cx="11247120" cy="685800"/>
          </a:xfrm>
          <a:prstGeom prst="rect">
            <a:avLst/>
          </a:prstGeom>
          <a:noFill/>
        </p:spPr>
        <p:txBody>
          <a:bodyPr wrap="square" lIns="0" rIns="0" tIns="0" bIns="0">
            <a:spAutoFit/>
          </a:bodyPr>
          <a:lstStyle/>
          <a:p>
            <a:pPr>
              <a:lnSpc>
                <a:spcPct val="115000"/>
              </a:lnSpc>
            </a:pPr>
            <a:r>
              <a:rPr sz="1050" b="0">
                <a:solidFill>
                  <a:srgbClr val="1A1A1A"/>
                </a:solidFill>
                <a:latin typeface="Arial"/>
                <a:ea typeface="Arial"/>
                <a:cs typeface="Arial"/>
              </a:rPr>
              <a:t>判定列の色：灰色＝有意差なし／黄色＝有意差あり・探索的で未補正／橙＝有意差あり・交絡に要注意（各スライドのバッジと共通の配色）。</a:t>
            </a:r>
          </a:p>
          <a:p>
            <a:pPr>
              <a:lnSpc>
                <a:spcPct val="115000"/>
              </a:lnSpc>
            </a:pPr>
            <a:r>
              <a:rPr sz="1050" b="0">
                <a:solidFill>
                  <a:srgbClr val="1A1A1A"/>
                </a:solidFill>
                <a:latin typeface="Arial"/>
                <a:ea typeface="Arial"/>
                <a:cs typeface="Arial"/>
              </a:rPr>
              <a:t>有意水準はいずれも α=0.05（両側）。結果3の「有意差あり」は事後的に定義した指標で多重比較の補正をしておらず、探索的所見として扱う。</a:t>
            </a:r>
          </a:p>
          <a:p>
            <a:pPr>
              <a:lnSpc>
                <a:spcPct val="115000"/>
              </a:lnSpc>
            </a:pPr>
            <a:r>
              <a:rPr sz="1050" b="0">
                <a:solidFill>
                  <a:srgbClr val="1A1A1A"/>
                </a:solidFill>
                <a:latin typeface="Arial"/>
                <a:ea typeface="Arial"/>
                <a:cs typeface="Arial"/>
              </a:rPr>
              <a:t>参考2の相関はΔMMSEがベースラインを含んで計算される値であるため、平均への回帰（regression to the mean）を数学的に含み、因果的な解釈はできない。</a:t>
            </a:r>
          </a:p>
          <a:p>
            <a:pPr>
              <a:lnSpc>
                <a:spcPct val="115000"/>
              </a:lnSpc>
            </a:pPr>
            <a:r>
              <a:rPr sz="1050" b="0">
                <a:solidFill>
                  <a:srgbClr val="1A1A1A"/>
                </a:solidFill>
                <a:latin typeface="Arial"/>
                <a:ea typeface="Arial"/>
                <a:cs typeface="Arial"/>
              </a:rPr>
              <a:t>上記以外の解析（結果2〜5・参考2）はいずれも有意差なし。データの詳細は各スライドのキャプション・スピーカーノートを参照。</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TotalTime>
  <Words>282</Words>
  <Application>Microsoft Office PowerPoint</Application>
  <PresentationFormat>ワイド画面</PresentationFormat>
  <Paragraphs>55</Paragraphs>
  <Slides>2</Slides>
  <Notes>2</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2</vt:i4>
      </vt:variant>
    </vt:vector>
  </HeadingPairs>
  <TitlesOfParts>
    <vt:vector size="4" baseType="lpstr">
      <vt:lpstr>Arial</vt:lpstr>
      <vt:lpstr>Office Theme</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Lecanemab Retrospective Analysis</dc:creator>
  <cp:lastModifiedBy>Fukusai</cp:lastModifiedBy>
  <cp:revision>10</cp:revision>
  <dcterms:created xsi:type="dcterms:W3CDTF">2026-07-22T04:13:09Z</dcterms:created>
  <dcterms:modified xsi:type="dcterms:W3CDTF">2026-08-03T03:59:03Z</dcterms:modified>
</cp:coreProperties>
</file>